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media/copied78.xml" ContentType="application/vnd.openxmlformats-officedocument.presentationml.tags+xml"/>
  <Override PartName="/ppt/media/copied80.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5"/>
  </p:notesMasterIdLst>
  <p:sldIdLst>
    <p:sldId id="256" r:id="rId13"/>
    <p:sldId id="257" r:id="rId14"/>
    <p:sldId id="258" r:id="rId15"/>
    <p:sldId id="259" r:id="rId16"/>
    <p:sldId id="260" r:id="rId17"/>
    <p:sldId id="261" r:id="rId18"/>
    <p:sldId id="262" r:id="rId19"/>
    <p:sldId id="272" r:id="rId29"/>
    <p:sldId id="263" r:id="rId20"/>
    <p:sldId id="264" r:id="rId21"/>
    <p:sldId id="265" r:id="rId22"/>
    <p:sldId id="266" r:id="rId23"/>
    <p:sldId id="267" r:id="rId24"/>
    <p:sldId id="268" r:id="rId25"/>
    <p:sldId id="269" r:id="rId26"/>
    <p:sldId id="270" r:id="rId27"/>
    <p:sldId id="271"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C3F8D6F-1DEE-6615-6CEF-2DFCB510BACA}" name="Nicole Torres" initials="NT" userId="S::ntorres@autismcrc.com.au::0026055d-e81a-4ac9-a7f9-7ac97c409d29" providerId="AD"/>
  <p188:author id="{10272E70-8B89-BFFB-31B3-7BBA44C57398}" name="Jen Cousins" initials="JC" userId="S::jcousins@autismspectrum.org.au::e5107725-ce0a-4006-bfb3-3787c68d621c" providerId="AD"/>
  <p188:author id="{E2B46AE0-0A1C-54D3-E72A-2A9A4004FF91}" name="Lynda Hunt" initials="LH" userId="S::lhunt@autismspectrum.org.au::70d0fb0f-bb74-4a51-a39e-b5bc39f9699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385C41-D70E-EC55-CC3F-15C4A1B221D0}" v="18" dt="2026-08-25T01:10:16.5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23"/>
    <p:restoredTop sz="84492"/>
  </p:normalViewPr>
  <p:slideViewPr>
    <p:cSldViewPr snapToGrid="0">
      <p:cViewPr varScale="1">
        <p:scale>
          <a:sx n="105" d="100"/>
          <a:sy n="105" d="100"/>
        </p:scale>
        <p:origin x="103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8.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 Id="rId40" Type="http://schemas.microsoft.com/office/2016/11/relationships/changesInfo" Target="changesInfos/changesInfo1.xml"/><Relationship Id="rId41" Type="http://schemas.microsoft.com/office/2015/10/relationships/revisionInfo" Target="revisionInfo.xml"/><Relationship Id="rId4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n Cousins" userId="S::jcousins@autismspectrum.org.au::e5107725-ce0a-4006-bfb3-3787c68d621c" providerId="AD" clId="Web-{1F385C41-D70E-EC55-CC3F-15C4A1B221D0}"/>
    <pc:docChg chg="addSld delSld modSld sldOrd">
      <pc:chgData name="Jen Cousins" userId="S::jcousins@autismspectrum.org.au::e5107725-ce0a-4006-bfb3-3787c68d621c" providerId="AD" clId="Web-{1F385C41-D70E-EC55-CC3F-15C4A1B221D0}" dt="2026-08-25T01:10:16.508" v="19"/>
      <pc:docMkLst>
        <pc:docMk/>
      </pc:docMkLst>
      <pc:sldChg chg="del modNotes">
        <pc:chgData name="Jen Cousins" userId="S::jcousins@autismspectrum.org.au::e5107725-ce0a-4006-bfb3-3787c68d621c" providerId="AD" clId="Web-{1F385C41-D70E-EC55-CC3F-15C4A1B221D0}" dt="2026-08-25T01:08:56.865" v="8"/>
        <pc:sldMkLst>
          <pc:docMk/>
          <pc:sldMk cId="4255018311" sldId="698"/>
        </pc:sldMkLst>
      </pc:sldChg>
      <pc:sldChg chg="ord">
        <pc:chgData name="Jen Cousins" userId="S::jcousins@autismspectrum.org.au::e5107725-ce0a-4006-bfb3-3787c68d621c" providerId="AD" clId="Web-{1F385C41-D70E-EC55-CC3F-15C4A1B221D0}" dt="2026-08-25T01:10:13.055" v="18"/>
        <pc:sldMkLst>
          <pc:docMk/>
          <pc:sldMk cId="1113519979" sldId="727"/>
        </pc:sldMkLst>
      </pc:sldChg>
      <pc:sldChg chg="addSp delSp modNotes">
        <pc:chgData name="Jen Cousins" userId="S::jcousins@autismspectrum.org.au::e5107725-ce0a-4006-bfb3-3787c68d621c" providerId="AD" clId="Web-{1F385C41-D70E-EC55-CC3F-15C4A1B221D0}" dt="2026-08-25T01:08:47.052" v="7"/>
        <pc:sldMkLst>
          <pc:docMk/>
          <pc:sldMk cId="1172960991" sldId="826"/>
        </pc:sldMkLst>
        <pc:picChg chg="del">
          <ac:chgData name="Jen Cousins" userId="S::jcousins@autismspectrum.org.au::e5107725-ce0a-4006-bfb3-3787c68d621c" providerId="AD" clId="Web-{1F385C41-D70E-EC55-CC3F-15C4A1B221D0}" dt="2026-08-25T01:08:40.786" v="6"/>
          <ac:picMkLst>
            <pc:docMk/>
            <pc:sldMk cId="1172960991" sldId="826"/>
            <ac:picMk id="4" creationId="{AB3E49F2-B026-D882-C3AA-102576D9F00E}"/>
          </ac:picMkLst>
        </pc:picChg>
        <pc:picChg chg="add">
          <ac:chgData name="Jen Cousins" userId="S::jcousins@autismspectrum.org.au::e5107725-ce0a-4006-bfb3-3787c68d621c" providerId="AD" clId="Web-{1F385C41-D70E-EC55-CC3F-15C4A1B221D0}" dt="2026-08-25T01:08:47.052" v="7"/>
          <ac:picMkLst>
            <pc:docMk/>
            <pc:sldMk cId="1172960991" sldId="826"/>
            <ac:picMk id="9" creationId="{7DD6013A-446B-1499-20B5-B9AF58F25322}"/>
          </ac:picMkLst>
        </pc:picChg>
      </pc:sldChg>
      <pc:sldChg chg="mod modShow">
        <pc:chgData name="Jen Cousins" userId="S::jcousins@autismspectrum.org.au::e5107725-ce0a-4006-bfb3-3787c68d621c" providerId="AD" clId="Web-{1F385C41-D70E-EC55-CC3F-15C4A1B221D0}" dt="2026-08-25T01:06:51.532" v="0"/>
        <pc:sldMkLst>
          <pc:docMk/>
          <pc:sldMk cId="2583517750" sldId="848"/>
        </pc:sldMkLst>
      </pc:sldChg>
      <pc:sldChg chg="mod modShow">
        <pc:chgData name="Jen Cousins" userId="S::jcousins@autismspectrum.org.au::e5107725-ce0a-4006-bfb3-3787c68d621c" providerId="AD" clId="Web-{1F385C41-D70E-EC55-CC3F-15C4A1B221D0}" dt="2026-08-25T01:06:54.173" v="1"/>
        <pc:sldMkLst>
          <pc:docMk/>
          <pc:sldMk cId="2870829570" sldId="849"/>
        </pc:sldMkLst>
      </pc:sldChg>
      <pc:sldChg chg="mod modShow">
        <pc:chgData name="Jen Cousins" userId="S::jcousins@autismspectrum.org.au::e5107725-ce0a-4006-bfb3-3787c68d621c" providerId="AD" clId="Web-{1F385C41-D70E-EC55-CC3F-15C4A1B221D0}" dt="2026-08-25T01:06:56.282" v="2"/>
        <pc:sldMkLst>
          <pc:docMk/>
          <pc:sldMk cId="3338348027" sldId="850"/>
        </pc:sldMkLst>
      </pc:sldChg>
      <pc:sldChg chg="modSp new del">
        <pc:chgData name="Jen Cousins" userId="S::jcousins@autismspectrum.org.au::e5107725-ce0a-4006-bfb3-3787c68d621c" providerId="AD" clId="Web-{1F385C41-D70E-EC55-CC3F-15C4A1B221D0}" dt="2026-08-25T01:10:16.508" v="19"/>
        <pc:sldMkLst>
          <pc:docMk/>
          <pc:sldMk cId="1402172547" sldId="856"/>
        </pc:sldMkLst>
        <pc:spChg chg="mod">
          <ac:chgData name="Jen Cousins" userId="S::jcousins@autismspectrum.org.au::e5107725-ce0a-4006-bfb3-3787c68d621c" providerId="AD" clId="Web-{1F385C41-D70E-EC55-CC3F-15C4A1B221D0}" dt="2026-08-25T01:09:56.070" v="17" actId="20577"/>
          <ac:spMkLst>
            <pc:docMk/>
            <pc:sldMk cId="1402172547" sldId="856"/>
            <ac:spMk id="2" creationId="{ACE7100A-AA01-67AA-8501-2DC237FB90E0}"/>
          </ac:spMkLst>
        </pc:spChg>
      </pc:sldChg>
    </pc:docChg>
  </pc:docChgLst>
</pc:chgInfo>
</file>

<file path=ppt/media/copied7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447314-2903-4AC0-92C3-51B05CD66CCA}" type="datetimeFigureOut">
              <a:rPr lang="en-AU" smtClean="0"/>
              <a:t>24/9/2026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B633D2-454D-487A-853A-4FC6450AE0FE}" type="slidenum">
              <a:rPr lang="en-AU" smtClean="0"/>
              <a:t>‹#›</a:t>
            </a:fld>
            <a:endParaRPr lang="en-AU"/>
          </a:p>
        </p:txBody>
      </p:sp>
    </p:spTree>
    <p:extLst>
      <p:ext uri="{BB962C8B-B14F-4D97-AF65-F5344CB8AC3E}">
        <p14:creationId xmlns:p14="http://schemas.microsoft.com/office/powerpoint/2010/main" val="20298144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3 min  ·  minutes 0 - 3  ·  Participant Guide - Session 3 key ideas</a:t>
            </a:r>
          </a:p>
          <a:p/>
          <a:p>
            <a:r>
              <a:t>PURPOSE</a:t>
            </a:r>
          </a:p>
          <a:p>
            <a:r>
              <a:t>Reconnect with the day map and design question from last session, and shift from understanding experience to designing access across a secondary school day.</a:t>
            </a:r>
          </a:p>
          <a:p/>
          <a:p>
            <a:r>
              <a:t>WHAT TO DO</a:t>
            </a:r>
          </a:p>
          <a:p>
            <a:r>
              <a:t>1. Welcome participants back as they join. Remind them that cameras are optional and that chat, reactions, speaking, private notes or passing all count.</a:t>
            </a:r>
          </a:p>
          <a:p>
            <a:r>
              <a:t>2. Ask them to have their Participant Guide open, with the secondary day map and Carry into design notes (Keep, Reduce, Explore) from last session to hand.</a:t>
            </a:r>
          </a:p>
          <a:p>
            <a:r>
              <a:t>3. Invite one or two people to share in the chat, using initials or roles only, anything they noticed since last session about the barrier they chose to reduce.</a:t>
            </a:r>
          </a:p>
          <a:p>
            <a:r>
              <a:t>4. Explain that this session moves from understanding students to designing the environment, task and routine around them.</a:t>
            </a:r>
          </a:p>
          <a:p>
            <a:r>
              <a:t>5. Explain that each person will produce one small change to a lesson, an assessment task or a handover that can be tried and reviewed.</a:t>
            </a:r>
          </a:p>
          <a:p>
            <a:r>
              <a:t>6. Keep the focus on environment, task and routine rather than changing the student.</a:t>
            </a:r>
          </a:p>
          <a:p/>
          <a:p>
            <a:r>
              <a:t>KEY MESSAGES</a:t>
            </a:r>
          </a:p>
          <a:p>
            <a:r>
              <a:t>• What we know about students informs design; it is not a list of deficits.</a:t>
            </a:r>
          </a:p>
          <a:p>
            <a:r>
              <a:t>• A practical change should respond to a barrier or access question.</a:t>
            </a:r>
          </a:p>
          <a:p/>
          <a:p>
            <a:r>
              <a:t>KEEP IN MIND</a:t>
            </a:r>
          </a:p>
          <a:p>
            <a:r>
              <a:t>• Remind people they can step away from the screen at any time.</a:t>
            </a:r>
          </a:p>
          <a:p>
            <a:r>
              <a:t>• If anyone missed Online Session 2, they can use the sample Year 9 timetable in the Participant Guide, choose any lesson, assessment task or handover they know well for their brief, and borrow their breakout partner's Keep, Reduce, Explore notes.</a:t>
            </a:r>
          </a:p>
          <a:p>
            <a:r>
              <a:t>• Flex points if running behind: on slide 4, skip the chat share of "We could change..." lines; keep each option input on slides 6 to 9 to about two minutes and skip the chat invitations; on slide 14, give one example overall rather than one per layer. Protect the design and breakout check on slide 12.</a:t>
            </a:r>
          </a:p>
          <a:p/>
          <a:p>
            <a:r>
              <a:t>THREAD</a:t>
            </a:r>
          </a:p>
          <a:p>
            <a:r>
              <a:t>Picks up the secondary day map, costs and lighteners and the Carry into design notes (especially "Reduce") from Online Session 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2 min  ·  minutes 3 - 5</a:t>
            </a:r>
          </a:p>
          <a:p/>
          <a:p>
            <a:r>
              <a:t>PURPOSE</a:t>
            </a:r>
          </a:p>
          <a:p>
            <a:r>
              <a:t>Set the principle that understanding real students comes before any design response.</a:t>
            </a:r>
          </a:p>
          <a:p/>
          <a:p>
            <a:r>
              <a:t>WHAT TO DO</a:t>
            </a:r>
          </a:p>
          <a:p>
            <a:r>
              <a:t>1. Point to the students participants have in mind and the secondary day map from last session.</a:t>
            </a:r>
          </a:p>
          <a:p>
            <a:r>
              <a:t>2. Name that each person designs one lesson, assessment task or handover, then checks that design against the two or three students they have in mind.</a:t>
            </a:r>
          </a:p>
          <a:p>
            <a:r>
              <a:t>3. Remind participants to include only what is known, and to hold unknowns as questions.</a:t>
            </a:r>
          </a:p>
          <a:p>
            <a:r>
              <a:t>4. Ask participants to separate an observation from an interpretation, and a question from a conclusion.</a:t>
            </a:r>
          </a:p>
          <a:p/>
          <a:p>
            <a:r>
              <a:t>KEY MESSAGES</a:t>
            </a:r>
          </a:p>
          <a:p>
            <a:r>
              <a:t>• The student comes before the strategy.</a:t>
            </a:r>
          </a:p>
          <a:p>
            <a:r>
              <a:t>• A design brief connects what matters for students with what can change in the environment, task or routine.</a:t>
            </a:r>
          </a:p>
          <a:p>
            <a:r>
              <a:t>• Use the costs from the day map as things the design needs to address, and strengths and interests as things to build on.</a:t>
            </a:r>
          </a:p>
          <a:p>
            <a:r>
              <a:t>• Unknowns remain questions for consultation.</a:t>
            </a:r>
          </a:p>
          <a:p/>
          <a:p>
            <a:r>
              <a:t>KEEP IN MIND</a:t>
            </a:r>
          </a:p>
          <a:p>
            <a:r>
              <a:t>• Do not use what is known about students to diagnose, rank or reduce them to support needs.</a:t>
            </a:r>
          </a:p>
          <a:p>
            <a:r>
              <a:t>• Initials or roles only in the chat and in breakout rooms.</a:t>
            </a:r>
          </a:p>
          <a:p/>
          <a:p>
            <a:r>
              <a:t>THREAD</a:t>
            </a:r>
          </a:p>
          <a:p>
            <a:r>
              <a:t>Draws on the secondary day map from Online Session 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2 min  ·  minutes 5 - 7</a:t>
            </a:r>
          </a:p>
          <a:p/>
          <a:p>
            <a:r>
              <a:t>PURPOSE</a:t>
            </a:r>
          </a:p>
          <a:p>
            <a:r>
              <a:t>A quick reminder to hold a concise picture of each student in mind while designing.</a:t>
            </a:r>
          </a:p>
          <a:p/>
          <a:p>
            <a:r>
              <a:t>WHAT TO DO</a:t>
            </a:r>
          </a:p>
          <a:p>
            <a:r>
              <a:t>1. Keep this to about one to two minutes.</a:t>
            </a:r>
          </a:p>
          <a:p>
            <a:r>
              <a:t>2. Run through the areas on the slide as prompts, not a form to fill in.</a:t>
            </a:r>
          </a:p>
          <a:p>
            <a:r>
              <a:t>3. Invite participants to jot private notes if it helps; nothing here is shared.</a:t>
            </a:r>
          </a:p>
          <a:p>
            <a:r>
              <a:t>4. Name that participants will come back to these students later in the session, in the private check.</a:t>
            </a:r>
          </a:p>
          <a:p/>
          <a:p>
            <a:r>
              <a:t>KEY MESSAGES</a:t>
            </a:r>
          </a:p>
          <a:p>
            <a:r>
              <a:t>• You are not building a file on one young person. Keep real, different students in view as you design.</a:t>
            </a:r>
          </a:p>
          <a:p>
            <a:r>
              <a:t>• Include strengths, interests and joy, communication, sensory experience, thinking, costs, lighteners, identity and belonging only where these are known or framed as questions.</a:t>
            </a:r>
          </a:p>
          <a:p/>
          <a:p>
            <a:r>
              <a:t>KEEP IN MIND</a:t>
            </a:r>
          </a:p>
          <a:p>
            <a:r>
              <a:t>• Do not use this to diagnose, rank or reduce students to support needs.</a:t>
            </a:r>
          </a:p>
          <a:p>
            <a:r>
              <a:t>• Remember the quiet student described as "good and chilled in class". A calm student is not always evidence that a design is working.</a:t>
            </a:r>
          </a:p>
          <a:p/>
          <a:p>
            <a:r>
              <a:t>THREAD</a:t>
            </a:r>
          </a:p>
          <a:p>
            <a:r>
              <a:t>Recalls masking and "good and chilled in class" from Online Session 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7 min  ·  minutes 7 - 14  ·  Participant Guide - My brief</a:t>
            </a:r>
          </a:p>
          <a:p/>
          <a:p>
            <a:r>
              <a:t>PURPOSE</a:t>
            </a:r>
          </a:p>
          <a:p>
            <a:r>
              <a:t>Each person chooses one lesson, assessment task or handover they know well and writes an environment-first design brief for it.</a:t>
            </a:r>
          </a:p>
          <a:p/>
          <a:p>
            <a:r>
              <a:t>WHAT TO DO</a:t>
            </a:r>
          </a:p>
          <a:p>
            <a:r>
              <a:t>1. Ask the producer to paste the three stems into the chat.</a:t>
            </a:r>
          </a:p>
          <a:p>
            <a:r>
              <a:t>2. Ask each person to choose one lesson, assessment task or handover they know well. It may come from their "Reduce" note last session.</a:t>
            </a:r>
          </a:p>
          <a:p>
            <a:r>
              <a:t>3. Give about five minutes to complete the three stems in the Participant Guide.</a:t>
            </a:r>
          </a:p>
          <a:p>
            <a:r>
              <a:t>4. Check that the brief points to something within educator or school influence.</a:t>
            </a:r>
          </a:p>
          <a:p>
            <a:r>
              <a:t>5. Prompt participants to remove any wording that blames or labels students, for example "disorganised" or "unmotivated".</a:t>
            </a:r>
          </a:p>
          <a:p>
            <a:r>
              <a:t>6. Invite one or two people to paste their "We could change..." line into the chat, and read one aloud.</a:t>
            </a:r>
          </a:p>
          <a:p/>
          <a:p>
            <a:r>
              <a:t>KEY MESSAGES</a:t>
            </a:r>
          </a:p>
          <a:p>
            <a:r>
              <a:t>• A design brief connects what matters for students with what can change in the environment, task or routine.</a:t>
            </a:r>
          </a:p>
          <a:p>
            <a:r>
              <a:t>• Unknowns remain questions for consultation.</a:t>
            </a:r>
          </a:p>
          <a:p/>
          <a:p>
            <a:r>
              <a:t>ACTIVITY: Individual design brief in the Participant Guide, with optional chat share  ·  on your own  ·  7 minutes (about 5 minutes writing, 2 minutes chat share)</a:t>
            </a:r>
          </a:p>
          <a:p>
            <a:r>
              <a:t>Prompt: Choose one lesson, assessment task or handover you know well, then write an environment-first brief.</a:t>
            </a:r>
          </a:p>
          <a:p>
            <a:r>
              <a:t>1. Choose one lesson, assessment task or handover you know well.</a:t>
            </a:r>
          </a:p>
          <a:p>
            <a:r>
              <a:t>2. Complete: "This asks students to..."</a:t>
            </a:r>
          </a:p>
          <a:p>
            <a:r>
              <a:t>3. Complete: "For some students, that means..."</a:t>
            </a:r>
          </a:p>
          <a:p>
            <a:r>
              <a:t>4. Complete: "We could change..."</a:t>
            </a:r>
          </a:p>
          <a:p>
            <a:r>
              <a:t>5. Check the wording: is it specific, workable and free from blame or deficit labels?</a:t>
            </a:r>
          </a:p>
          <a:p>
            <a:r>
              <a:t>Bring the room back:</a:t>
            </a:r>
          </a:p>
          <a:p>
            <a:r>
              <a:t>• Optional: paste your "We could change..." line into the chat.</a:t>
            </a:r>
          </a:p>
          <a:p>
            <a:r>
              <a:t>Close: Keep this one brief active for the rest of the session.</a:t>
            </a:r>
          </a:p>
          <a:p/>
          <a:p>
            <a:r>
              <a:t>KEEP IN MIND</a:t>
            </a:r>
          </a:p>
          <a:p>
            <a:r>
              <a:t>• Watch for observation drifting into interpretation, or questions presented as conclusions.</a:t>
            </a:r>
          </a:p>
          <a:p/>
          <a:p>
            <a:r>
              <a:t>BACKGROUND</a:t>
            </a:r>
          </a:p>
          <a:p>
            <a:r>
              <a:t>If someone has no suitable context in mind, offer the approved composite secondary example or sample assessment task.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1 min  ·  minutes 14 - 15</a:t>
            </a:r>
          </a:p>
          <a:p/>
          <a:p>
            <a:r>
              <a:t>PURPOSE</a:t>
            </a:r>
          </a:p>
          <a:p>
            <a:r>
              <a:t>Frame the short inputs as a menu that participants listen to with their brief in front of them.</a:t>
            </a:r>
          </a:p>
          <a:p/>
          <a:p>
            <a:r>
              <a:t>WHAT TO DO</a:t>
            </a:r>
          </a:p>
          <a:p>
            <a:r>
              <a:t>1. Ask participants to keep their brief visible, in the Participant Guide or on screen beside Zoom.</a:t>
            </a:r>
          </a:p>
          <a:p>
            <a:r>
              <a:t>2. Ask them to listen for which option might answer "This asks students to..."</a:t>
            </a:r>
          </a:p>
          <a:p>
            <a:r>
              <a:t>3. Name that there are four options, each with a short input slide.</a:t>
            </a:r>
          </a:p>
          <a:p>
            <a:r>
              <a:t>4. Keep each of the following inputs to two or three minutes.</a:t>
            </a:r>
          </a:p>
          <a:p>
            <a:r>
              <a:t>5. Invite people to note in the chat which option they are leaning towards, if they wish.</a:t>
            </a:r>
          </a:p>
          <a:p/>
          <a:p>
            <a:r>
              <a:t>KEY MESSAGES</a:t>
            </a:r>
          </a:p>
          <a:p>
            <a:r>
              <a:t>• Listen for what might answer your brief.</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3 min  ·  minutes 15 - 18</a:t>
            </a:r>
          </a:p>
          <a:p/>
          <a:p>
            <a:r>
              <a:t>PURPOSE</a:t>
            </a:r>
          </a:p>
          <a:p>
            <a:r>
              <a:t>Option 1 of 4: executive functioning supports matched to the known demands of assessment.</a:t>
            </a:r>
          </a:p>
          <a:p/>
          <a:p>
            <a:r>
              <a:t>WHAT TO DO</a:t>
            </a:r>
          </a:p>
          <a:p>
            <a:r>
              <a:t>1. Keep this input to about three minutes.</a:t>
            </a:r>
          </a:p>
          <a:p>
            <a:r>
              <a:t>2. Open with a short example: a capable student misses an assessment task and gets a zero. Invite ideas in the chat about what might be going on besides motivation.</a:t>
            </a:r>
          </a:p>
          <a:p>
            <a:r>
              <a:t>3. Go through the four design moves on the slide: publish assessment schedules early, chunk tasks with visible milestones, show an exemplar of the finished thing, make submission steps literal.</a:t>
            </a:r>
          </a:p>
          <a:p>
            <a:r>
              <a:t>4. Explain the idea behind them: if a student finds it hard to hold steps in mind or to get started, put that information where they can see it, for example written first steps, instructions that stay on the class page, and a visible clock or timer.</a:t>
            </a:r>
          </a:p>
          <a:p>
            <a:r>
              <a:t>5. Ask participants to think about homework: how much of the load is organisation and time rather than the subject itself?</a:t>
            </a:r>
          </a:p>
          <a:p>
            <a:r>
              <a:t>6. Link examples to the day map and each person's brief rather than presenting a strategy checklist.</a:t>
            </a:r>
          </a:p>
          <a:p/>
          <a:p>
            <a:r>
              <a:t>YOU MIGHT SAY</a:t>
            </a:r>
          </a:p>
          <a:p>
            <a:r>
              <a:t>When a task is missed, look at starting, planning and time before assuming a student didn't care.</a:t>
            </a:r>
          </a:p>
          <a:p/>
          <a:p>
            <a:r>
              <a:t>KEY MESSAGES</a:t>
            </a:r>
          </a:p>
          <a:p>
            <a:r>
              <a:t>• In secondary, success can depend as much on organisation, planning and time as on subject knowledge.</a:t>
            </a:r>
          </a:p>
          <a:p>
            <a:r>
              <a:t>• These supports do not change what is being assessed. They help students get organised enough to show what they know.</a:t>
            </a:r>
          </a:p>
          <a:p>
            <a:r>
              <a:t>• A support should reduce unnecessary demand rather than increase compliance pressure.</a:t>
            </a:r>
          </a:p>
          <a:p/>
          <a:p>
            <a:r>
              <a:t>KEEP IN MIND</a:t>
            </a:r>
          </a:p>
          <a:p>
            <a:r>
              <a:t>• Avoid assuming that the same support works across students, subjects or contexts.</a:t>
            </a:r>
          </a:p>
          <a:p>
            <a:r>
              <a:t>• If someone says "that's just good teaching", agree. That is the idea behind universal design, which comes next.</a:t>
            </a:r>
          </a:p>
          <a:p>
            <a:r>
              <a:t>• Assessment policy questions may be beyond one teacher's decision. Suggest who in the school they could take them to.</a:t>
            </a:r>
          </a:p>
          <a:p/>
          <a:p>
            <a:r>
              <a:t>BACKGROUND</a:t>
            </a:r>
          </a:p>
          <a:p>
            <a:r>
              <a:t>Exemplars connect to detail-first thinking from Online Session 1: seeing the finished thing first helps a student build the whole picture. Exam access also fits here: preparation routines, managing load, and adjustments planned well before the exam.</a:t>
            </a:r>
          </a:p>
          <a:p/>
          <a:p>
            <a:r>
              <a:t>THREAD</a:t>
            </a:r>
          </a:p>
          <a:p>
            <a:r>
              <a:t>Draws on thinking and executive functioning from Online Session 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3 min  ·  minutes 18 - 21</a:t>
            </a:r>
          </a:p>
          <a:p/>
          <a:p>
            <a:r>
              <a:t>PURPOSE</a:t>
            </a:r>
          </a:p>
          <a:p>
            <a:r>
              <a:t>Option 2 of 4: predictability as access to information about routine and change.</a:t>
            </a:r>
          </a:p>
          <a:p/>
          <a:p>
            <a:r>
              <a:t>WHAT TO DO</a:t>
            </a:r>
          </a:p>
          <a:p>
            <a:r>
              <a:t>1. Keep this input to about three minutes.</a:t>
            </a:r>
          </a:p>
          <a:p>
            <a:r>
              <a:t>2. Frame predictability as access to information, not making every day the same or removing unexpected change.</a:t>
            </a:r>
          </a:p>
          <a:p>
            <a:r>
              <a:t>3. Draw attention to how much information in a secondary day is spoken, implied or held by adults, and how it can change from one period to the next.</a:t>
            </a:r>
          </a:p>
          <a:p>
            <a:r>
              <a:t>4. Connect back to the day map from last session: when something changes, how do students find out?</a:t>
            </a:r>
          </a:p>
          <a:p>
            <a:r>
              <a:t>5. Use the four questions on the slide to examine what information is available to students.</a:t>
            </a:r>
          </a:p>
          <a:p>
            <a:r>
              <a:t>6. Mention relief days: a relief plan that keeps the class's usual routines is part of predictability.</a:t>
            </a:r>
          </a:p>
          <a:p>
            <a:r>
              <a:t>7. If needed, use the example below.</a:t>
            </a:r>
          </a:p>
          <a:p/>
          <a:p>
            <a:r>
              <a:t>YOU MIGHT SAY</a:t>
            </a:r>
          </a:p>
          <a:p>
            <a:r>
              <a:t>If I couldn't rely on remembering what someone had told me, how would I know what was happening across today's timetable?</a:t>
            </a:r>
          </a:p>
          <a:p>
            <a:r>
              <a:t>Predictability is not the absence of change. It includes having accessible information when change happens.</a:t>
            </a:r>
          </a:p>
          <a:p/>
          <a:p>
            <a:r>
              <a:t>KEY MESSAGES</a:t>
            </a:r>
          </a:p>
          <a:p>
            <a:r>
              <a:t>• Predictability is access to information, not a promise that nothing will change.</a:t>
            </a:r>
          </a:p>
          <a:p>
            <a:r>
              <a:t>• Clear information about change can be just as important as information about routine.</a:t>
            </a:r>
          </a:p>
          <a:p>
            <a:r>
              <a:t>• In practice, predictability means keeping routines consistent, giving warning before transitions, and telling students about changes in more than one way.</a:t>
            </a:r>
          </a:p>
          <a:p/>
          <a:p>
            <a:r>
              <a:t>BACKGROUND</a:t>
            </a:r>
          </a:p>
          <a:p>
            <a:r>
              <a:t>Secondary example if needed: a Year 9 student arrives at period 3 to find a relief teacher, a different room and a changed task. How would they know before they arrive? Is the change shown somewhere they can check, such as the class page or the timetable app? Does the relief plan keep the class's usual start routine? Can they see what happens next? Do they have an accessible way to ask a question or say they need more information or support? Students may otherwise be expected to listen, remember, infer or ask in order to know what is happening.</a:t>
            </a:r>
          </a:p>
          <a:p/>
          <a:p>
            <a:r>
              <a:t>THREAD</a:t>
            </a:r>
          </a:p>
          <a:p>
            <a:r>
              <a:t>Links back to the secondary day map and "Six classrooms, six teachers, one student" from Online Session 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3 min  ·  minutes 23 - 26  ·  Participant Guide - Quick review of a visual support</a:t>
            </a:r>
          </a:p>
          <a:p/>
          <a:p>
            <a:r>
              <a:t>PURPOSE</a:t>
            </a:r>
          </a:p>
          <a:p>
            <a:r>
              <a:t>Option 4 of 4: visual supports that clarify what students need to find, understand, remember or communicate.</a:t>
            </a:r>
          </a:p>
          <a:p/>
          <a:p>
            <a:r>
              <a:t>WHAT TO DO</a:t>
            </a:r>
          </a:p>
          <a:p>
            <a:r>
              <a:t>1. Keep this input to about three minutes.</a:t>
            </a:r>
          </a:p>
          <a:p>
            <a:r>
              <a:t>2. Start with what information students need, not with a particular visual tool.</a:t>
            </a:r>
          </a:p>
          <a:p>
            <a:r>
              <a:t>3. Note that a support is not automatically accessible because it is visual: check students understand what it represents and can use it.</a:t>
            </a:r>
          </a:p>
          <a:p>
            <a:r>
              <a:t>4. In secondary, visual supports can look like written instructions that stay on the board or class page, task maps, checklists and assessment calendars. Check they are respectful and suit the student's age.</a:t>
            </a:r>
          </a:p>
          <a:p>
            <a:r>
              <a:t>5. For students who use AAC, ask how information is made accessible and how they can respond; keep their communication system available in every class, during transitions and changes.</a:t>
            </a:r>
          </a:p>
          <a:p>
            <a:r>
              <a:t>6. Use the four quick-review questions on the slide to review an example briefly.</a:t>
            </a:r>
          </a:p>
          <a:p>
            <a:r>
              <a:t>7. Ask the producer to paste details of the Visual Supports Checklist and the webinar into the chat once confirmed.</a:t>
            </a:r>
          </a:p>
          <a:p/>
          <a:p>
            <a:r>
              <a:t>YOU MIGHT SAY</a:t>
            </a:r>
          </a:p>
          <a:p>
            <a:r>
              <a:t>We're introducing some key principles around visual supports here, but this is a much bigger area than we can cover in this part of the session. You'll have access to a Visual Supports Checklist to help you think through supports in your own setting. There is also an online webinar that explores visual supports in greater depth if you'd like to extend your learning.</a:t>
            </a:r>
          </a:p>
          <a:p>
            <a:r>
              <a:t>What information does the student need here, and how can they respond?</a:t>
            </a:r>
          </a:p>
          <a:p/>
          <a:p>
            <a:r>
              <a:t>KEY MESSAGES</a:t>
            </a:r>
          </a:p>
          <a:p>
            <a:r>
              <a:t>• A visual support is useful only when it improves access for the intended student or group.</a:t>
            </a:r>
          </a:p>
          <a:p>
            <a:r>
              <a:t>• Visual supports should support access, communication and agency, not simply compliance.</a:t>
            </a:r>
          </a:p>
          <a:p>
            <a:r>
              <a:t>• Start with what the student needs to know and how they can respond, rather than which visual you want to use.</a:t>
            </a:r>
          </a:p>
          <a:p/>
          <a:p>
            <a:r>
              <a:t>KEEP IN MIND</a:t>
            </a:r>
          </a:p>
          <a:p>
            <a:r>
              <a:t>• Avoid prescribing one format for all Autistic students.</a:t>
            </a:r>
          </a:p>
          <a:p>
            <a:r>
              <a:t>• Some young people will avoid a support that marks them out in front of peers. Designing it for the whole class can help.</a:t>
            </a:r>
          </a:p>
          <a:p>
            <a:r>
              <a:t>• Do not assume access to AAC means spoken instructions, schedules or changes are automatically understood.</a:t>
            </a:r>
          </a:p>
          <a:p>
            <a:r>
              <a:t>• Do not read the absence of a spoken response as absence of understanding, preference, opinion or a response.</a:t>
            </a:r>
          </a:p>
          <a:p/>
          <a:p>
            <a:r>
              <a:t>BACKGROUND</a:t>
            </a:r>
          </a:p>
          <a:p>
            <a:r>
              <a:t>Examples of visual supports include photographs, symbols, written words, checklists, maps, task maps, choice supports, visual schedules and assessment calendars. Visual information can sit alongside spoken communication rather than replacing it. The checklist prompts: Purpose, Meaning, Access, The real day, Communication and agency, Review. Its closing question: Does this support give this student useful information they can understand, access and act on?</a:t>
            </a:r>
          </a:p>
          <a:p/>
          <a:p>
            <a:r>
              <a:t>THREAD</a:t>
            </a:r>
          </a:p>
          <a:p>
            <a:r>
              <a:t>Links back to receptive and expressive communication from Online Session 2.</a:t>
            </a:r>
          </a:p>
          <a:p/>
          <a:p>
            <a:r>
              <a:t>RESOURCES</a:t>
            </a:r>
          </a:p>
          <a:p>
            <a:r>
              <a:t>Visual Supports Checklist - link to confirm</a:t>
            </a:r>
          </a:p>
          <a:p>
            <a:r>
              <a:t>Online webinar on visual supports - link to confirm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1 min  ·  minutes 26 - 27</a:t>
            </a:r>
          </a:p>
          <a:p/>
          <a:p>
            <a:r>
              <a:t>PURPOSE</a:t>
            </a:r>
          </a:p>
          <a:p>
            <a:r>
              <a:t>Frame a Universal Design for Learning lens before each person's accessibility check.</a:t>
            </a:r>
          </a:p>
          <a:p/>
          <a:p>
            <a:r>
              <a:t>WHAT TO DO</a:t>
            </a:r>
          </a:p>
          <a:p>
            <a:r>
              <a:t>1. Keep this input to about one minute.</a:t>
            </a:r>
          </a:p>
          <a:p>
            <a:r>
              <a:t>2. Introduce Universal Design for Learning using the three points on the slide.</a:t>
            </a:r>
          </a:p>
          <a:p>
            <a:r>
              <a:t>3. Invite one quick example in the chat for any of the points, for example more than one way to show learning in an assessment task.</a:t>
            </a:r>
          </a:p>
          <a:p>
            <a:r>
              <a:t>4. Name that individual knowledge and universal design can inform each other.</a:t>
            </a:r>
          </a:p>
          <a:p/>
          <a:p>
            <a:r>
              <a:t>KEY MESSAGES</a:t>
            </a:r>
          </a:p>
          <a:p>
            <a:r>
              <a:t>• Universal design and individual knowledge can inform each other.</a:t>
            </a:r>
          </a:p>
          <a:p>
            <a:r>
              <a:t>• The presence of a resource does not guarantee access.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4 min  ·  minutes 27 - 31  ·  Participant Guide - Accessibility check</a:t>
            </a:r>
          </a:p>
          <a:p/>
          <a:p>
            <a:r>
              <a:t>PURPOSE</a:t>
            </a:r>
          </a:p>
          <a:p>
            <a:r>
              <a:t>Each person tests their draft design against four accessibility questions.</a:t>
            </a:r>
          </a:p>
          <a:p/>
          <a:p>
            <a:r>
              <a:t>WHAT TO DO</a:t>
            </a:r>
          </a:p>
          <a:p>
            <a:r>
              <a:t>1. Ask participants to choose one or two options from the menu, tick them in Options I chose in the Participant Guide, and add them to their brief as a draft design.</a:t>
            </a:r>
          </a:p>
          <a:p>
            <a:r>
              <a:t>2. Ask them to run the four questions over their draft design and tick each in the Participant Guide.</a:t>
            </a:r>
          </a:p>
          <a:p>
            <a:r>
              <a:t>3. Where the answer is "not yet", ask them to adjust the design before moving on.</a:t>
            </a:r>
          </a:p>
          <a:p>
            <a:r>
              <a:t>4. Ask whether participation, help, pause and recovery are available in more than one way, and whether that holds with a different teacher or on a relief day.</a:t>
            </a:r>
          </a:p>
          <a:p>
            <a:r>
              <a:t>5. Offer a reaction (for example a thumbs up) when people are ready to move on.</a:t>
            </a:r>
          </a:p>
          <a:p/>
          <a:p>
            <a:r>
              <a:t>KEY MESSAGES</a:t>
            </a:r>
          </a:p>
          <a:p>
            <a:r>
              <a:t>• Accessibility is tested through use and feedback, not assumed from the presence of a resource.</a:t>
            </a:r>
          </a:p>
          <a:p/>
          <a:p>
            <a:r>
              <a:t>ACTIVITY: Individual check in the Participant Guide  ·  on your own  ·  about 4 minutes</a:t>
            </a:r>
          </a:p>
          <a:p>
            <a:r>
              <a:t>Prompt: Run these over your draft design, then test it through use and feedback.</a:t>
            </a:r>
          </a:p>
          <a:p>
            <a:r>
              <a:t>1. Can students find and understand what they need?</a:t>
            </a:r>
          </a:p>
          <a:p>
            <a:r>
              <a:t>2. Can they take part in more than one way?</a:t>
            </a:r>
          </a:p>
          <a:p>
            <a:r>
              <a:t>3. Can they pause, ask for help or recover?</a:t>
            </a:r>
          </a:p>
          <a:p>
            <a:r>
              <a:t>4. Is the support available when demand increases?</a:t>
            </a:r>
          </a:p>
          <a:p>
            <a:r>
              <a:t>5. Where the answer is "not yet", adjust the design.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12 min  ·  minutes 31 - 43  ·  Participant Guide - My design</a:t>
            </a:r>
          </a:p>
          <a:p/>
          <a:p>
            <a:r>
              <a:t>PURPOSE</a:t>
            </a:r>
          </a:p>
          <a:p>
            <a:r>
              <a:t>Each person develops one practical change to their lesson, assessment task or handover, ready to try and review, then checks it with a breakout partner.</a:t>
            </a:r>
          </a:p>
          <a:p/>
          <a:p>
            <a:r>
              <a:t>WHAT TO DO</a:t>
            </a:r>
          </a:p>
          <a:p>
            <a:r>
              <a:t>1. Ask the producer to paste the five steps and the pair-check question into the chat before breakouts open.</a:t>
            </a:r>
          </a:p>
          <a:p>
            <a:r>
              <a:t>2. Give about seven minutes for each person to work through the five steps in the Participant Guide.</a:t>
            </a:r>
          </a:p>
          <a:p>
            <a:r>
              <a:t>3. Ask them to name the barrier or demand before choosing a strategy, and to keep the change small: something a teacher could try this week is a good size.</a:t>
            </a:r>
          </a:p>
          <a:p>
            <a:r>
              <a:t>4. For a handover or assessment task, ask who else needs to know: other subject teachers, relief teachers, learning support, the year level coordinator.</a:t>
            </a:r>
          </a:p>
          <a:p>
            <a:r>
              <a:t>5. Producer opens breakout pairs for about five minutes: each person has two minutes to explain their change and hear one question back. Send a one-minute warning.</a:t>
            </a:r>
          </a:p>
          <a:p>
            <a:r>
              <a:t>6. Remind pairs to use initials or roles only. Breakout rooms are not recorded.</a:t>
            </a:r>
          </a:p>
          <a:p>
            <a:r>
              <a:t>7. Main-room alternative: stay together and invite a three-part chat check (change, who needs to know, review); read one or two and invite refinements without identifying the context.</a:t>
            </a:r>
          </a:p>
          <a:p/>
          <a:p>
            <a:r>
              <a:t>KEY MESSAGES</a:t>
            </a:r>
          </a:p>
          <a:p>
            <a:r>
              <a:t>• The measure of success should be access, not compliance.</a:t>
            </a:r>
          </a:p>
          <a:p>
            <a:r>
              <a:t>• The change should be specific, workable and reviewable.</a:t>
            </a:r>
          </a:p>
          <a:p/>
          <a:p>
            <a:r>
              <a:t>ACTIVITY: Individual design in the Participant Guide, with a breakout-pair check  ·  on your own, then breakout pairs  ·  12 minutes (about 7 minutes design, 5 minutes pair check)</a:t>
            </a:r>
          </a:p>
          <a:p>
            <a:r>
              <a:t>Prompt: Develop the change in your Participant Guide.</a:t>
            </a:r>
          </a:p>
          <a:p>
            <a:r>
              <a:t>1. State the barrier or unnecessary demand.</a:t>
            </a:r>
          </a:p>
          <a:p>
            <a:r>
              <a:t>2. Change the environment, task or routine.</a:t>
            </a:r>
          </a:p>
          <a:p>
            <a:r>
              <a:t>3. Include students' communication and experience.</a:t>
            </a:r>
          </a:p>
          <a:p>
            <a:r>
              <a:t>4. Decide what you will observe.</a:t>
            </a:r>
          </a:p>
          <a:p>
            <a:r>
              <a:t>5. Set a time to review.</a:t>
            </a:r>
          </a:p>
          <a:p>
            <a:r>
              <a:t>6. In a breakout pair, check the design remains student-centred and environment-first.</a:t>
            </a:r>
          </a:p>
          <a:p>
            <a:r>
              <a:t>Bring the room back:</a:t>
            </a:r>
          </a:p>
          <a:p>
            <a:r>
              <a:t>• Does the change respond to the barrier you named?</a:t>
            </a:r>
          </a:p>
          <a:p>
            <a:r>
              <a:t>• Will it hold across subjects, teachers and relief days?</a:t>
            </a:r>
          </a:p>
          <a:p>
            <a:r>
              <a:t>Close: Keep a one-sentence description of the change and the access question it addresses.</a:t>
            </a:r>
          </a:p>
          <a:p/>
          <a:p>
            <a:r>
              <a:t>KEEP IN MIND</a:t>
            </a:r>
          </a:p>
          <a:p>
            <a:r>
              <a:t>• Avoid making students' compliance the success measure.</a:t>
            </a:r>
          </a:p>
          <a:p>
            <a:r>
              <a:t>• Some people will prefer not to go to a breakout. Let them stay in the main room with the chat option.</a:t>
            </a:r>
          </a:p>
          <a:p/>
          <a:p>
            <a:r>
              <a:t>BACKGROUND</a:t>
            </a:r>
          </a:p>
          <a:p>
            <a:r>
              <a:t>Small, free changes might be instructions written as well as spoken, a two-minute warning before packing up, or showing the finished exemplar first. Some changes need a decision beyond one classroom, such as assessment policy or timetabling. Ask participants to note these; they come back in the commit at the end of the session.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5 min  ·  minutes 43 - 48  ·  Participant Guide - My students check</a:t>
            </a:r>
          </a:p>
          <a:p/>
          <a:p>
            <a:r>
              <a:t>PURPOSE</a:t>
            </a:r>
          </a:p>
          <a:p>
            <a:r>
              <a:t>Each person privately tests their design against each of the students they have in mind.</a:t>
            </a:r>
          </a:p>
          <a:p/>
          <a:p>
            <a:r>
              <a:t>WHAT TO DO</a:t>
            </a:r>
          </a:p>
          <a:p>
            <a:r>
              <a:t>1. Welcome people back from breakouts.</a:t>
            </a:r>
          </a:p>
          <a:p>
            <a:r>
              <a:t>2. Ask each person to use the My students check in their Participant Guide, privately.</a:t>
            </a:r>
          </a:p>
          <a:p>
            <a:r>
              <a:t>3. Ask them to mark each student (Student A, B, C) as Helps, No difference or Needs something more.</a:t>
            </a:r>
          </a:p>
          <a:p>
            <a:r>
              <a:t>4. Name that across the group there are many real students being checked against these designs: this is where the broad, mixed picture of autism shows up.</a:t>
            </a:r>
          </a:p>
          <a:p>
            <a:r>
              <a:t>5. Invite people to share in the chat only what they choose, for example how many "needs something more" marks their design collected, without describing students.</a:t>
            </a:r>
          </a:p>
          <a:p>
            <a:r>
              <a:t>6. Invite one or two examples of "needs something more" to open the continuum discussion.</a:t>
            </a:r>
          </a:p>
          <a:p/>
          <a:p>
            <a:r>
              <a:t>KEY MESSAGES</a:t>
            </a:r>
          </a:p>
          <a:p>
            <a:r>
              <a:t>• Where the design still doesn't work for someone, that is where targeted or individual support begins.</a:t>
            </a:r>
          </a:p>
          <a:p>
            <a:r>
              <a:t>• The same design will work differently for different Autistic students.</a:t>
            </a:r>
          </a:p>
          <a:p/>
          <a:p>
            <a:r>
              <a:t>ACTIVITY: Private check in the Participant Guide  ·  on your own  ·  5 minutes</a:t>
            </a:r>
          </a:p>
          <a:p>
            <a:r>
              <a:t>Prompt: Privately, test your design against each of your students.</a:t>
            </a:r>
          </a:p>
          <a:p>
            <a:r>
              <a:t>1. List your students as Student A, B and C.</a:t>
            </a:r>
          </a:p>
          <a:p>
            <a:r>
              <a:t>2. Mark each: Helps, No difference or Needs something more.</a:t>
            </a:r>
          </a:p>
          <a:p>
            <a:r>
              <a:t>3. Share in the chat only what you choose.</a:t>
            </a:r>
          </a:p>
          <a:p>
            <a:r>
              <a:t>Bring the room back:</a:t>
            </a:r>
          </a:p>
          <a:p>
            <a:r>
              <a:t>• How many "needs something more" marks did your design collect?</a:t>
            </a:r>
          </a:p>
          <a:p>
            <a:r>
              <a:t>Close: Where it helps, the universal design is doing its job. Where it makes no difference or a student needs something more, that leads into the continuum of support.</a:t>
            </a:r>
          </a:p>
          <a:p/>
          <a:p>
            <a:r>
              <a:t>KEEP IN MIND</a:t>
            </a:r>
          </a:p>
          <a:p>
            <a:r>
              <a:t>• Keep it private: no names or identifying details, initials or letters only.</a:t>
            </a:r>
          </a:p>
          <a:p>
            <a:r>
              <a:t>• A student who seems fine may be masking. "No difference" is worth a second look.</a:t>
            </a:r>
          </a:p>
          <a:p/>
          <a:p>
            <a:r>
              <a:t>BACKGROUND</a:t>
            </a:r>
          </a:p>
          <a:p>
            <a:r>
              <a:t>This keeps individual students in view without building a profile of one young person.</a:t>
            </a:r>
          </a:p>
          <a:p/>
          <a:p>
            <a:r>
              <a:t>THREAD</a:t>
            </a:r>
          </a:p>
          <a:p>
            <a:r>
              <a:t>Leads straight into the continuum of support.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4 min  ·  minutes 48 - 52</a:t>
            </a:r>
          </a:p>
          <a:p/>
          <a:p>
            <a:r>
              <a:t>PURPOSE</a:t>
            </a:r>
          </a:p>
          <a:p>
            <a:r>
              <a:t>Show what happens when the check shows "needs something more": a continuum from inclusive environment to individual adjustments.</a:t>
            </a:r>
          </a:p>
          <a:p/>
          <a:p>
            <a:r>
              <a:t>WHAT TO DO</a:t>
            </a:r>
          </a:p>
          <a:p>
            <a:r>
              <a:t>1. Open from the "needs something more" examples just shared in the chat.</a:t>
            </a:r>
          </a:p>
          <a:p>
            <a:r>
              <a:t>2. Walk the four layers: inclusive environment, universal supports, targeted supports, individual adjustments.</a:t>
            </a:r>
          </a:p>
          <a:p>
            <a:r>
              <a:t>3. Use one example per layer from the background below.</a:t>
            </a:r>
          </a:p>
          <a:p>
            <a:r>
              <a:t>4. Explain the order: design for everyone first, then add targeted and individual support where it is needed.</a:t>
            </a:r>
          </a:p>
          <a:p>
            <a:r>
              <a:t>5. Connect adjustments to evidence from the secondary day map, consultation and the design process.</a:t>
            </a:r>
          </a:p>
          <a:p/>
          <a:p>
            <a:r>
              <a:t>KEY MESSAGES</a:t>
            </a:r>
          </a:p>
          <a:p>
            <a:r>
              <a:t>• Support is a continuum rather than a single intervention.</a:t>
            </a:r>
          </a:p>
          <a:p>
            <a:r>
              <a:t>• Academic adjustments respond to access and participation needs.</a:t>
            </a:r>
          </a:p>
          <a:p>
            <a:r>
              <a:t>• Each response should connect to access and participation needs and be reviewed through use and feedback.</a:t>
            </a:r>
          </a:p>
          <a:p/>
          <a:p>
            <a:r>
              <a:t>KEEP IN MIND</a:t>
            </a:r>
          </a:p>
          <a:p>
            <a:r>
              <a:t>• Do not imply that diagnosis alone determines an adjustment.</a:t>
            </a:r>
          </a:p>
          <a:p/>
          <a:p>
            <a:r>
              <a:t>BACKGROUND</a:t>
            </a:r>
          </a:p>
          <a:p>
            <a:r>
              <a:t>Inclusive environment: predictable routines across classes, clear expectations, assessment schedules published early, and a school culture where different ways of participating are accepted and valued. Universal supports: instructions in verbal, written and visual forms, flexible ways to demonstrate learning, exemplars, a class page where tasks stay available. Targeted supports: a small group receives pre-teaching of key vocabulary, a structured organisation checklist or check-ins on assessment milestones. Individual adjustments: a personalised adjustment plan, for example a quieter space for assessments, additional processing time, a task broken into visible steps and alternative ways to demonstrate learning.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2 min  ·  minutes 52 - 54</a:t>
            </a:r>
          </a:p>
          <a:p/>
          <a:p>
            <a:r>
              <a:t>PURPOSE</a:t>
            </a:r>
          </a:p>
          <a:p>
            <a:r>
              <a:t>Place reasonable adjustments and NCCD levels of adjustment within the layers of inclusive design.</a:t>
            </a:r>
          </a:p>
          <a:p/>
          <a:p>
            <a:r>
              <a:t>WHAT TO DO</a:t>
            </a:r>
          </a:p>
          <a:p>
            <a:r>
              <a:t>1. Walk the funnel from environmental design and UDL through quality differentiated teaching practice (an NCCD level of adjustment) to supplementary, substantial and extensive adjustments (the other three NCCD levels of adjustment).</a:t>
            </a:r>
          </a:p>
          <a:p>
            <a:r>
              <a:t>2. Give the definition of reasonable adjustments below.</a:t>
            </a:r>
          </a:p>
          <a:p>
            <a:r>
              <a:t>3. Distinguish reasonable adjustments (the support actions) from the NCCD (the process for collecting information about them).</a:t>
            </a:r>
          </a:p>
          <a:p/>
          <a:p>
            <a:r>
              <a:t>YOU MIGHT SAY</a:t>
            </a:r>
          </a:p>
          <a:p>
            <a:r>
              <a:t>Reasonable adjustments are changes or supports that help students access and participate in education in a way that works for them.</a:t>
            </a:r>
          </a:p>
          <a:p/>
          <a:p>
            <a:r>
              <a:t>KEY MESSAGES</a:t>
            </a:r>
          </a:p>
          <a:p>
            <a:r>
              <a:t>• Adjustments are individualised, strengths based, remove barriers, practical and effective, based on informed decision making, and empowering and enabling.</a:t>
            </a:r>
          </a:p>
          <a:p>
            <a:r>
              <a:t>• Supports and adjustments build student capability, confidence, self-advocacy and independence, not dependence on adults.</a:t>
            </a:r>
          </a:p>
          <a:p/>
          <a:p>
            <a:r>
              <a:t>KEEP IN MIND</a:t>
            </a:r>
          </a:p>
          <a:p>
            <a:r>
              <a:t>• Do not give legal advice or present the session as a substitute for school or system processes.</a:t>
            </a:r>
          </a:p>
          <a:p/>
          <a:p>
            <a:r>
              <a:t>BACKGROUND</a:t>
            </a:r>
          </a:p>
          <a:p>
            <a:r>
              <a:t>Adjustments align to the curriculum. Schools consider the needs of the student as well as the impact on staff, other students and available resources. A student is included in the NCCD when they have a disability as defined under the Disability Discrimination Act (DDA), the school has provided reasonable adjustments to address their educational needs, and evidence exists that the adjustments have been provided and monitored. The NCCD helps schools demonstrate compliance with the DSE, monitor the effectiveness of adjustments, ensure students receive appropriate support, and inform planning and resource allocation.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2 min  ·  minutes 54 - 56</a:t>
            </a:r>
          </a:p>
          <a:p/>
          <a:p>
            <a:r>
              <a:t>PURPOSE</a:t>
            </a:r>
          </a:p>
          <a:p>
            <a:r>
              <a:t>Direct participants to current official NCCD information and their local processes.</a:t>
            </a:r>
          </a:p>
          <a:p/>
          <a:p>
            <a:r>
              <a:t>WHAT TO DO</a:t>
            </a:r>
          </a:p>
          <a:p>
            <a:r>
              <a:t>1. Ask the producer to paste current official NCCD information into the chat.</a:t>
            </a:r>
          </a:p>
          <a:p>
            <a:r>
              <a:t>2. Connect the NCCD discussion with reasonable adjustments and evidence.</a:t>
            </a:r>
          </a:p>
          <a:p>
            <a:r>
              <a:t>3. Invite participants to follow the consultation, documentation and review processes used in their school or system.</a:t>
            </a:r>
          </a:p>
          <a:p>
            <a:r>
              <a:t>4. Encourage them to make responsibilities clear to the student, family and staff involved.</a:t>
            </a:r>
          </a:p>
          <a:p>
            <a:r>
              <a:t>5. Direct local procedural questions to the appropriate school or system contact.</a:t>
            </a:r>
          </a:p>
          <a:p/>
          <a:p>
            <a:r>
              <a:t>KEY MESSAGES</a:t>
            </a:r>
          </a:p>
          <a:p>
            <a:r>
              <a:t>• Use current official NCCD information.</a:t>
            </a:r>
          </a:p>
          <a:p>
            <a:r>
              <a:t>• Follow school and system requirements for local processes.</a:t>
            </a:r>
          </a:p>
          <a:p/>
          <a:p>
            <a:r>
              <a:t>KEEP IN MIND</a:t>
            </a:r>
          </a:p>
          <a:p>
            <a:r>
              <a:t>• Do not give legal advice or present the session as a substitute for school or system processes.</a:t>
            </a:r>
          </a:p>
          <a:p>
            <a:r>
              <a:t>• Do not imply that diagnosis alone determines an adjustment.</a:t>
            </a:r>
          </a:p>
          <a:p/>
          <a:p>
            <a:r>
              <a:t>THREAD</a:t>
            </a:r>
          </a:p>
          <a:p>
            <a:r>
              <a:t>Consultation is developed further in Online Session 4. The NCCD Meetings Tool Kit is listed in the Participant Guide under Connections that continue.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4 min  ·  minutes 56 - 60  ·  Participant Guide - Commit</a:t>
            </a:r>
          </a:p>
          <a:p/>
          <a:p>
            <a:r>
              <a:t>PURPOSE</a:t>
            </a:r>
          </a:p>
          <a:p>
            <a:r>
              <a:t>Refine the design and decide on realistic next steps: in your own classes this week, with your faculty or year level team, and with school leaders.</a:t>
            </a:r>
          </a:p>
          <a:p/>
          <a:p>
            <a:r>
              <a:t>WHAT TO DO</a:t>
            </a:r>
          </a:p>
          <a:p>
            <a:r>
              <a:t>1. Ask the producer to paste the four questions into the chat.</a:t>
            </a:r>
          </a:p>
          <a:p>
            <a:r>
              <a:t>2. Ask participants to turn to the Commit section of the Participant Guide and fill in the boxes: This week, in my own classes; With my faculty or year level team; To raise with school leaders; Who I will involve, including the student and family; How students and families will help refine it.</a:t>
            </a:r>
          </a:p>
          <a:p>
            <a:r>
              <a:t>3. Explain why there are three levels. Many barriers in secondary, such as assessment policy, timetabling and reporting, sit beyond one classroom. Naming which level a change belongs to is useful, and it does not mean the design has failed.</a:t>
            </a:r>
          </a:p>
          <a:p>
            <a:r>
              <a:t>4. Invite optional sharing in the chat (roles only), and read one or two aloud.</a:t>
            </a:r>
          </a:p>
          <a:p>
            <a:r>
              <a:t>5. Encourage consultation with students, families and relevant school colleagues rather than presenting the design as finished.</a:t>
            </a:r>
          </a:p>
          <a:p>
            <a:r>
              <a:t>6. Preview Online Session 4 on working in partnership, and mention that their "this week" change can become the starting point for the action they plan there.</a:t>
            </a:r>
          </a:p>
          <a:p/>
          <a:p>
            <a:r>
              <a:t>KEY MESSAGES</a:t>
            </a:r>
          </a:p>
          <a:p>
            <a:r>
              <a:t>• A design change is something to try, review and refine.</a:t>
            </a:r>
          </a:p>
          <a:p>
            <a:r>
              <a:t>• Student and family knowledge can refine what educators notice and try.</a:t>
            </a:r>
          </a:p>
          <a:p/>
          <a:p>
            <a:r>
              <a:t>ACTIVITY: Personal commitment in the Participant Guide, with optional chat share  ·  on your own  ·  about 4 minutes</a:t>
            </a:r>
          </a:p>
          <a:p>
            <a:r>
              <a:t>Prompt: What will you try this week, in your own classes? What needs your faculty or year level team? What needs to go to school leaders? How will students and families help refine it?</a:t>
            </a:r>
          </a:p>
          <a:p>
            <a:r>
              <a:t>1. This week, in my own classes.</a:t>
            </a:r>
          </a:p>
          <a:p>
            <a:r>
              <a:t>2. With my faculty or year level team.</a:t>
            </a:r>
          </a:p>
          <a:p>
            <a:r>
              <a:t>3. To raise with school leaders.</a:t>
            </a:r>
          </a:p>
          <a:p>
            <a:r>
              <a:t>4. Who I will involve, including the student and family.</a:t>
            </a:r>
          </a:p>
          <a:p>
            <a:r>
              <a:t>5. How students and families will help refine it.</a:t>
            </a:r>
          </a:p>
          <a:p>
            <a:r>
              <a:t>Close: Treat the change as something to try, review and refine.</a:t>
            </a:r>
          </a:p>
          <a:p/>
          <a:p>
            <a:r>
              <a:t>KEEP IN MIND</a:t>
            </a:r>
          </a:p>
          <a:p>
            <a:r>
              <a:t>• Keep any public example anonymised.</a:t>
            </a:r>
          </a:p>
          <a:p>
            <a:r>
              <a:t>• Keep commitments within each person's role; a question for consultation is enough if a trial is not appropriate.</a:t>
            </a:r>
          </a:p>
          <a:p/>
          <a:p>
            <a:r>
              <a:t>THREAD</a:t>
            </a:r>
          </a:p>
          <a:p>
            <a:r>
              <a:t>Leads into Online Session 4 on partnership, including adolescents in their own meetings.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2 min  ·  minutes 21 - 23</a:t>
            </a:r>
          </a:p>
          <a:p/>
          <a:p>
            <a:r>
              <a:t>PURPOSE</a:t>
            </a:r>
          </a:p>
          <a:p>
            <a:r>
              <a:t>Option 3 of 4: supports that stay consistent across subjects, teachers, rooms and relief days.</a:t>
            </a:r>
          </a:p>
          <a:p/>
          <a:p>
            <a:r>
              <a:t>WHAT TO DO</a:t>
            </a:r>
          </a:p>
          <a:p>
            <a:r>
              <a:t>1. Keep this input to about two minutes.</a:t>
            </a:r>
          </a:p>
          <a:p>
            <a:r>
              <a:t>2. Refer back to "Six classrooms, six teachers, one student" from Online Session 2. Shared guidance is one response to it.</a:t>
            </a:r>
          </a:p>
          <a:p>
            <a:r>
              <a:t>3. Ask where a support currently depends on one teacher knowing the student well.</a:t>
            </a:r>
          </a:p>
          <a:p>
            <a:r>
              <a:t>4. Walk through the four points on the slide: a one-page profile written with the student; handover notes for new and relief teachers; the same visual supports in every room; agreeing where the information is kept and who updates it.</a:t>
            </a:r>
          </a:p>
          <a:p>
            <a:r>
              <a:t>5. Ask the question on the slide: would a relief teacher, or the period 4 teacher, know what helps before the lesson starts?</a:t>
            </a:r>
          </a:p>
          <a:p>
            <a:r>
              <a:t>6. Separate useful guidance from unnecessary personal detail.</a:t>
            </a:r>
          </a:p>
          <a:p/>
          <a:p>
            <a:r>
              <a:t>YOU MIGHT SAY</a:t>
            </a:r>
          </a:p>
          <a:p>
            <a:r>
              <a:t>Would a relief teacher, or the period 4 teacher, know what helps before the lesson starts?</a:t>
            </a:r>
          </a:p>
          <a:p/>
          <a:p>
            <a:r>
              <a:t>KEY MESSAGES</a:t>
            </a:r>
          </a:p>
          <a:p>
            <a:r>
              <a:t>• A support that works in one lesson may not work if the next teacher doesn't know about it.</a:t>
            </a:r>
          </a:p>
          <a:p>
            <a:r>
              <a:t>• The profile is written with the student and belongs to them. It is not a file about them.</a:t>
            </a:r>
          </a:p>
          <a:p>
            <a:r>
              <a:t>• One shared profile saves each teacher having to work it out separately.</a:t>
            </a:r>
          </a:p>
          <a:p/>
          <a:p>
            <a:r>
              <a:t>KEEP IN MIND</a:t>
            </a:r>
          </a:p>
          <a:p>
            <a:r>
              <a:t>• Profiles can get lost in shared drives. Agree where it will be kept and who will update it.</a:t>
            </a:r>
          </a:p>
          <a:p>
            <a:r>
              <a:t>• Keep the student involved in what is written and shared.</a:t>
            </a:r>
          </a:p>
          <a:p/>
          <a:p>
            <a:r>
              <a:t>BACKGROUND</a:t>
            </a:r>
          </a:p>
          <a:p>
            <a:r>
              <a:t>What guidance needs to travel across subjects, rooms, staff changes and relief days? One example is a one-page profile of strengths, interests, what helps and what costs, written with the student and shared with every teacher, including relief teachers. Keep shared guidance concise, privacy-aware and reviewable with the student. A support that does not travel may fail across the timetable.</a:t>
            </a:r>
          </a:p>
          <a:p/>
          <a:p>
            <a:r>
              <a:t>THREAD</a:t>
            </a:r>
          </a:p>
          <a:p>
            <a:r>
              <a:t>Answers "Six classrooms, six teachers, one student" from Online Session 2. Student voice in handovers returns in Online Session 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12300-CF36-BDC9-9A4C-79D244FC616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63A6A7F5-395B-49E7-05C4-E234293E98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05F9D9EC-27C6-A01A-8B73-4F6FF5E53A17}"/>
              </a:ext>
            </a:extLst>
          </p:cNvPr>
          <p:cNvSpPr>
            <a:spLocks noGrp="1"/>
          </p:cNvSpPr>
          <p:nvPr>
            <p:ph type="dt" sz="half" idx="10"/>
          </p:nvPr>
        </p:nvSpPr>
        <p:spPr/>
        <p:txBody>
          <a:bodyPr/>
          <a:lstStyle/>
          <a:p>
            <a:fld id="{44C91D01-6394-4FEE-8640-C4B512347A45}" type="datetimeFigureOut">
              <a:rPr lang="en-AU" smtClean="0"/>
              <a:t>24/9/2026</a:t>
            </a:fld>
            <a:endParaRPr lang="en-AU"/>
          </a:p>
        </p:txBody>
      </p:sp>
      <p:sp>
        <p:nvSpPr>
          <p:cNvPr id="5" name="Footer Placeholder 4">
            <a:extLst>
              <a:ext uri="{FF2B5EF4-FFF2-40B4-BE49-F238E27FC236}">
                <a16:creationId xmlns:a16="http://schemas.microsoft.com/office/drawing/2014/main" id="{E0EE7002-5EBE-D7E6-B06B-86300E46C47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F861868-E847-42CC-8667-58C21920472B}"/>
              </a:ext>
            </a:extLst>
          </p:cNvPr>
          <p:cNvSpPr>
            <a:spLocks noGrp="1"/>
          </p:cNvSpPr>
          <p:nvPr>
            <p:ph type="sldNum" sz="quarter" idx="12"/>
          </p:nvPr>
        </p:nvSpPr>
        <p:spPr/>
        <p:txBody>
          <a:bodyPr/>
          <a:lstStyle/>
          <a:p>
            <a:fld id="{6CFB74C0-9FAD-425A-9F66-3BC5FBE50088}" type="slidenum">
              <a:rPr lang="en-AU" smtClean="0"/>
              <a:t>‹#›</a:t>
            </a:fld>
            <a:endParaRPr lang="en-AU"/>
          </a:p>
        </p:txBody>
      </p:sp>
    </p:spTree>
    <p:extLst>
      <p:ext uri="{BB962C8B-B14F-4D97-AF65-F5344CB8AC3E}">
        <p14:creationId xmlns:p14="http://schemas.microsoft.com/office/powerpoint/2010/main" val="27025512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01710-7996-6D5E-3A9C-01D2B352FBE4}"/>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5F51074F-7D2F-EA68-F5A7-F46CA3ABD49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433753D1-CE36-EA49-D497-86513B418059}"/>
              </a:ext>
            </a:extLst>
          </p:cNvPr>
          <p:cNvSpPr>
            <a:spLocks noGrp="1"/>
          </p:cNvSpPr>
          <p:nvPr>
            <p:ph type="dt" sz="half" idx="10"/>
          </p:nvPr>
        </p:nvSpPr>
        <p:spPr/>
        <p:txBody>
          <a:bodyPr/>
          <a:lstStyle/>
          <a:p>
            <a:fld id="{44C91D01-6394-4FEE-8640-C4B512347A45}" type="datetimeFigureOut">
              <a:rPr lang="en-AU" smtClean="0"/>
              <a:t>24/9/2026</a:t>
            </a:fld>
            <a:endParaRPr lang="en-AU"/>
          </a:p>
        </p:txBody>
      </p:sp>
      <p:sp>
        <p:nvSpPr>
          <p:cNvPr id="5" name="Footer Placeholder 4">
            <a:extLst>
              <a:ext uri="{FF2B5EF4-FFF2-40B4-BE49-F238E27FC236}">
                <a16:creationId xmlns:a16="http://schemas.microsoft.com/office/drawing/2014/main" id="{1BAF7423-B65E-B105-EA6E-B0B39815583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AFE90154-4824-5EA0-5FE2-08C26EFD12E5}"/>
              </a:ext>
            </a:extLst>
          </p:cNvPr>
          <p:cNvSpPr>
            <a:spLocks noGrp="1"/>
          </p:cNvSpPr>
          <p:nvPr>
            <p:ph type="sldNum" sz="quarter" idx="12"/>
          </p:nvPr>
        </p:nvSpPr>
        <p:spPr/>
        <p:txBody>
          <a:bodyPr/>
          <a:lstStyle/>
          <a:p>
            <a:fld id="{6CFB74C0-9FAD-425A-9F66-3BC5FBE50088}" type="slidenum">
              <a:rPr lang="en-AU" smtClean="0"/>
              <a:t>‹#›</a:t>
            </a:fld>
            <a:endParaRPr lang="en-AU"/>
          </a:p>
        </p:txBody>
      </p:sp>
    </p:spTree>
    <p:extLst>
      <p:ext uri="{BB962C8B-B14F-4D97-AF65-F5344CB8AC3E}">
        <p14:creationId xmlns:p14="http://schemas.microsoft.com/office/powerpoint/2010/main" val="3019254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5641B-1FAD-4B9E-210E-700645501F8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73F0CA48-85E9-8A09-8E1D-33C08F85407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C9D035-23AC-B3DF-020B-71AB59976DA5}"/>
              </a:ext>
            </a:extLst>
          </p:cNvPr>
          <p:cNvSpPr>
            <a:spLocks noGrp="1"/>
          </p:cNvSpPr>
          <p:nvPr>
            <p:ph type="dt" sz="half" idx="10"/>
          </p:nvPr>
        </p:nvSpPr>
        <p:spPr/>
        <p:txBody>
          <a:bodyPr/>
          <a:lstStyle/>
          <a:p>
            <a:fld id="{44C91D01-6394-4FEE-8640-C4B512347A45}" type="datetimeFigureOut">
              <a:rPr lang="en-AU" smtClean="0"/>
              <a:t>24/9/2026</a:t>
            </a:fld>
            <a:endParaRPr lang="en-AU"/>
          </a:p>
        </p:txBody>
      </p:sp>
      <p:sp>
        <p:nvSpPr>
          <p:cNvPr id="5" name="Footer Placeholder 4">
            <a:extLst>
              <a:ext uri="{FF2B5EF4-FFF2-40B4-BE49-F238E27FC236}">
                <a16:creationId xmlns:a16="http://schemas.microsoft.com/office/drawing/2014/main" id="{1F3C65BB-CBCE-D7C6-9912-3139CEB3D74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6FA844F9-6FB5-72F2-6211-4D42E17BB1E0}"/>
              </a:ext>
            </a:extLst>
          </p:cNvPr>
          <p:cNvSpPr>
            <a:spLocks noGrp="1"/>
          </p:cNvSpPr>
          <p:nvPr>
            <p:ph type="sldNum" sz="quarter" idx="12"/>
          </p:nvPr>
        </p:nvSpPr>
        <p:spPr/>
        <p:txBody>
          <a:bodyPr/>
          <a:lstStyle/>
          <a:p>
            <a:fld id="{6CFB74C0-9FAD-425A-9F66-3BC5FBE50088}" type="slidenum">
              <a:rPr lang="en-AU" smtClean="0"/>
              <a:t>‹#›</a:t>
            </a:fld>
            <a:endParaRPr lang="en-AU"/>
          </a:p>
        </p:txBody>
      </p:sp>
    </p:spTree>
    <p:extLst>
      <p:ext uri="{BB962C8B-B14F-4D97-AF65-F5344CB8AC3E}">
        <p14:creationId xmlns:p14="http://schemas.microsoft.com/office/powerpoint/2010/main" val="26955505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C444D4-253F-F6F8-FFA0-6C1E2CEC0921}"/>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FAF03CCD-BF87-B59B-7C69-6CB411ABE13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B10C1998-EC6B-D8BC-E75C-885C125397A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C62EFCC4-D2B1-3445-D244-E3260B859EA2}"/>
              </a:ext>
            </a:extLst>
          </p:cNvPr>
          <p:cNvSpPr>
            <a:spLocks noGrp="1"/>
          </p:cNvSpPr>
          <p:nvPr>
            <p:ph type="dt" sz="half" idx="10"/>
          </p:nvPr>
        </p:nvSpPr>
        <p:spPr/>
        <p:txBody>
          <a:bodyPr/>
          <a:lstStyle/>
          <a:p>
            <a:fld id="{44C91D01-6394-4FEE-8640-C4B512347A45}" type="datetimeFigureOut">
              <a:rPr lang="en-AU" smtClean="0"/>
              <a:t>24/9/2026</a:t>
            </a:fld>
            <a:endParaRPr lang="en-AU"/>
          </a:p>
        </p:txBody>
      </p:sp>
      <p:sp>
        <p:nvSpPr>
          <p:cNvPr id="6" name="Footer Placeholder 5">
            <a:extLst>
              <a:ext uri="{FF2B5EF4-FFF2-40B4-BE49-F238E27FC236}">
                <a16:creationId xmlns:a16="http://schemas.microsoft.com/office/drawing/2014/main" id="{257C10BF-A2B4-6BE4-3A94-B92C8D500C02}"/>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D5289B60-2C00-D265-394E-DC86340A697E}"/>
              </a:ext>
            </a:extLst>
          </p:cNvPr>
          <p:cNvSpPr>
            <a:spLocks noGrp="1"/>
          </p:cNvSpPr>
          <p:nvPr>
            <p:ph type="sldNum" sz="quarter" idx="12"/>
          </p:nvPr>
        </p:nvSpPr>
        <p:spPr/>
        <p:txBody>
          <a:bodyPr/>
          <a:lstStyle/>
          <a:p>
            <a:fld id="{6CFB74C0-9FAD-425A-9F66-3BC5FBE50088}" type="slidenum">
              <a:rPr lang="en-AU" smtClean="0"/>
              <a:t>‹#›</a:t>
            </a:fld>
            <a:endParaRPr lang="en-AU"/>
          </a:p>
        </p:txBody>
      </p:sp>
    </p:spTree>
    <p:extLst>
      <p:ext uri="{BB962C8B-B14F-4D97-AF65-F5344CB8AC3E}">
        <p14:creationId xmlns:p14="http://schemas.microsoft.com/office/powerpoint/2010/main" val="11235794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58404-EA81-8F51-A3E8-CBCF5F880B1A}"/>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F46969B7-C500-8BED-6065-7A07ABA65E3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FF4378-8797-6CE3-B011-48CEF1064E3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6150C59F-4B23-538D-A88E-D298281A33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B35E056-4A4A-4493-68DE-D3EDC2AF7B4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413A1C6C-3CCC-4CE2-F0CC-8164BFC60849}"/>
              </a:ext>
            </a:extLst>
          </p:cNvPr>
          <p:cNvSpPr>
            <a:spLocks noGrp="1"/>
          </p:cNvSpPr>
          <p:nvPr>
            <p:ph type="dt" sz="half" idx="10"/>
          </p:nvPr>
        </p:nvSpPr>
        <p:spPr/>
        <p:txBody>
          <a:bodyPr/>
          <a:lstStyle/>
          <a:p>
            <a:fld id="{44C91D01-6394-4FEE-8640-C4B512347A45}" type="datetimeFigureOut">
              <a:rPr lang="en-AU" smtClean="0"/>
              <a:t>24/9/2026</a:t>
            </a:fld>
            <a:endParaRPr lang="en-AU"/>
          </a:p>
        </p:txBody>
      </p:sp>
      <p:sp>
        <p:nvSpPr>
          <p:cNvPr id="8" name="Footer Placeholder 7">
            <a:extLst>
              <a:ext uri="{FF2B5EF4-FFF2-40B4-BE49-F238E27FC236}">
                <a16:creationId xmlns:a16="http://schemas.microsoft.com/office/drawing/2014/main" id="{4B513BAD-6B1D-E0AF-6DBA-F985DDE1FDAA}"/>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FDCBD4F1-C648-E999-E74F-1E91BFFB15AC}"/>
              </a:ext>
            </a:extLst>
          </p:cNvPr>
          <p:cNvSpPr>
            <a:spLocks noGrp="1"/>
          </p:cNvSpPr>
          <p:nvPr>
            <p:ph type="sldNum" sz="quarter" idx="12"/>
          </p:nvPr>
        </p:nvSpPr>
        <p:spPr/>
        <p:txBody>
          <a:bodyPr/>
          <a:lstStyle/>
          <a:p>
            <a:fld id="{6CFB74C0-9FAD-425A-9F66-3BC5FBE50088}" type="slidenum">
              <a:rPr lang="en-AU" smtClean="0"/>
              <a:t>‹#›</a:t>
            </a:fld>
            <a:endParaRPr lang="en-AU"/>
          </a:p>
        </p:txBody>
      </p:sp>
    </p:spTree>
    <p:extLst>
      <p:ext uri="{BB962C8B-B14F-4D97-AF65-F5344CB8AC3E}">
        <p14:creationId xmlns:p14="http://schemas.microsoft.com/office/powerpoint/2010/main" val="10251123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E2CAB-CF66-1389-4F1D-CF03A048A673}"/>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D7E538C4-3A36-3142-06A6-40CD9D39C393}"/>
              </a:ext>
            </a:extLst>
          </p:cNvPr>
          <p:cNvSpPr>
            <a:spLocks noGrp="1"/>
          </p:cNvSpPr>
          <p:nvPr>
            <p:ph type="dt" sz="half" idx="10"/>
          </p:nvPr>
        </p:nvSpPr>
        <p:spPr/>
        <p:txBody>
          <a:bodyPr/>
          <a:lstStyle/>
          <a:p>
            <a:fld id="{44C91D01-6394-4FEE-8640-C4B512347A45}" type="datetimeFigureOut">
              <a:rPr lang="en-AU" smtClean="0"/>
              <a:t>24/9/2026</a:t>
            </a:fld>
            <a:endParaRPr lang="en-AU"/>
          </a:p>
        </p:txBody>
      </p:sp>
      <p:sp>
        <p:nvSpPr>
          <p:cNvPr id="4" name="Footer Placeholder 3">
            <a:extLst>
              <a:ext uri="{FF2B5EF4-FFF2-40B4-BE49-F238E27FC236}">
                <a16:creationId xmlns:a16="http://schemas.microsoft.com/office/drawing/2014/main" id="{2582E653-1F80-BDCC-607D-BD74B561B169}"/>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A26C8EF1-BB76-6509-DAB2-E2A058FCD84E}"/>
              </a:ext>
            </a:extLst>
          </p:cNvPr>
          <p:cNvSpPr>
            <a:spLocks noGrp="1"/>
          </p:cNvSpPr>
          <p:nvPr>
            <p:ph type="sldNum" sz="quarter" idx="12"/>
          </p:nvPr>
        </p:nvSpPr>
        <p:spPr/>
        <p:txBody>
          <a:bodyPr/>
          <a:lstStyle/>
          <a:p>
            <a:fld id="{6CFB74C0-9FAD-425A-9F66-3BC5FBE50088}" type="slidenum">
              <a:rPr lang="en-AU" smtClean="0"/>
              <a:t>‹#›</a:t>
            </a:fld>
            <a:endParaRPr lang="en-AU"/>
          </a:p>
        </p:txBody>
      </p:sp>
    </p:spTree>
    <p:extLst>
      <p:ext uri="{BB962C8B-B14F-4D97-AF65-F5344CB8AC3E}">
        <p14:creationId xmlns:p14="http://schemas.microsoft.com/office/powerpoint/2010/main" val="2079005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181B9FF-3810-EA0A-AF34-49AA4C0E77B7}"/>
              </a:ext>
            </a:extLst>
          </p:cNvPr>
          <p:cNvSpPr>
            <a:spLocks noGrp="1"/>
          </p:cNvSpPr>
          <p:nvPr>
            <p:ph type="dt" sz="half" idx="10"/>
          </p:nvPr>
        </p:nvSpPr>
        <p:spPr/>
        <p:txBody>
          <a:bodyPr/>
          <a:lstStyle/>
          <a:p>
            <a:fld id="{44C91D01-6394-4FEE-8640-C4B512347A45}" type="datetimeFigureOut">
              <a:rPr lang="en-AU" smtClean="0"/>
              <a:t>24/9/2026</a:t>
            </a:fld>
            <a:endParaRPr lang="en-AU"/>
          </a:p>
        </p:txBody>
      </p:sp>
      <p:sp>
        <p:nvSpPr>
          <p:cNvPr id="3" name="Footer Placeholder 2">
            <a:extLst>
              <a:ext uri="{FF2B5EF4-FFF2-40B4-BE49-F238E27FC236}">
                <a16:creationId xmlns:a16="http://schemas.microsoft.com/office/drawing/2014/main" id="{9495D7A8-AFE7-9B06-ED42-954723983312}"/>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CEE7A1DD-309D-F03C-DB60-0D70E1F85A40}"/>
              </a:ext>
            </a:extLst>
          </p:cNvPr>
          <p:cNvSpPr>
            <a:spLocks noGrp="1"/>
          </p:cNvSpPr>
          <p:nvPr>
            <p:ph type="sldNum" sz="quarter" idx="12"/>
          </p:nvPr>
        </p:nvSpPr>
        <p:spPr/>
        <p:txBody>
          <a:bodyPr/>
          <a:lstStyle/>
          <a:p>
            <a:fld id="{6CFB74C0-9FAD-425A-9F66-3BC5FBE50088}" type="slidenum">
              <a:rPr lang="en-AU" smtClean="0"/>
              <a:t>‹#›</a:t>
            </a:fld>
            <a:endParaRPr lang="en-AU"/>
          </a:p>
        </p:txBody>
      </p:sp>
    </p:spTree>
    <p:extLst>
      <p:ext uri="{BB962C8B-B14F-4D97-AF65-F5344CB8AC3E}">
        <p14:creationId xmlns:p14="http://schemas.microsoft.com/office/powerpoint/2010/main" val="34830672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E7A67-4F0E-053C-5659-AA33396A80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9B861C28-0038-A88A-FF97-BBA026C6D91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1E1F0EF8-BBE7-0770-5BE6-24B4DD013E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ADA676-C9D1-D617-C7E4-AB65A5BC1AE1}"/>
              </a:ext>
            </a:extLst>
          </p:cNvPr>
          <p:cNvSpPr>
            <a:spLocks noGrp="1"/>
          </p:cNvSpPr>
          <p:nvPr>
            <p:ph type="dt" sz="half" idx="10"/>
          </p:nvPr>
        </p:nvSpPr>
        <p:spPr/>
        <p:txBody>
          <a:bodyPr/>
          <a:lstStyle/>
          <a:p>
            <a:fld id="{44C91D01-6394-4FEE-8640-C4B512347A45}" type="datetimeFigureOut">
              <a:rPr lang="en-AU" smtClean="0"/>
              <a:t>24/9/2026</a:t>
            </a:fld>
            <a:endParaRPr lang="en-AU"/>
          </a:p>
        </p:txBody>
      </p:sp>
      <p:sp>
        <p:nvSpPr>
          <p:cNvPr id="6" name="Footer Placeholder 5">
            <a:extLst>
              <a:ext uri="{FF2B5EF4-FFF2-40B4-BE49-F238E27FC236}">
                <a16:creationId xmlns:a16="http://schemas.microsoft.com/office/drawing/2014/main" id="{FD5BDD2C-C6FD-04F9-6CA4-5EF47840BC88}"/>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D538AFE4-BFC6-D308-EC0C-5623F5621B53}"/>
              </a:ext>
            </a:extLst>
          </p:cNvPr>
          <p:cNvSpPr>
            <a:spLocks noGrp="1"/>
          </p:cNvSpPr>
          <p:nvPr>
            <p:ph type="sldNum" sz="quarter" idx="12"/>
          </p:nvPr>
        </p:nvSpPr>
        <p:spPr/>
        <p:txBody>
          <a:bodyPr/>
          <a:lstStyle/>
          <a:p>
            <a:fld id="{6CFB74C0-9FAD-425A-9F66-3BC5FBE50088}" type="slidenum">
              <a:rPr lang="en-AU" smtClean="0"/>
              <a:t>‹#›</a:t>
            </a:fld>
            <a:endParaRPr lang="en-AU"/>
          </a:p>
        </p:txBody>
      </p:sp>
    </p:spTree>
    <p:extLst>
      <p:ext uri="{BB962C8B-B14F-4D97-AF65-F5344CB8AC3E}">
        <p14:creationId xmlns:p14="http://schemas.microsoft.com/office/powerpoint/2010/main" val="11546266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814E6-6B3C-B38B-9F02-2A795DFFF5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14C37199-B334-1275-2B18-55078D382C8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7889C94B-9B0D-74B4-D818-16B5000186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BD44CD-0A42-57F3-E61E-A795D73C4712}"/>
              </a:ext>
            </a:extLst>
          </p:cNvPr>
          <p:cNvSpPr>
            <a:spLocks noGrp="1"/>
          </p:cNvSpPr>
          <p:nvPr>
            <p:ph type="dt" sz="half" idx="10"/>
          </p:nvPr>
        </p:nvSpPr>
        <p:spPr/>
        <p:txBody>
          <a:bodyPr/>
          <a:lstStyle/>
          <a:p>
            <a:fld id="{44C91D01-6394-4FEE-8640-C4B512347A45}" type="datetimeFigureOut">
              <a:rPr lang="en-AU" smtClean="0"/>
              <a:t>24/9/2026</a:t>
            </a:fld>
            <a:endParaRPr lang="en-AU"/>
          </a:p>
        </p:txBody>
      </p:sp>
      <p:sp>
        <p:nvSpPr>
          <p:cNvPr id="6" name="Footer Placeholder 5">
            <a:extLst>
              <a:ext uri="{FF2B5EF4-FFF2-40B4-BE49-F238E27FC236}">
                <a16:creationId xmlns:a16="http://schemas.microsoft.com/office/drawing/2014/main" id="{4D2FB7DC-D0AC-E32A-BE92-8619CA6E64EA}"/>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3FDA3CB4-F535-4CFB-52AD-F7648459064D}"/>
              </a:ext>
            </a:extLst>
          </p:cNvPr>
          <p:cNvSpPr>
            <a:spLocks noGrp="1"/>
          </p:cNvSpPr>
          <p:nvPr>
            <p:ph type="sldNum" sz="quarter" idx="12"/>
          </p:nvPr>
        </p:nvSpPr>
        <p:spPr/>
        <p:txBody>
          <a:bodyPr/>
          <a:lstStyle/>
          <a:p>
            <a:fld id="{6CFB74C0-9FAD-425A-9F66-3BC5FBE50088}" type="slidenum">
              <a:rPr lang="en-AU" smtClean="0"/>
              <a:t>‹#›</a:t>
            </a:fld>
            <a:endParaRPr lang="en-AU"/>
          </a:p>
        </p:txBody>
      </p:sp>
    </p:spTree>
    <p:extLst>
      <p:ext uri="{BB962C8B-B14F-4D97-AF65-F5344CB8AC3E}">
        <p14:creationId xmlns:p14="http://schemas.microsoft.com/office/powerpoint/2010/main" val="9625151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5954C-7503-E7C4-F1CA-6D1AA76787E1}"/>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920F9E6D-52EB-BCC0-0AAC-9C551622A28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B8A3597C-B9E0-FE2E-7E03-8C0B1D0D30F8}"/>
              </a:ext>
            </a:extLst>
          </p:cNvPr>
          <p:cNvSpPr>
            <a:spLocks noGrp="1"/>
          </p:cNvSpPr>
          <p:nvPr>
            <p:ph type="dt" sz="half" idx="10"/>
          </p:nvPr>
        </p:nvSpPr>
        <p:spPr/>
        <p:txBody>
          <a:bodyPr/>
          <a:lstStyle/>
          <a:p>
            <a:fld id="{44C91D01-6394-4FEE-8640-C4B512347A45}" type="datetimeFigureOut">
              <a:rPr lang="en-AU" smtClean="0"/>
              <a:t>24/9/2026</a:t>
            </a:fld>
            <a:endParaRPr lang="en-AU"/>
          </a:p>
        </p:txBody>
      </p:sp>
      <p:sp>
        <p:nvSpPr>
          <p:cNvPr id="5" name="Footer Placeholder 4">
            <a:extLst>
              <a:ext uri="{FF2B5EF4-FFF2-40B4-BE49-F238E27FC236}">
                <a16:creationId xmlns:a16="http://schemas.microsoft.com/office/drawing/2014/main" id="{223B488B-7D43-A101-449E-C5CDE4EEDB6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9F4BFE4-9062-0A5B-CEDB-FD9D7BA630A4}"/>
              </a:ext>
            </a:extLst>
          </p:cNvPr>
          <p:cNvSpPr>
            <a:spLocks noGrp="1"/>
          </p:cNvSpPr>
          <p:nvPr>
            <p:ph type="sldNum" sz="quarter" idx="12"/>
          </p:nvPr>
        </p:nvSpPr>
        <p:spPr/>
        <p:txBody>
          <a:bodyPr/>
          <a:lstStyle/>
          <a:p>
            <a:fld id="{6CFB74C0-9FAD-425A-9F66-3BC5FBE50088}" type="slidenum">
              <a:rPr lang="en-AU" smtClean="0"/>
              <a:t>‹#›</a:t>
            </a:fld>
            <a:endParaRPr lang="en-AU"/>
          </a:p>
        </p:txBody>
      </p:sp>
    </p:spTree>
    <p:extLst>
      <p:ext uri="{BB962C8B-B14F-4D97-AF65-F5344CB8AC3E}">
        <p14:creationId xmlns:p14="http://schemas.microsoft.com/office/powerpoint/2010/main" val="5019154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F39024B-A5CC-4269-C140-3534C28F61D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34A205FB-7952-50BF-3356-29F34EF2A56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9E7C31A4-9D19-A58C-BAE2-EC72A2BD978F}"/>
              </a:ext>
            </a:extLst>
          </p:cNvPr>
          <p:cNvSpPr>
            <a:spLocks noGrp="1"/>
          </p:cNvSpPr>
          <p:nvPr>
            <p:ph type="dt" sz="half" idx="10"/>
          </p:nvPr>
        </p:nvSpPr>
        <p:spPr/>
        <p:txBody>
          <a:bodyPr/>
          <a:lstStyle/>
          <a:p>
            <a:fld id="{44C91D01-6394-4FEE-8640-C4B512347A45}" type="datetimeFigureOut">
              <a:rPr lang="en-AU" smtClean="0"/>
              <a:t>24/9/2026</a:t>
            </a:fld>
            <a:endParaRPr lang="en-AU"/>
          </a:p>
        </p:txBody>
      </p:sp>
      <p:sp>
        <p:nvSpPr>
          <p:cNvPr id="5" name="Footer Placeholder 4">
            <a:extLst>
              <a:ext uri="{FF2B5EF4-FFF2-40B4-BE49-F238E27FC236}">
                <a16:creationId xmlns:a16="http://schemas.microsoft.com/office/drawing/2014/main" id="{36A03743-B328-9E8C-E4AE-BA05EF1DEF97}"/>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A5D7E854-E002-EDC3-BC71-A4A321921BFF}"/>
              </a:ext>
            </a:extLst>
          </p:cNvPr>
          <p:cNvSpPr>
            <a:spLocks noGrp="1"/>
          </p:cNvSpPr>
          <p:nvPr>
            <p:ph type="sldNum" sz="quarter" idx="12"/>
          </p:nvPr>
        </p:nvSpPr>
        <p:spPr/>
        <p:txBody>
          <a:bodyPr/>
          <a:lstStyle/>
          <a:p>
            <a:fld id="{6CFB74C0-9FAD-425A-9F66-3BC5FBE50088}" type="slidenum">
              <a:rPr lang="en-AU" smtClean="0"/>
              <a:t>‹#›</a:t>
            </a:fld>
            <a:endParaRPr lang="en-AU"/>
          </a:p>
        </p:txBody>
      </p:sp>
    </p:spTree>
    <p:extLst>
      <p:ext uri="{BB962C8B-B14F-4D97-AF65-F5344CB8AC3E}">
        <p14:creationId xmlns:p14="http://schemas.microsoft.com/office/powerpoint/2010/main" val="16648620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F2001-A193-4D5D-A091-B92800E3CAF8}"/>
              </a:ext>
            </a:extLst>
          </p:cNvPr>
          <p:cNvSpPr>
            <a:spLocks noGrp="1"/>
          </p:cNvSpPr>
          <p:nvPr>
            <p:ph type="title"/>
          </p:nvPr>
        </p:nvSpPr>
        <p:spPr>
          <a:xfrm>
            <a:off x="695326" y="555852"/>
            <a:ext cx="10801350" cy="523220"/>
          </a:xfrm>
        </p:spPr>
        <p:txBody>
          <a:bodyPr/>
          <a:lstStyle>
            <a:lvl1pPr>
              <a:defRPr sz="4000"/>
            </a:lvl1pPr>
          </a:lstStyle>
          <a:p>
            <a:r>
              <a:rPr lang="en-US"/>
              <a:t>Click to edit Master title style</a:t>
            </a:r>
            <a:endParaRPr lang="en-AU"/>
          </a:p>
        </p:txBody>
      </p:sp>
    </p:spTree>
    <p:extLst>
      <p:ext uri="{BB962C8B-B14F-4D97-AF65-F5344CB8AC3E}">
        <p14:creationId xmlns:p14="http://schemas.microsoft.com/office/powerpoint/2010/main" val="2034930679"/>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422D75E-2EEB-554B-A6B3-3050C98E2AD7}"/>
              </a:ext>
            </a:extLst>
          </p:cNvPr>
          <p:cNvSpPr>
            <a:spLocks noGrp="1"/>
          </p:cNvSpPr>
          <p:nvPr>
            <p:ph type="body" sz="quarter" idx="10" hasCustomPrompt="1"/>
          </p:nvPr>
        </p:nvSpPr>
        <p:spPr>
          <a:xfrm>
            <a:off x="684141" y="2854155"/>
            <a:ext cx="10515600" cy="2688167"/>
          </a:xfrm>
          <a:prstGeom prst="rect">
            <a:avLst/>
          </a:prstGeom>
        </p:spPr>
        <p:txBody>
          <a:bodyPr/>
          <a:lstStyle>
            <a:lvl1pPr marL="0" indent="0">
              <a:buNone/>
              <a:defRPr sz="1600"/>
            </a:lvl1pPr>
          </a:lstStyle>
          <a:p>
            <a:pPr lvl="0"/>
            <a:r>
              <a:rPr lang="en-US"/>
              <a:t>Funded by Australian…</a:t>
            </a:r>
          </a:p>
        </p:txBody>
      </p:sp>
      <p:sp>
        <p:nvSpPr>
          <p:cNvPr id="5" name="Title Placeholder 2">
            <a:extLst>
              <a:ext uri="{FF2B5EF4-FFF2-40B4-BE49-F238E27FC236}">
                <a16:creationId xmlns:a16="http://schemas.microsoft.com/office/drawing/2014/main" id="{D49D5EA5-2AE2-D349-9C9F-27D38A7A5EBA}"/>
              </a:ext>
            </a:extLst>
          </p:cNvPr>
          <p:cNvSpPr>
            <a:spLocks noGrp="1"/>
          </p:cNvSpPr>
          <p:nvPr>
            <p:ph type="title"/>
          </p:nvPr>
        </p:nvSpPr>
        <p:spPr>
          <a:xfrm>
            <a:off x="684141" y="1527906"/>
            <a:ext cx="10515600" cy="1325033"/>
          </a:xfrm>
          <a:prstGeom prst="rect">
            <a:avLst/>
          </a:prstGeom>
        </p:spPr>
        <p:txBody>
          <a:bodyPr vert="horz" lIns="91440" tIns="45720" rIns="91440" bIns="45720" rtlCol="0" anchor="ctr">
            <a:noAutofit/>
          </a:bodyPr>
          <a:lstStyle/>
          <a:p>
            <a:r>
              <a:rPr lang="en-US"/>
              <a:t>Positive Partnerships initiative</a:t>
            </a:r>
          </a:p>
        </p:txBody>
      </p:sp>
    </p:spTree>
    <p:extLst>
      <p:ext uri="{BB962C8B-B14F-4D97-AF65-F5344CB8AC3E}">
        <p14:creationId xmlns:p14="http://schemas.microsoft.com/office/powerpoint/2010/main" val="293496595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0E917F6-1116-48B6-E4CC-C77F5C12C3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825F56C7-F2FB-E8A4-765D-D733BB0E07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0608CFEA-B5D0-80B0-3572-48A03888D0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4C91D01-6394-4FEE-8640-C4B512347A45}" type="datetimeFigureOut">
              <a:rPr lang="en-AU" smtClean="0"/>
              <a:t>24/9/2026</a:t>
            </a:fld>
            <a:endParaRPr lang="en-AU"/>
          </a:p>
        </p:txBody>
      </p:sp>
      <p:sp>
        <p:nvSpPr>
          <p:cNvPr id="5" name="Footer Placeholder 4">
            <a:extLst>
              <a:ext uri="{FF2B5EF4-FFF2-40B4-BE49-F238E27FC236}">
                <a16:creationId xmlns:a16="http://schemas.microsoft.com/office/drawing/2014/main" id="{13AFE187-BA8F-FC6C-4765-F79E6E84626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8D31D278-034D-0F82-1E58-5F20ECA2F2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CFB74C0-9FAD-425A-9F66-3BC5FBE50088}" type="slidenum">
              <a:rPr lang="en-AU" smtClean="0"/>
              <a:t>‹#›</a:t>
            </a:fld>
            <a:endParaRPr lang="en-AU"/>
          </a:p>
        </p:txBody>
      </p:sp>
    </p:spTree>
    <p:extLst>
      <p:ext uri="{BB962C8B-B14F-4D97-AF65-F5344CB8AC3E}">
        <p14:creationId xmlns:p14="http://schemas.microsoft.com/office/powerpoint/2010/main" val="14305926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tags" Target="../media/copied78.xml"/><Relationship Id="rId3" Type="http://schemas.openxmlformats.org/officeDocument/2006/relationships/image" Target="../media/copied79.jpe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copied80.svg"/><Relationship Id="rId3"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C80B7488-CF7D-1E95-7566-F618ABE722A1}"/>
            </a:ext>
          </a:extLst>
        </p:cNvPr>
        <p:cNvGrpSpPr/>
        <p:nvPr/>
      </p:nvGrpSpPr>
      <p:grpSpPr>
        <a:xfrm>
          <a:off x="0" y="0"/>
          <a:ext cx="0" cy="0"/>
          <a:chOff x="0" y="0"/>
          <a:chExt cx="0" cy="0"/>
        </a:xfrm>
      </p:grpSpPr>
      <p:sp>
        <p:nvSpPr>
          <p:cNvPr id="13" name="Oval 12"/>
          <p:cNvSpPr/>
          <p:nvPr/>
        </p:nvSpPr>
        <p:spPr>
          <a:xfrm>
            <a:off x="8549640" y="4663440"/>
            <a:ext cx="4873752" cy="4873752"/>
          </a:xfrm>
          <a:prstGeom prst="ellipse">
            <a:avLst/>
          </a:prstGeom>
          <a:solidFill>
            <a:srgbClr val="EDE8F8"/>
          </a:solidFill>
          <a:ln>
            <a:noFill/>
          </a:ln>
        </p:spPr>
        <p:txBody>
          <a:bodyPr rtlCol="0" anchor="ctr"/>
          <a:lstStyle/>
          <a:p>
            <a:pPr algn="ctr"/>
            <a:endParaRPr/>
          </a:p>
        </p:txBody>
      </p:sp>
      <p:pic>
        <p:nvPicPr>
          <p:cNvPr id="3" name="Picture 2">
            <a:extLst>
              <a:ext uri="{FF2B5EF4-FFF2-40B4-BE49-F238E27FC236}">
                <a16:creationId xmlns:a16="http://schemas.microsoft.com/office/drawing/2014/main" id="{288399BE-2AF4-CA8D-CACA-2A953D8D7634}"/>
              </a:ext>
            </a:extLst>
          </p:cNvPr>
          <p:cNvPicPr>
            <a:picLocks noChangeAspect="1"/>
          </p:cNvPicPr>
          <p:nvPr/>
        </p:nvPicPr>
        <p:blipFill>
          <a:blip r:embed="rId3">
            <a:extLst>
              <a:ext uri="{28A0092B-C50C-407E-A947-70E740481C1C}">
                <a14:useLocalDpi xmlns:a14="http://schemas.microsoft.com/office/drawing/2010/main" val="0"/>
              </a:ext>
            </a:extLst>
          </a:blip>
          <a:srcRect l="17000" r="17222"/>
          <a:stretch>
            <a:fillRect/>
          </a:stretch>
        </p:blipFill>
        <p:spPr>
          <a:xfrm flipH="1">
            <a:off x="0" y="0"/>
            <a:ext cx="6766560" cy="6858000"/>
          </a:xfrm>
          <a:prstGeom prst="rect">
            <a:avLst/>
          </a:prstGeom>
        </p:spPr>
      </p:pic>
      <p:sp>
        <p:nvSpPr>
          <p:cNvPr id="12" name="Title 3">
            <a:extLst>
              <a:ext uri="{FF2B5EF4-FFF2-40B4-BE49-F238E27FC236}">
                <a16:creationId xmlns:a16="http://schemas.microsoft.com/office/drawing/2014/main" id="{87656593-1279-3BEC-C50C-7E5ED02114BC}"/>
              </a:ext>
            </a:extLst>
          </p:cNvPr>
          <p:cNvSpPr txBox="1">
            <a:spLocks/>
          </p:cNvSpPr>
          <p:nvPr/>
        </p:nvSpPr>
        <p:spPr>
          <a:xfrm>
            <a:off x="7269480" y="1097280"/>
            <a:ext cx="4297680" cy="3278777"/>
          </a:xfrm>
          <a:prstGeom prst="rect">
            <a:avLst/>
          </a:prstGeom>
          <a:solidFill>
            <a:schemeClr val="bg1"/>
          </a:solidFill>
        </p:spPr>
        <p:txBody>
          <a:bodyPr vert="horz" wrap="square" lIns="0" tIns="0" rIns="0" bIns="0" rtlCol="0" anchor="ctr">
            <a:noAutofit/>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indent="0" algn="l">
              <a:lnSpc>
                <a:spcPct val="100000"/>
              </a:lnSpc>
              <a:spcBef>
                <a:spcPts val="0"/>
              </a:spcBef>
              <a:buNone/>
            </a:pPr>
            <a:r>
              <a:rPr lang="en-AU" sz="1600" b="1" dirty="0">
                <a:solidFill>
                  <a:srgbClr val="584099"/>
                </a:solidFill>
                <a:latin typeface="Arial"/>
                <a:ea typeface="Arial"/>
                <a:cs typeface="Arial"/>
              </a:rPr>
              <a:t>Secondary Education Online · Session 3</a:t>
            </a:r>
          </a:p>
          <a:p>
            <a:pPr marL="0" indent="0" algn="l">
              <a:lnSpc>
                <a:spcPct val="95000"/>
              </a:lnSpc>
              <a:spcBef>
                <a:spcPts val="1000"/>
              </a:spcBef>
              <a:buNone/>
            </a:pPr>
            <a:r>
              <a:rPr lang="en-AU" sz="4000" b="0" dirty="0">
                <a:solidFill>
                  <a:srgbClr val="584099"/>
                </a:solidFill>
                <a:latin typeface="Arial Black"/>
                <a:ea typeface="Arial Black"/>
                <a:cs typeface="Arial Black"/>
              </a:rPr>
              <a:t>Designing for Access Across Secondary School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584099"/>
          </a:solidFill>
          <a:ln>
            <a:noFill/>
          </a:ln>
        </p:spPr>
        <p:txBody>
          <a:bodyPr rtlCol="0" anchor="ctr"/>
          <a:lstStyle/>
          <a:p>
            <a:pPr algn="ctr"/>
            <a:endParaRPr/>
          </a:p>
        </p:txBody>
      </p:sp>
      <p:sp>
        <p:nvSpPr>
          <p:cNvPr id="3" name="Oval 2"/>
          <p:cNvSpPr/>
          <p:nvPr/>
        </p:nvSpPr>
        <p:spPr>
          <a:xfrm>
            <a:off x="8138160" y="3291840"/>
            <a:ext cx="5669280" cy="5669280"/>
          </a:xfrm>
          <a:prstGeom prst="ellipse">
            <a:avLst/>
          </a:prstGeom>
          <a:solidFill>
            <a:srgbClr val="6A52AB"/>
          </a:solidFill>
          <a:ln>
            <a:noFill/>
          </a:ln>
        </p:spPr>
        <p:txBody>
          <a:bodyPr rtlCol="0" anchor="ctr"/>
          <a:lstStyle/>
          <a:p>
            <a:pPr algn="ctr"/>
            <a:endParaRPr/>
          </a:p>
        </p:txBody>
      </p:sp>
      <p:sp>
        <p:nvSpPr>
          <p:cNvPr id="4" name="Title"/>
          <p:cNvSpPr txBox="1"/>
          <p:nvPr/>
        </p:nvSpPr>
        <p:spPr>
          <a:xfrm>
            <a:off x="685800" y="914400"/>
            <a:ext cx="10789920" cy="914400"/>
          </a:xfrm>
          <a:prstGeom prst="rect">
            <a:avLst/>
          </a:prstGeom>
          <a:noFill/>
        </p:spPr>
        <p:txBody>
          <a:bodyPr wrap="square" lIns="0" tIns="0" rIns="0" bIns="0" anchor="t">
            <a:noAutofit/>
          </a:bodyPr>
          <a:lstStyle/>
          <a:p>
            <a:pPr marL="0" indent="0" algn="l">
              <a:lnSpc>
                <a:spcPct val="95000"/>
              </a:lnSpc>
              <a:spcBef>
                <a:spcPts val="0"/>
              </a:spcBef>
              <a:buNone/>
            </a:pPr>
            <a:r>
              <a:rPr lang="en-AU" sz="4400" b="0">
                <a:solidFill>
                  <a:srgbClr val="FFFFFF"/>
                </a:solidFill>
                <a:latin typeface="Arial Black"/>
                <a:ea typeface="Arial Black"/>
                <a:cs typeface="Arial Black"/>
              </a:rPr>
              <a:t>Students come first</a:t>
            </a:r>
          </a:p>
        </p:txBody>
      </p:sp>
      <p:sp>
        <p:nvSpPr>
          <p:cNvPr id="5" name="TextBox 4"/>
          <p:cNvSpPr txBox="1"/>
          <p:nvPr/>
        </p:nvSpPr>
        <p:spPr>
          <a:xfrm>
            <a:off x="685800" y="2286000"/>
            <a:ext cx="8686800" cy="1463040"/>
          </a:xfrm>
          <a:prstGeom prst="rect">
            <a:avLst/>
          </a:prstGeom>
          <a:noFill/>
        </p:spPr>
        <p:txBody>
          <a:bodyPr wrap="square" lIns="0" tIns="0" rIns="0" bIns="0" anchor="t">
            <a:noAutofit/>
          </a:bodyPr>
          <a:lstStyle/>
          <a:p>
            <a:pPr marL="0" indent="0" algn="l">
              <a:lnSpc>
                <a:spcPct val="105000"/>
              </a:lnSpc>
              <a:spcBef>
                <a:spcPts val="0"/>
              </a:spcBef>
              <a:buNone/>
            </a:pPr>
            <a:r>
              <a:rPr lang="en-AU" sz="3000" b="0">
                <a:solidFill>
                  <a:srgbClr val="FFFFFF"/>
                </a:solidFill>
                <a:latin typeface="Arial"/>
                <a:ea typeface="Arial"/>
                <a:cs typeface="Arial"/>
              </a:rPr>
              <a:t>Move from understanding to design without turning students into a list of problems.</a:t>
            </a:r>
          </a:p>
        </p:txBody>
      </p:sp>
      <p:sp>
        <p:nvSpPr>
          <p:cNvPr id="6" name="TextBox 5"/>
          <p:cNvSpPr txBox="1"/>
          <p:nvPr/>
        </p:nvSpPr>
        <p:spPr>
          <a:xfrm>
            <a:off x="685800" y="4023360"/>
            <a:ext cx="7772400" cy="1463040"/>
          </a:xfrm>
          <a:prstGeom prst="rect">
            <a:avLst/>
          </a:prstGeom>
          <a:noFill/>
        </p:spPr>
        <p:txBody>
          <a:bodyPr wrap="square" lIns="0" tIns="0" rIns="0" bIns="0" anchor="t">
            <a:noAutofit/>
          </a:bodyPr>
          <a:lstStyle/>
          <a:p>
            <a:pPr marL="0" indent="0" algn="l">
              <a:lnSpc>
                <a:spcPct val="110000"/>
              </a:lnSpc>
              <a:spcBef>
                <a:spcPts val="0"/>
              </a:spcBef>
              <a:buNone/>
            </a:pPr>
            <a:r>
              <a:rPr lang="en-AU" sz="2000" b="0" dirty="0">
                <a:solidFill>
                  <a:srgbClr val="E6E0F5"/>
                </a:solidFill>
                <a:latin typeface="Arial"/>
                <a:ea typeface="Arial"/>
                <a:cs typeface="Arial"/>
              </a:rPr>
              <a:t>Start with the real students you have in mind, a specific access question and evidence from your secondary day map. The design response comes after understanding.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Keep your students in view</a:t>
            </a:r>
          </a:p>
        </p:txBody>
      </p:sp>
      <p:sp>
        <p:nvSpPr>
          <p:cNvPr id="3" name="TextBox 2"/>
          <p:cNvSpPr txBox="1"/>
          <p:nvPr/>
        </p:nvSpPr>
        <p:spPr>
          <a:xfrm>
            <a:off x="685800" y="1325880"/>
            <a:ext cx="10789920" cy="548640"/>
          </a:xfrm>
          <a:prstGeom prst="rect">
            <a:avLst/>
          </a:prstGeom>
          <a:noFill/>
        </p:spPr>
        <p:txBody>
          <a:bodyPr wrap="square" lIns="0" tIns="0" rIns="0" bIns="0" anchor="t">
            <a:noAutofit/>
          </a:bodyPr>
          <a:lstStyle/>
          <a:p>
            <a:pPr marL="0" indent="0" algn="l">
              <a:lnSpc>
                <a:spcPct val="100000"/>
              </a:lnSpc>
              <a:spcBef>
                <a:spcPts val="0"/>
              </a:spcBef>
              <a:buNone/>
            </a:pPr>
            <a:r>
              <a:rPr lang="en-AU" sz="2200" b="1" dirty="0">
                <a:solidFill>
                  <a:srgbClr val="3D2A6B"/>
                </a:solidFill>
                <a:latin typeface="Arial"/>
                <a:ea typeface="Arial"/>
                <a:cs typeface="Arial"/>
              </a:rPr>
              <a:t>Hold a concise picture of each of the students you have in mind, including:</a:t>
            </a:r>
          </a:p>
        </p:txBody>
      </p:sp>
      <p:sp>
        <p:nvSpPr>
          <p:cNvPr id="4" name="Rounded Rectangle 3"/>
          <p:cNvSpPr/>
          <p:nvPr/>
        </p:nvSpPr>
        <p:spPr>
          <a:xfrm>
            <a:off x="685800" y="2057400"/>
            <a:ext cx="3454298" cy="1417320"/>
          </a:xfrm>
          <a:prstGeom prst="roundRect">
            <a:avLst>
              <a:gd name="adj" fmla="val 12000"/>
            </a:avLst>
          </a:prstGeom>
          <a:solidFill>
            <a:srgbClr val="F3F0FA"/>
          </a:solidFill>
          <a:ln>
            <a:noFill/>
          </a:ln>
        </p:spPr>
        <p:txBody>
          <a:bodyPr rtlCol="0" anchor="ctr"/>
          <a:lstStyle/>
          <a:p>
            <a:pPr algn="ctr"/>
            <a:endParaRPr/>
          </a:p>
        </p:txBody>
      </p:sp>
      <p:sp>
        <p:nvSpPr>
          <p:cNvPr id="5" name="TextBox 4"/>
          <p:cNvSpPr txBox="1"/>
          <p:nvPr/>
        </p:nvSpPr>
        <p:spPr>
          <a:xfrm>
            <a:off x="960120" y="2057400"/>
            <a:ext cx="2905658" cy="1417320"/>
          </a:xfrm>
          <a:prstGeom prst="rect">
            <a:avLst/>
          </a:prstGeom>
          <a:noFill/>
        </p:spPr>
        <p:txBody>
          <a:bodyPr wrap="square" lIns="0" tIns="0" rIns="0" bIns="0" anchor="ctr">
            <a:noAutofit/>
          </a:bodyPr>
          <a:lstStyle/>
          <a:p>
            <a:pPr marL="0" indent="0" algn="l">
              <a:lnSpc>
                <a:spcPct val="100000"/>
              </a:lnSpc>
              <a:spcBef>
                <a:spcPts val="0"/>
              </a:spcBef>
              <a:buNone/>
            </a:pPr>
            <a:r>
              <a:rPr lang="en-AU" sz="2100" b="1">
                <a:solidFill>
                  <a:srgbClr val="3D2A6B"/>
                </a:solidFill>
                <a:latin typeface="Arial"/>
                <a:ea typeface="Arial"/>
                <a:cs typeface="Arial"/>
              </a:rPr>
              <a:t>Strengths, interests and joy</a:t>
            </a:r>
          </a:p>
        </p:txBody>
      </p:sp>
      <p:sp>
        <p:nvSpPr>
          <p:cNvPr id="6" name="Rounded Rectangle 5"/>
          <p:cNvSpPr/>
          <p:nvPr/>
        </p:nvSpPr>
        <p:spPr>
          <a:xfrm>
            <a:off x="4368698" y="2057400"/>
            <a:ext cx="3454298" cy="1417320"/>
          </a:xfrm>
          <a:prstGeom prst="roundRect">
            <a:avLst>
              <a:gd name="adj" fmla="val 12000"/>
            </a:avLst>
          </a:prstGeom>
          <a:solidFill>
            <a:srgbClr val="F3F0FA"/>
          </a:solidFill>
          <a:ln>
            <a:noFill/>
          </a:ln>
        </p:spPr>
        <p:txBody>
          <a:bodyPr rtlCol="0" anchor="ctr"/>
          <a:lstStyle/>
          <a:p>
            <a:pPr algn="ctr"/>
            <a:endParaRPr/>
          </a:p>
        </p:txBody>
      </p:sp>
      <p:sp>
        <p:nvSpPr>
          <p:cNvPr id="7" name="TextBox 6"/>
          <p:cNvSpPr txBox="1"/>
          <p:nvPr/>
        </p:nvSpPr>
        <p:spPr>
          <a:xfrm>
            <a:off x="4643018" y="2057400"/>
            <a:ext cx="2905658" cy="1417320"/>
          </a:xfrm>
          <a:prstGeom prst="rect">
            <a:avLst/>
          </a:prstGeom>
          <a:noFill/>
        </p:spPr>
        <p:txBody>
          <a:bodyPr wrap="square" lIns="0" tIns="0" rIns="0" bIns="0" anchor="ctr">
            <a:noAutofit/>
          </a:bodyPr>
          <a:lstStyle/>
          <a:p>
            <a:pPr marL="0" indent="0" algn="l">
              <a:lnSpc>
                <a:spcPct val="100000"/>
              </a:lnSpc>
              <a:spcBef>
                <a:spcPts val="0"/>
              </a:spcBef>
              <a:buNone/>
            </a:pPr>
            <a:r>
              <a:rPr lang="en-AU" sz="2100" b="1">
                <a:solidFill>
                  <a:srgbClr val="3D2A6B"/>
                </a:solidFill>
                <a:latin typeface="Arial"/>
                <a:ea typeface="Arial"/>
                <a:cs typeface="Arial"/>
              </a:rPr>
              <a:t>Communication, sensory experience and thinking</a:t>
            </a:r>
          </a:p>
        </p:txBody>
      </p:sp>
      <p:sp>
        <p:nvSpPr>
          <p:cNvPr id="8" name="Rounded Rectangle 7"/>
          <p:cNvSpPr/>
          <p:nvPr/>
        </p:nvSpPr>
        <p:spPr>
          <a:xfrm>
            <a:off x="8051597" y="2057400"/>
            <a:ext cx="3454298" cy="1417320"/>
          </a:xfrm>
          <a:prstGeom prst="roundRect">
            <a:avLst>
              <a:gd name="adj" fmla="val 12000"/>
            </a:avLst>
          </a:prstGeom>
          <a:solidFill>
            <a:srgbClr val="F3F0FA"/>
          </a:solidFill>
          <a:ln>
            <a:noFill/>
          </a:ln>
        </p:spPr>
        <p:txBody>
          <a:bodyPr rtlCol="0" anchor="ctr"/>
          <a:lstStyle/>
          <a:p>
            <a:pPr algn="ctr"/>
            <a:endParaRPr/>
          </a:p>
        </p:txBody>
      </p:sp>
      <p:sp>
        <p:nvSpPr>
          <p:cNvPr id="9" name="TextBox 8"/>
          <p:cNvSpPr txBox="1"/>
          <p:nvPr/>
        </p:nvSpPr>
        <p:spPr>
          <a:xfrm>
            <a:off x="8325917" y="2057400"/>
            <a:ext cx="2905658" cy="1417320"/>
          </a:xfrm>
          <a:prstGeom prst="rect">
            <a:avLst/>
          </a:prstGeom>
          <a:noFill/>
        </p:spPr>
        <p:txBody>
          <a:bodyPr wrap="square" lIns="0" tIns="0" rIns="0" bIns="0" anchor="ctr">
            <a:noAutofit/>
          </a:bodyPr>
          <a:lstStyle/>
          <a:p>
            <a:pPr marL="0" indent="0" algn="l">
              <a:lnSpc>
                <a:spcPct val="100000"/>
              </a:lnSpc>
              <a:spcBef>
                <a:spcPts val="0"/>
              </a:spcBef>
              <a:buNone/>
            </a:pPr>
            <a:r>
              <a:rPr lang="en-AU" sz="2100" b="1">
                <a:solidFill>
                  <a:srgbClr val="3D2A6B"/>
                </a:solidFill>
                <a:latin typeface="Arial"/>
                <a:ea typeface="Arial"/>
                <a:cs typeface="Arial"/>
              </a:rPr>
              <a:t>What costs and what lightens</a:t>
            </a:r>
          </a:p>
        </p:txBody>
      </p:sp>
      <p:sp>
        <p:nvSpPr>
          <p:cNvPr id="10" name="Rounded Rectangle 9"/>
          <p:cNvSpPr/>
          <p:nvPr/>
        </p:nvSpPr>
        <p:spPr>
          <a:xfrm>
            <a:off x="685800" y="3703320"/>
            <a:ext cx="3454298" cy="1417320"/>
          </a:xfrm>
          <a:prstGeom prst="roundRect">
            <a:avLst>
              <a:gd name="adj" fmla="val 12000"/>
            </a:avLst>
          </a:prstGeom>
          <a:solidFill>
            <a:srgbClr val="F3F0FA"/>
          </a:solidFill>
          <a:ln>
            <a:noFill/>
          </a:ln>
        </p:spPr>
        <p:txBody>
          <a:bodyPr rtlCol="0" anchor="ctr"/>
          <a:lstStyle/>
          <a:p>
            <a:pPr algn="ctr"/>
            <a:endParaRPr/>
          </a:p>
        </p:txBody>
      </p:sp>
      <p:sp>
        <p:nvSpPr>
          <p:cNvPr id="11" name="TextBox 10"/>
          <p:cNvSpPr txBox="1"/>
          <p:nvPr/>
        </p:nvSpPr>
        <p:spPr>
          <a:xfrm>
            <a:off x="960120" y="3703320"/>
            <a:ext cx="2905658" cy="1417320"/>
          </a:xfrm>
          <a:prstGeom prst="rect">
            <a:avLst/>
          </a:prstGeom>
          <a:noFill/>
        </p:spPr>
        <p:txBody>
          <a:bodyPr wrap="square" lIns="0" tIns="0" rIns="0" bIns="0" anchor="ctr">
            <a:noAutofit/>
          </a:bodyPr>
          <a:lstStyle/>
          <a:p>
            <a:pPr marL="0" indent="0" algn="l">
              <a:lnSpc>
                <a:spcPct val="100000"/>
              </a:lnSpc>
              <a:spcBef>
                <a:spcPts val="0"/>
              </a:spcBef>
              <a:buNone/>
            </a:pPr>
            <a:r>
              <a:rPr lang="en-AU" sz="2100" b="1">
                <a:solidFill>
                  <a:srgbClr val="3D2A6B"/>
                </a:solidFill>
                <a:latin typeface="Arial"/>
                <a:ea typeface="Arial"/>
                <a:cs typeface="Arial"/>
              </a:rPr>
              <a:t>Identity and belonging</a:t>
            </a:r>
          </a:p>
        </p:txBody>
      </p:sp>
      <p:sp>
        <p:nvSpPr>
          <p:cNvPr id="12" name="Rounded Rectangle 11"/>
          <p:cNvSpPr/>
          <p:nvPr/>
        </p:nvSpPr>
        <p:spPr>
          <a:xfrm>
            <a:off x="4368698" y="3703320"/>
            <a:ext cx="3454298" cy="1417320"/>
          </a:xfrm>
          <a:prstGeom prst="roundRect">
            <a:avLst>
              <a:gd name="adj" fmla="val 12000"/>
            </a:avLst>
          </a:prstGeom>
          <a:solidFill>
            <a:srgbClr val="F3F0FA"/>
          </a:solidFill>
          <a:ln>
            <a:noFill/>
          </a:ln>
        </p:spPr>
        <p:txBody>
          <a:bodyPr rtlCol="0" anchor="ctr"/>
          <a:lstStyle/>
          <a:p>
            <a:pPr algn="ctr"/>
            <a:endParaRPr/>
          </a:p>
        </p:txBody>
      </p:sp>
      <p:sp>
        <p:nvSpPr>
          <p:cNvPr id="13" name="TextBox 12"/>
          <p:cNvSpPr txBox="1"/>
          <p:nvPr/>
        </p:nvSpPr>
        <p:spPr>
          <a:xfrm>
            <a:off x="4643018" y="3703320"/>
            <a:ext cx="2905658" cy="1417320"/>
          </a:xfrm>
          <a:prstGeom prst="rect">
            <a:avLst/>
          </a:prstGeom>
          <a:noFill/>
        </p:spPr>
        <p:txBody>
          <a:bodyPr wrap="square" lIns="0" tIns="0" rIns="0" bIns="0" anchor="ctr">
            <a:noAutofit/>
          </a:bodyPr>
          <a:lstStyle/>
          <a:p>
            <a:pPr marL="0" indent="0" algn="l">
              <a:lnSpc>
                <a:spcPct val="100000"/>
              </a:lnSpc>
              <a:spcBef>
                <a:spcPts val="0"/>
              </a:spcBef>
              <a:buNone/>
            </a:pPr>
            <a:r>
              <a:rPr lang="en-AU" sz="2100" b="1">
                <a:solidFill>
                  <a:srgbClr val="3D2A6B"/>
                </a:solidFill>
                <a:latin typeface="Arial"/>
                <a:ea typeface="Arial"/>
                <a:cs typeface="Arial"/>
              </a:rPr>
              <a:t>What students, families and the team already know</a:t>
            </a:r>
          </a:p>
        </p:txBody>
      </p:sp>
      <p:sp>
        <p:nvSpPr>
          <p:cNvPr id="14" name="Rounded Rectangle 13"/>
          <p:cNvSpPr/>
          <p:nvPr/>
        </p:nvSpPr>
        <p:spPr>
          <a:xfrm>
            <a:off x="8051597" y="3703320"/>
            <a:ext cx="3454298" cy="1417320"/>
          </a:xfrm>
          <a:prstGeom prst="roundRect">
            <a:avLst>
              <a:gd name="adj" fmla="val 12000"/>
            </a:avLst>
          </a:prstGeom>
          <a:solidFill>
            <a:srgbClr val="F3F0FA"/>
          </a:solidFill>
          <a:ln>
            <a:noFill/>
          </a:ln>
        </p:spPr>
        <p:txBody>
          <a:bodyPr rtlCol="0" anchor="ctr"/>
          <a:lstStyle/>
          <a:p>
            <a:pPr algn="ctr"/>
            <a:endParaRPr/>
          </a:p>
        </p:txBody>
      </p:sp>
      <p:sp>
        <p:nvSpPr>
          <p:cNvPr id="15" name="TextBox 14"/>
          <p:cNvSpPr txBox="1"/>
          <p:nvPr/>
        </p:nvSpPr>
        <p:spPr>
          <a:xfrm>
            <a:off x="8325917" y="3703320"/>
            <a:ext cx="2905658" cy="1417320"/>
          </a:xfrm>
          <a:prstGeom prst="rect">
            <a:avLst/>
          </a:prstGeom>
          <a:noFill/>
        </p:spPr>
        <p:txBody>
          <a:bodyPr wrap="square" lIns="0" tIns="0" rIns="0" bIns="0" anchor="ctr">
            <a:noAutofit/>
          </a:bodyPr>
          <a:lstStyle/>
          <a:p>
            <a:pPr marL="0" indent="0" algn="l">
              <a:lnSpc>
                <a:spcPct val="100000"/>
              </a:lnSpc>
              <a:spcBef>
                <a:spcPts val="0"/>
              </a:spcBef>
              <a:buNone/>
            </a:pPr>
            <a:r>
              <a:rPr lang="en-AU" sz="2100" b="1">
                <a:solidFill>
                  <a:srgbClr val="3D2A6B"/>
                </a:solidFill>
                <a:latin typeface="Arial"/>
                <a:ea typeface="Arial"/>
                <a:cs typeface="Arial"/>
              </a:rPr>
              <a:t>Questions that remain open</a:t>
            </a:r>
          </a:p>
        </p:txBody>
      </p:sp>
      <p:sp>
        <p:nvSpPr>
          <p:cNvPr id="16" name="Rounded Rectangle 15"/>
          <p:cNvSpPr/>
          <p:nvPr/>
        </p:nvSpPr>
        <p:spPr>
          <a:xfrm>
            <a:off x="685800" y="5440680"/>
            <a:ext cx="10820095" cy="566928"/>
          </a:xfrm>
          <a:prstGeom prst="roundRect">
            <a:avLst>
              <a:gd name="adj" fmla="val 50000"/>
            </a:avLst>
          </a:prstGeom>
          <a:solidFill>
            <a:srgbClr val="FFFFFF"/>
          </a:solidFill>
          <a:ln w="19050">
            <a:solidFill>
              <a:srgbClr val="584099"/>
            </a:solidFill>
          </a:ln>
        </p:spPr>
        <p:txBody>
          <a:bodyPr rtlCol="0" anchor="ctr"/>
          <a:lstStyle/>
          <a:p>
            <a:pPr algn="ctr"/>
          </a:p>
        </p:txBody>
      </p:sp>
      <p:sp>
        <p:nvSpPr>
          <p:cNvPr id="17" name="TextBox 16"/>
          <p:cNvSpPr txBox="1"/>
          <p:nvPr/>
        </p:nvSpPr>
        <p:spPr>
          <a:xfrm>
            <a:off x="960120" y="5440680"/>
            <a:ext cx="10271455" cy="566928"/>
          </a:xfrm>
          <a:prstGeom prst="rect">
            <a:avLst/>
          </a:prstGeom>
          <a:noFill/>
        </p:spPr>
        <p:txBody>
          <a:bodyPr wrap="square" lIns="0" rIns="0" tIns="0" bIns="0" anchor="ctr">
            <a:noAutofit/>
          </a:bodyPr>
          <a:lstStyle/>
          <a:p>
            <a:pPr algn="ctr" marL="0" indent="0">
              <a:lnSpc>
                <a:spcPct val="100000"/>
              </a:lnSpc>
              <a:spcBef>
                <a:spcPts val="0"/>
              </a:spcBef>
              <a:buNone/>
            </a:pPr>
            <a:r>
              <a:rPr lang="en-AU" sz="1700" b="1">
                <a:solidFill>
                  <a:srgbClr val="584099"/>
                </a:solidFill>
                <a:latin typeface="Arial"/>
                <a:ea typeface="Arial"/>
                <a:cs typeface="Arial"/>
              </a:rPr>
              <a:t>You are not building a file on one young person. Keep real, different students in view as you design.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Write your brief</a:t>
            </a:r>
          </a:p>
        </p:txBody>
      </p:sp>
      <p:sp>
        <p:nvSpPr>
          <p:cNvPr id="3" name="TextBox 2"/>
          <p:cNvSpPr txBox="1"/>
          <p:nvPr/>
        </p:nvSpPr>
        <p:spPr>
          <a:xfrm>
            <a:off x="685800" y="1325880"/>
            <a:ext cx="10789920" cy="548640"/>
          </a:xfrm>
          <a:prstGeom prst="rect">
            <a:avLst/>
          </a:prstGeom>
          <a:noFill/>
        </p:spPr>
        <p:txBody>
          <a:bodyPr wrap="square" lIns="0" tIns="0" rIns="0" bIns="0" anchor="t">
            <a:noAutofit/>
          </a:bodyPr>
          <a:lstStyle/>
          <a:p>
            <a:pPr marL="0" indent="0" algn="l">
              <a:lnSpc>
                <a:spcPct val="100000"/>
              </a:lnSpc>
              <a:spcBef>
                <a:spcPts val="0"/>
              </a:spcBef>
              <a:buNone/>
            </a:pPr>
            <a:r>
              <a:rPr lang="en-AU" sz="2000" b="1">
                <a:solidFill>
                  <a:srgbClr val="3D2A6B"/>
                </a:solidFill>
                <a:latin typeface="Arial"/>
                <a:ea typeface="Arial"/>
                <a:cs typeface="Arial"/>
              </a:rPr>
              <a:t>Choose one lesson, assessment task or handover you know well, then write an environment-first brief.</a:t>
            </a:r>
          </a:p>
        </p:txBody>
      </p:sp>
      <p:sp>
        <p:nvSpPr>
          <p:cNvPr id="4" name="Rounded Rectangle 3"/>
          <p:cNvSpPr/>
          <p:nvPr/>
        </p:nvSpPr>
        <p:spPr>
          <a:xfrm>
            <a:off x="685800" y="2011680"/>
            <a:ext cx="10820095" cy="868680"/>
          </a:xfrm>
          <a:prstGeom prst="roundRect">
            <a:avLst>
              <a:gd name="adj" fmla="val 25000"/>
            </a:avLst>
          </a:prstGeom>
          <a:solidFill>
            <a:srgbClr val="F3F0FA"/>
          </a:solidFill>
          <a:ln>
            <a:noFill/>
          </a:ln>
        </p:spPr>
        <p:txBody>
          <a:bodyPr rtlCol="0" anchor="ctr"/>
          <a:lstStyle/>
          <a:p>
            <a:pPr algn="ctr"/>
            <a:endParaRPr/>
          </a:p>
        </p:txBody>
      </p:sp>
      <p:sp>
        <p:nvSpPr>
          <p:cNvPr id="5" name="TextBox 4"/>
          <p:cNvSpPr txBox="1"/>
          <p:nvPr/>
        </p:nvSpPr>
        <p:spPr>
          <a:xfrm>
            <a:off x="1051560" y="2011680"/>
            <a:ext cx="10058400" cy="868680"/>
          </a:xfrm>
          <a:prstGeom prst="rect">
            <a:avLst/>
          </a:prstGeom>
          <a:noFill/>
        </p:spPr>
        <p:txBody>
          <a:bodyPr wrap="square" lIns="0" tIns="0" rIns="0" bIns="0" anchor="ctr">
            <a:noAutofit/>
          </a:bodyPr>
          <a:lstStyle/>
          <a:p>
            <a:pPr marL="0" indent="0" algn="l">
              <a:lnSpc>
                <a:spcPct val="100000"/>
              </a:lnSpc>
              <a:spcBef>
                <a:spcPts val="0"/>
              </a:spcBef>
              <a:buNone/>
            </a:pPr>
            <a:r>
              <a:rPr lang="en-AU" sz="2400" b="1">
                <a:solidFill>
                  <a:srgbClr val="3D2A6B"/>
                </a:solidFill>
                <a:latin typeface="Arial"/>
                <a:ea typeface="Arial"/>
                <a:cs typeface="Arial"/>
              </a:rPr>
              <a:t>This asks students to…</a:t>
            </a:r>
          </a:p>
        </p:txBody>
      </p:sp>
      <p:sp>
        <p:nvSpPr>
          <p:cNvPr id="6" name="Rounded Rectangle 5"/>
          <p:cNvSpPr/>
          <p:nvPr/>
        </p:nvSpPr>
        <p:spPr>
          <a:xfrm>
            <a:off x="685800" y="3081528"/>
            <a:ext cx="10820095" cy="868680"/>
          </a:xfrm>
          <a:prstGeom prst="roundRect">
            <a:avLst>
              <a:gd name="adj" fmla="val 25000"/>
            </a:avLst>
          </a:prstGeom>
          <a:solidFill>
            <a:srgbClr val="F3F0FA"/>
          </a:solidFill>
          <a:ln>
            <a:noFill/>
          </a:ln>
        </p:spPr>
        <p:txBody>
          <a:bodyPr rtlCol="0" anchor="ctr"/>
          <a:lstStyle/>
          <a:p>
            <a:pPr algn="ctr"/>
            <a:endParaRPr/>
          </a:p>
        </p:txBody>
      </p:sp>
      <p:sp>
        <p:nvSpPr>
          <p:cNvPr id="7" name="TextBox 6"/>
          <p:cNvSpPr txBox="1"/>
          <p:nvPr/>
        </p:nvSpPr>
        <p:spPr>
          <a:xfrm>
            <a:off x="1051560" y="3081528"/>
            <a:ext cx="10058400" cy="868680"/>
          </a:xfrm>
          <a:prstGeom prst="rect">
            <a:avLst/>
          </a:prstGeom>
          <a:noFill/>
        </p:spPr>
        <p:txBody>
          <a:bodyPr wrap="square" lIns="0" tIns="0" rIns="0" bIns="0" anchor="ctr">
            <a:noAutofit/>
          </a:bodyPr>
          <a:lstStyle/>
          <a:p>
            <a:pPr marL="0" indent="0" algn="l">
              <a:lnSpc>
                <a:spcPct val="100000"/>
              </a:lnSpc>
              <a:spcBef>
                <a:spcPts val="0"/>
              </a:spcBef>
              <a:buNone/>
            </a:pPr>
            <a:r>
              <a:rPr lang="en-AU" sz="2400" b="1">
                <a:solidFill>
                  <a:srgbClr val="3D2A6B"/>
                </a:solidFill>
                <a:latin typeface="Arial"/>
                <a:ea typeface="Arial"/>
                <a:cs typeface="Arial"/>
              </a:rPr>
              <a:t>For some students, that means…</a:t>
            </a:r>
          </a:p>
        </p:txBody>
      </p:sp>
      <p:sp>
        <p:nvSpPr>
          <p:cNvPr id="8" name="Rounded Rectangle 7"/>
          <p:cNvSpPr/>
          <p:nvPr/>
        </p:nvSpPr>
        <p:spPr>
          <a:xfrm>
            <a:off x="685800" y="4151376"/>
            <a:ext cx="10820095" cy="868680"/>
          </a:xfrm>
          <a:prstGeom prst="roundRect">
            <a:avLst>
              <a:gd name="adj" fmla="val 25000"/>
            </a:avLst>
          </a:prstGeom>
          <a:solidFill>
            <a:srgbClr val="F3F0FA"/>
          </a:solidFill>
          <a:ln>
            <a:noFill/>
          </a:ln>
        </p:spPr>
        <p:txBody>
          <a:bodyPr rtlCol="0" anchor="ctr"/>
          <a:lstStyle/>
          <a:p>
            <a:pPr algn="ctr"/>
            <a:endParaRPr/>
          </a:p>
        </p:txBody>
      </p:sp>
      <p:sp>
        <p:nvSpPr>
          <p:cNvPr id="9" name="TextBox 8"/>
          <p:cNvSpPr txBox="1"/>
          <p:nvPr/>
        </p:nvSpPr>
        <p:spPr>
          <a:xfrm>
            <a:off x="1051560" y="4151376"/>
            <a:ext cx="10058400" cy="868680"/>
          </a:xfrm>
          <a:prstGeom prst="rect">
            <a:avLst/>
          </a:prstGeom>
          <a:noFill/>
        </p:spPr>
        <p:txBody>
          <a:bodyPr wrap="square" lIns="0" tIns="0" rIns="0" bIns="0" anchor="ctr">
            <a:noAutofit/>
          </a:bodyPr>
          <a:lstStyle/>
          <a:p>
            <a:pPr marL="0" indent="0" algn="l">
              <a:lnSpc>
                <a:spcPct val="100000"/>
              </a:lnSpc>
              <a:spcBef>
                <a:spcPts val="0"/>
              </a:spcBef>
              <a:buNone/>
            </a:pPr>
            <a:r>
              <a:rPr lang="en-AU" sz="2400" b="1">
                <a:solidFill>
                  <a:srgbClr val="3D2A6B"/>
                </a:solidFill>
                <a:latin typeface="Arial"/>
                <a:ea typeface="Arial"/>
                <a:cs typeface="Arial"/>
              </a:rPr>
              <a:t>We could change…</a:t>
            </a:r>
          </a:p>
        </p:txBody>
      </p:sp>
      <p:sp>
        <p:nvSpPr>
          <p:cNvPr id="10" name="Rounded Rectangle 9"/>
          <p:cNvSpPr/>
          <p:nvPr/>
        </p:nvSpPr>
        <p:spPr>
          <a:xfrm>
            <a:off x="685800" y="5449824"/>
            <a:ext cx="10820095" cy="566928"/>
          </a:xfrm>
          <a:prstGeom prst="roundRect">
            <a:avLst>
              <a:gd name="adj" fmla="val 50000"/>
            </a:avLst>
          </a:prstGeom>
          <a:solidFill>
            <a:srgbClr val="FFFFFF"/>
          </a:solidFill>
          <a:ln w="19050">
            <a:solidFill>
              <a:srgbClr val="584099"/>
            </a:solidFill>
          </a:ln>
        </p:spPr>
        <p:txBody>
          <a:bodyPr rtlCol="0" anchor="ctr"/>
          <a:lstStyle/>
          <a:p>
            <a:pPr algn="ctr"/>
            <a:endParaRPr/>
          </a:p>
        </p:txBody>
      </p:sp>
      <p:sp>
        <p:nvSpPr>
          <p:cNvPr id="11" name="TextBox 10"/>
          <p:cNvSpPr txBox="1"/>
          <p:nvPr/>
        </p:nvSpPr>
        <p:spPr>
          <a:xfrm>
            <a:off x="960120" y="5449824"/>
            <a:ext cx="10271455" cy="566928"/>
          </a:xfrm>
          <a:prstGeom prst="rect">
            <a:avLst/>
          </a:prstGeom>
          <a:noFill/>
        </p:spPr>
        <p:txBody>
          <a:bodyPr wrap="square" lIns="0" tIns="0" rIns="0" bIns="0" anchor="ctr">
            <a:noAutofit/>
          </a:bodyPr>
          <a:lstStyle/>
          <a:p>
            <a:pPr marL="0" indent="0" algn="ctr">
              <a:lnSpc>
                <a:spcPct val="100000"/>
              </a:lnSpc>
              <a:spcBef>
                <a:spcPts val="0"/>
              </a:spcBef>
              <a:buNone/>
            </a:pPr>
            <a:r>
              <a:rPr lang="en-AU" sz="1800" b="1">
                <a:solidFill>
                  <a:srgbClr val="584099"/>
                </a:solidFill>
                <a:latin typeface="Arial"/>
                <a:ea typeface="Arial"/>
                <a:cs typeface="Arial"/>
              </a:rPr>
              <a:t>Check the wording: is it specific, workable and free from blame or deficit labels?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85800" y="457200"/>
            <a:ext cx="10789920" cy="777240"/>
          </a:xfrm>
          <a:prstGeom prst="rect">
            <a:avLst/>
          </a:prstGeom>
          <a:noFill/>
        </p:spPr>
        <p:txBody>
          <a:bodyPr wrap="square" lIns="0" rIns="0" tIns="0" bIns="0" anchor="t">
            <a:noAutofit/>
          </a:bodyPr>
          <a:lstStyle/>
          <a:p>
            <a:pPr algn="l" marL="0" indent="0">
              <a:lnSpc>
                <a:spcPct val="95000"/>
              </a:lnSpc>
              <a:spcBef>
                <a:spcPts val="0"/>
              </a:spcBef>
              <a:buNone/>
            </a:pPr>
            <a:r>
              <a:rPr lang="en-AU" sz="3600" b="0">
                <a:solidFill>
                  <a:srgbClr val="584099"/>
                </a:solidFill>
                <a:latin typeface="Arial Black"/>
                <a:ea typeface="Arial Black"/>
                <a:cs typeface="Arial Black"/>
              </a:rPr>
              <a:t>Options menu</a:t>
            </a:r>
          </a:p>
        </p:txBody>
      </p:sp>
      <p:sp>
        <p:nvSpPr>
          <p:cNvPr id="4" name="TextBox 3"/>
          <p:cNvSpPr txBox="1"/>
          <p:nvPr/>
        </p:nvSpPr>
        <p:spPr>
          <a:xfrm>
            <a:off x="685800" y="1325880"/>
            <a:ext cx="10789920" cy="548640"/>
          </a:xfrm>
          <a:prstGeom prst="rect">
            <a:avLst/>
          </a:prstGeom>
          <a:noFill/>
        </p:spPr>
        <p:txBody>
          <a:bodyPr wrap="square" lIns="0" rIns="0" tIns="0" bIns="0" anchor="t">
            <a:noAutofit/>
          </a:bodyPr>
          <a:lstStyle/>
          <a:p>
            <a:pPr algn="l" marL="0" indent="0">
              <a:lnSpc>
                <a:spcPct val="100000"/>
              </a:lnSpc>
              <a:spcBef>
                <a:spcPts val="0"/>
              </a:spcBef>
              <a:buNone/>
            </a:pPr>
            <a:r>
              <a:rPr lang="en-AU" sz="2200" b="1">
                <a:solidFill>
                  <a:srgbClr val="3D2A6B"/>
                </a:solidFill>
                <a:latin typeface="Arial"/>
                <a:ea typeface="Arial"/>
                <a:cs typeface="Arial"/>
              </a:rPr>
              <a:t>Four short inputs. Listen for what might answer your brief.</a:t>
            </a:r>
          </a:p>
        </p:txBody>
      </p:sp>
      <p:sp>
        <p:nvSpPr>
          <p:cNvPr id="5" name="Rounded Rectangle 4"/>
          <p:cNvSpPr/>
          <p:nvPr/>
        </p:nvSpPr>
        <p:spPr>
          <a:xfrm>
            <a:off x="685800" y="2103120"/>
            <a:ext cx="5272888" cy="1554480"/>
          </a:xfrm>
          <a:prstGeom prst="roundRect">
            <a:avLst>
              <a:gd name="adj" fmla="val 12000"/>
            </a:avLst>
          </a:prstGeom>
          <a:solidFill>
            <a:srgbClr val="F3F0FA"/>
          </a:solidFill>
          <a:ln>
            <a:noFill/>
          </a:ln>
        </p:spPr>
        <p:txBody>
          <a:bodyPr rtlCol="0" anchor="ctr"/>
          <a:lstStyle/>
          <a:p>
            <a:pPr algn="ctr"/>
          </a:p>
        </p:txBody>
      </p:sp>
      <p:sp>
        <p:nvSpPr>
          <p:cNvPr id="6" name="Oval 5"/>
          <p:cNvSpPr/>
          <p:nvPr/>
        </p:nvSpPr>
        <p:spPr>
          <a:xfrm>
            <a:off x="1005840" y="2606040"/>
            <a:ext cx="548640" cy="548640"/>
          </a:xfrm>
          <a:prstGeom prst="ellipse">
            <a:avLst/>
          </a:prstGeom>
          <a:solidFill>
            <a:srgbClr val="FFFFFF"/>
          </a:solidFill>
          <a:ln w="25400">
            <a:solidFill>
              <a:srgbClr val="584099"/>
            </a:solidFill>
          </a:ln>
        </p:spPr>
        <p:txBody>
          <a:bodyPr rtlCol="0" anchor="ctr"/>
          <a:lstStyle/>
          <a:p>
            <a:pPr algn="ctr"/>
          </a:p>
        </p:txBody>
      </p:sp>
      <p:sp>
        <p:nvSpPr>
          <p:cNvPr id="7" name="TextBox 6"/>
          <p:cNvSpPr txBox="1"/>
          <p:nvPr/>
        </p:nvSpPr>
        <p:spPr>
          <a:xfrm>
            <a:off x="1005840" y="2606040"/>
            <a:ext cx="548640" cy="548640"/>
          </a:xfrm>
          <a:prstGeom prst="rect">
            <a:avLst/>
          </a:prstGeom>
          <a:noFill/>
        </p:spPr>
        <p:txBody>
          <a:bodyPr wrap="square" lIns="0" rIns="0" tIns="0" bIns="0" anchor="ctr">
            <a:noAutofit/>
          </a:bodyPr>
          <a:lstStyle/>
          <a:p>
            <a:pPr algn="ctr" marL="0" indent="0">
              <a:lnSpc>
                <a:spcPct val="100000"/>
              </a:lnSpc>
              <a:spcBef>
                <a:spcPts val="0"/>
              </a:spcBef>
              <a:buNone/>
            </a:pPr>
            <a:r>
              <a:rPr lang="en-AU" sz="1800" b="0">
                <a:solidFill>
                  <a:srgbClr val="584099"/>
                </a:solidFill>
                <a:latin typeface="Arial Black"/>
                <a:ea typeface="Arial Black"/>
                <a:cs typeface="Arial Black"/>
              </a:rPr>
              <a:t>1</a:t>
            </a:r>
          </a:p>
        </p:txBody>
      </p:sp>
      <p:sp>
        <p:nvSpPr>
          <p:cNvPr id="8" name="TextBox 7"/>
          <p:cNvSpPr txBox="1"/>
          <p:nvPr/>
        </p:nvSpPr>
        <p:spPr>
          <a:xfrm>
            <a:off x="1783080" y="2103120"/>
            <a:ext cx="3901288" cy="1554480"/>
          </a:xfrm>
          <a:prstGeom prst="rect">
            <a:avLst/>
          </a:prstGeom>
          <a:noFill/>
        </p:spPr>
        <p:txBody>
          <a:bodyPr wrap="square" lIns="0" rIns="0" tIns="0" bIns="0" anchor="ctr">
            <a:noAutofit/>
          </a:bodyPr>
          <a:lstStyle/>
          <a:p>
            <a:pPr algn="l" marL="0" indent="0">
              <a:lnSpc>
                <a:spcPct val="100000"/>
              </a:lnSpc>
              <a:spcBef>
                <a:spcPts val="0"/>
              </a:spcBef>
              <a:buNone/>
            </a:pPr>
            <a:r>
              <a:rPr lang="en-AU" sz="2100" b="1">
                <a:solidFill>
                  <a:srgbClr val="3D2A6B"/>
                </a:solidFill>
                <a:latin typeface="Arial"/>
                <a:ea typeface="Arial"/>
                <a:cs typeface="Arial"/>
              </a:rPr>
              <a:t>Executive functioning meets assessment</a:t>
            </a:r>
          </a:p>
          <a:p>
            <a:pPr algn="l" marL="0" indent="0">
              <a:lnSpc>
                <a:spcPct val="100000"/>
              </a:lnSpc>
              <a:spcBef>
                <a:spcPts val="400"/>
              </a:spcBef>
              <a:buNone/>
            </a:pPr>
            <a:r>
              <a:rPr lang="en-AU" sz="1600" b="0">
                <a:solidFill>
                  <a:srgbClr val="2D2440"/>
                </a:solidFill>
                <a:latin typeface="Arial"/>
                <a:ea typeface="Arial"/>
                <a:cs typeface="Arial"/>
              </a:rPr>
              <a:t>Schedules early, tasks chunked, exemplars shown</a:t>
            </a:r>
          </a:p>
        </p:txBody>
      </p:sp>
      <p:sp>
        <p:nvSpPr>
          <p:cNvPr id="9" name="Rounded Rectangle 8"/>
          <p:cNvSpPr/>
          <p:nvPr/>
        </p:nvSpPr>
        <p:spPr>
          <a:xfrm>
            <a:off x="6233008" y="2103120"/>
            <a:ext cx="5272888" cy="1554480"/>
          </a:xfrm>
          <a:prstGeom prst="roundRect">
            <a:avLst>
              <a:gd name="adj" fmla="val 12000"/>
            </a:avLst>
          </a:prstGeom>
          <a:solidFill>
            <a:srgbClr val="F3F0FA"/>
          </a:solidFill>
          <a:ln>
            <a:noFill/>
          </a:ln>
        </p:spPr>
        <p:txBody>
          <a:bodyPr rtlCol="0" anchor="ctr"/>
          <a:lstStyle/>
          <a:p>
            <a:pPr algn="ctr"/>
          </a:p>
        </p:txBody>
      </p:sp>
      <p:sp>
        <p:nvSpPr>
          <p:cNvPr id="10" name="Oval 9"/>
          <p:cNvSpPr/>
          <p:nvPr/>
        </p:nvSpPr>
        <p:spPr>
          <a:xfrm>
            <a:off x="6553048" y="2606040"/>
            <a:ext cx="548640" cy="548640"/>
          </a:xfrm>
          <a:prstGeom prst="ellipse">
            <a:avLst/>
          </a:prstGeom>
          <a:solidFill>
            <a:srgbClr val="FFFFFF"/>
          </a:solidFill>
          <a:ln w="25400">
            <a:solidFill>
              <a:srgbClr val="584099"/>
            </a:solidFill>
          </a:ln>
        </p:spPr>
        <p:txBody>
          <a:bodyPr rtlCol="0" anchor="ctr"/>
          <a:lstStyle/>
          <a:p>
            <a:pPr algn="ctr"/>
          </a:p>
        </p:txBody>
      </p:sp>
      <p:sp>
        <p:nvSpPr>
          <p:cNvPr id="11" name="TextBox 10"/>
          <p:cNvSpPr txBox="1"/>
          <p:nvPr/>
        </p:nvSpPr>
        <p:spPr>
          <a:xfrm>
            <a:off x="6553048" y="2606040"/>
            <a:ext cx="548640" cy="548640"/>
          </a:xfrm>
          <a:prstGeom prst="rect">
            <a:avLst/>
          </a:prstGeom>
          <a:noFill/>
        </p:spPr>
        <p:txBody>
          <a:bodyPr wrap="square" lIns="0" rIns="0" tIns="0" bIns="0" anchor="ctr">
            <a:noAutofit/>
          </a:bodyPr>
          <a:lstStyle/>
          <a:p>
            <a:pPr algn="ctr" marL="0" indent="0">
              <a:lnSpc>
                <a:spcPct val="100000"/>
              </a:lnSpc>
              <a:spcBef>
                <a:spcPts val="0"/>
              </a:spcBef>
              <a:buNone/>
            </a:pPr>
            <a:r>
              <a:rPr lang="en-AU" sz="1800" b="0">
                <a:solidFill>
                  <a:srgbClr val="584099"/>
                </a:solidFill>
                <a:latin typeface="Arial Black"/>
                <a:ea typeface="Arial Black"/>
                <a:cs typeface="Arial Black"/>
              </a:rPr>
              <a:t>2</a:t>
            </a:r>
          </a:p>
        </p:txBody>
      </p:sp>
      <p:sp>
        <p:nvSpPr>
          <p:cNvPr id="12" name="TextBox 11"/>
          <p:cNvSpPr txBox="1"/>
          <p:nvPr/>
        </p:nvSpPr>
        <p:spPr>
          <a:xfrm>
            <a:off x="7330288" y="2103120"/>
            <a:ext cx="3901288" cy="1554480"/>
          </a:xfrm>
          <a:prstGeom prst="rect">
            <a:avLst/>
          </a:prstGeom>
          <a:noFill/>
        </p:spPr>
        <p:txBody>
          <a:bodyPr wrap="square" lIns="0" rIns="0" tIns="0" bIns="0" anchor="ctr">
            <a:noAutofit/>
          </a:bodyPr>
          <a:lstStyle/>
          <a:p>
            <a:pPr algn="l" marL="0" indent="0">
              <a:lnSpc>
                <a:spcPct val="100000"/>
              </a:lnSpc>
              <a:spcBef>
                <a:spcPts val="0"/>
              </a:spcBef>
              <a:buNone/>
            </a:pPr>
            <a:r>
              <a:rPr lang="en-AU" sz="2100" b="1">
                <a:solidFill>
                  <a:srgbClr val="3D2A6B"/>
                </a:solidFill>
                <a:latin typeface="Arial"/>
                <a:ea typeface="Arial"/>
                <a:cs typeface="Arial"/>
              </a:rPr>
              <a:t>Predictability across the timetable</a:t>
            </a:r>
          </a:p>
          <a:p>
            <a:pPr algn="l" marL="0" indent="0">
              <a:lnSpc>
                <a:spcPct val="100000"/>
              </a:lnSpc>
              <a:spcBef>
                <a:spcPts val="400"/>
              </a:spcBef>
              <a:buNone/>
            </a:pPr>
            <a:r>
              <a:rPr lang="en-AU" sz="1600" b="0">
                <a:solidFill>
                  <a:srgbClr val="2D2440"/>
                </a:solidFill>
                <a:latin typeface="Arial"/>
                <a:ea typeface="Arial"/>
                <a:cs typeface="Arial"/>
              </a:rPr>
              <a:t>Clear information about routine and change</a:t>
            </a:r>
          </a:p>
        </p:txBody>
      </p:sp>
      <p:sp>
        <p:nvSpPr>
          <p:cNvPr id="13" name="Rounded Rectangle 12"/>
          <p:cNvSpPr/>
          <p:nvPr/>
        </p:nvSpPr>
        <p:spPr>
          <a:xfrm>
            <a:off x="685800" y="3886200"/>
            <a:ext cx="5272888" cy="1554480"/>
          </a:xfrm>
          <a:prstGeom prst="roundRect">
            <a:avLst>
              <a:gd name="adj" fmla="val 12000"/>
            </a:avLst>
          </a:prstGeom>
          <a:solidFill>
            <a:srgbClr val="F3F0FA"/>
          </a:solidFill>
          <a:ln>
            <a:noFill/>
          </a:ln>
        </p:spPr>
        <p:txBody>
          <a:bodyPr rtlCol="0" anchor="ctr"/>
          <a:lstStyle/>
          <a:p>
            <a:pPr algn="ctr"/>
          </a:p>
        </p:txBody>
      </p:sp>
      <p:sp>
        <p:nvSpPr>
          <p:cNvPr id="14" name="Oval 13"/>
          <p:cNvSpPr/>
          <p:nvPr/>
        </p:nvSpPr>
        <p:spPr>
          <a:xfrm>
            <a:off x="1005840" y="4389120"/>
            <a:ext cx="548640" cy="548640"/>
          </a:xfrm>
          <a:prstGeom prst="ellipse">
            <a:avLst/>
          </a:prstGeom>
          <a:solidFill>
            <a:srgbClr val="FFFFFF"/>
          </a:solidFill>
          <a:ln w="25400">
            <a:solidFill>
              <a:srgbClr val="584099"/>
            </a:solidFill>
          </a:ln>
        </p:spPr>
        <p:txBody>
          <a:bodyPr rtlCol="0" anchor="ctr"/>
          <a:lstStyle/>
          <a:p>
            <a:pPr algn="ctr"/>
          </a:p>
        </p:txBody>
      </p:sp>
      <p:sp>
        <p:nvSpPr>
          <p:cNvPr id="15" name="TextBox 14"/>
          <p:cNvSpPr txBox="1"/>
          <p:nvPr/>
        </p:nvSpPr>
        <p:spPr>
          <a:xfrm>
            <a:off x="1005840" y="4389120"/>
            <a:ext cx="548640" cy="548640"/>
          </a:xfrm>
          <a:prstGeom prst="rect">
            <a:avLst/>
          </a:prstGeom>
          <a:noFill/>
        </p:spPr>
        <p:txBody>
          <a:bodyPr wrap="square" lIns="0" rIns="0" tIns="0" bIns="0" anchor="ctr">
            <a:noAutofit/>
          </a:bodyPr>
          <a:lstStyle/>
          <a:p>
            <a:pPr algn="ctr" marL="0" indent="0">
              <a:lnSpc>
                <a:spcPct val="100000"/>
              </a:lnSpc>
              <a:spcBef>
                <a:spcPts val="0"/>
              </a:spcBef>
              <a:buNone/>
            </a:pPr>
            <a:r>
              <a:rPr lang="en-AU" sz="1800" b="0">
                <a:solidFill>
                  <a:srgbClr val="584099"/>
                </a:solidFill>
                <a:latin typeface="Arial Black"/>
                <a:ea typeface="Arial Black"/>
                <a:cs typeface="Arial Black"/>
              </a:rPr>
              <a:t>3</a:t>
            </a:r>
          </a:p>
        </p:txBody>
      </p:sp>
      <p:sp>
        <p:nvSpPr>
          <p:cNvPr id="16" name="TextBox 15"/>
          <p:cNvSpPr txBox="1"/>
          <p:nvPr/>
        </p:nvSpPr>
        <p:spPr>
          <a:xfrm>
            <a:off x="1783080" y="3886200"/>
            <a:ext cx="3901288" cy="1554480"/>
          </a:xfrm>
          <a:prstGeom prst="rect">
            <a:avLst/>
          </a:prstGeom>
          <a:noFill/>
        </p:spPr>
        <p:txBody>
          <a:bodyPr wrap="square" lIns="0" rIns="0" tIns="0" bIns="0" anchor="ctr">
            <a:noAutofit/>
          </a:bodyPr>
          <a:lstStyle/>
          <a:p>
            <a:pPr algn="l" marL="0" indent="0">
              <a:lnSpc>
                <a:spcPct val="100000"/>
              </a:lnSpc>
              <a:spcBef>
                <a:spcPts val="0"/>
              </a:spcBef>
              <a:buNone/>
            </a:pPr>
            <a:r>
              <a:rPr lang="en-AU" sz="2100" b="1">
                <a:solidFill>
                  <a:srgbClr val="3D2A6B"/>
                </a:solidFill>
                <a:latin typeface="Arial"/>
                <a:ea typeface="Arial"/>
                <a:cs typeface="Arial"/>
              </a:rPr>
              <a:t>Supports that travel</a:t>
            </a:r>
          </a:p>
          <a:p>
            <a:pPr algn="l" marL="0" indent="0">
              <a:lnSpc>
                <a:spcPct val="100000"/>
              </a:lnSpc>
              <a:spcBef>
                <a:spcPts val="400"/>
              </a:spcBef>
              <a:buNone/>
            </a:pPr>
            <a:r>
              <a:rPr lang="en-AU" sz="1600" b="0">
                <a:solidFill>
                  <a:srgbClr val="2D2440"/>
                </a:solidFill>
                <a:latin typeface="Arial"/>
                <a:ea typeface="Arial"/>
                <a:cs typeface="Arial"/>
              </a:rPr>
              <a:t>Consistent guidance shared across the timetable</a:t>
            </a:r>
          </a:p>
        </p:txBody>
      </p:sp>
      <p:sp>
        <p:nvSpPr>
          <p:cNvPr id="17" name="Rounded Rectangle 16"/>
          <p:cNvSpPr/>
          <p:nvPr/>
        </p:nvSpPr>
        <p:spPr>
          <a:xfrm>
            <a:off x="6233008" y="3886200"/>
            <a:ext cx="5272888" cy="1554480"/>
          </a:xfrm>
          <a:prstGeom prst="roundRect">
            <a:avLst>
              <a:gd name="adj" fmla="val 12000"/>
            </a:avLst>
          </a:prstGeom>
          <a:solidFill>
            <a:srgbClr val="F3F0FA"/>
          </a:solidFill>
          <a:ln>
            <a:noFill/>
          </a:ln>
        </p:spPr>
        <p:txBody>
          <a:bodyPr rtlCol="0" anchor="ctr"/>
          <a:lstStyle/>
          <a:p>
            <a:pPr algn="ctr"/>
          </a:p>
        </p:txBody>
      </p:sp>
      <p:sp>
        <p:nvSpPr>
          <p:cNvPr id="18" name="Oval 17"/>
          <p:cNvSpPr/>
          <p:nvPr/>
        </p:nvSpPr>
        <p:spPr>
          <a:xfrm>
            <a:off x="6553048" y="4389120"/>
            <a:ext cx="548640" cy="548640"/>
          </a:xfrm>
          <a:prstGeom prst="ellipse">
            <a:avLst/>
          </a:prstGeom>
          <a:solidFill>
            <a:srgbClr val="FFFFFF"/>
          </a:solidFill>
          <a:ln w="25400">
            <a:solidFill>
              <a:srgbClr val="584099"/>
            </a:solidFill>
          </a:ln>
        </p:spPr>
        <p:txBody>
          <a:bodyPr rtlCol="0" anchor="ctr"/>
          <a:lstStyle/>
          <a:p>
            <a:pPr algn="ctr"/>
          </a:p>
        </p:txBody>
      </p:sp>
      <p:sp>
        <p:nvSpPr>
          <p:cNvPr id="19" name="TextBox 18"/>
          <p:cNvSpPr txBox="1"/>
          <p:nvPr/>
        </p:nvSpPr>
        <p:spPr>
          <a:xfrm>
            <a:off x="6553048" y="4389120"/>
            <a:ext cx="548640" cy="548640"/>
          </a:xfrm>
          <a:prstGeom prst="rect">
            <a:avLst/>
          </a:prstGeom>
          <a:noFill/>
        </p:spPr>
        <p:txBody>
          <a:bodyPr wrap="square" lIns="0" rIns="0" tIns="0" bIns="0" anchor="ctr">
            <a:noAutofit/>
          </a:bodyPr>
          <a:lstStyle/>
          <a:p>
            <a:pPr algn="ctr" marL="0" indent="0">
              <a:lnSpc>
                <a:spcPct val="100000"/>
              </a:lnSpc>
              <a:spcBef>
                <a:spcPts val="0"/>
              </a:spcBef>
              <a:buNone/>
            </a:pPr>
            <a:r>
              <a:rPr lang="en-AU" sz="1800" b="0">
                <a:solidFill>
                  <a:srgbClr val="584099"/>
                </a:solidFill>
                <a:latin typeface="Arial Black"/>
                <a:ea typeface="Arial Black"/>
                <a:cs typeface="Arial Black"/>
              </a:rPr>
              <a:t>4</a:t>
            </a:r>
          </a:p>
        </p:txBody>
      </p:sp>
      <p:sp>
        <p:nvSpPr>
          <p:cNvPr id="20" name="TextBox 19"/>
          <p:cNvSpPr txBox="1"/>
          <p:nvPr/>
        </p:nvSpPr>
        <p:spPr>
          <a:xfrm>
            <a:off x="7330288" y="3886200"/>
            <a:ext cx="3901288" cy="1554480"/>
          </a:xfrm>
          <a:prstGeom prst="rect">
            <a:avLst/>
          </a:prstGeom>
          <a:noFill/>
        </p:spPr>
        <p:txBody>
          <a:bodyPr wrap="square" lIns="0" rIns="0" tIns="0" bIns="0" anchor="ctr">
            <a:noAutofit/>
          </a:bodyPr>
          <a:lstStyle/>
          <a:p>
            <a:pPr algn="l" marL="0" indent="0">
              <a:lnSpc>
                <a:spcPct val="100000"/>
              </a:lnSpc>
              <a:spcBef>
                <a:spcPts val="0"/>
              </a:spcBef>
              <a:buNone/>
            </a:pPr>
            <a:r>
              <a:rPr lang="en-AU" sz="2100" b="1">
                <a:solidFill>
                  <a:srgbClr val="3D2A6B"/>
                </a:solidFill>
                <a:latin typeface="Arial"/>
                <a:ea typeface="Arial"/>
                <a:cs typeface="Arial"/>
              </a:rPr>
              <a:t>Visual supports</a:t>
            </a:r>
          </a:p>
          <a:p>
            <a:pPr algn="l" marL="0" indent="0">
              <a:lnSpc>
                <a:spcPct val="100000"/>
              </a:lnSpc>
              <a:spcBef>
                <a:spcPts val="400"/>
              </a:spcBef>
              <a:buNone/>
            </a:pPr>
            <a:r>
              <a:rPr lang="en-AU" sz="1600" b="0">
                <a:solidFill>
                  <a:srgbClr val="2D2440"/>
                </a:solidFill>
                <a:latin typeface="Arial"/>
                <a:ea typeface="Arial"/>
                <a:cs typeface="Arial"/>
              </a:rPr>
              <a:t>Clarify what students need to find, understand, remember or communicate</a:t>
            </a:r>
          </a:p>
        </p:txBody>
      </p:sp>
      <p:sp>
        <p:nvSpPr>
          <p:cNvPr id="21" name="Rounded Rectangle 20"/>
          <p:cNvSpPr/>
          <p:nvPr/>
        </p:nvSpPr>
        <p:spPr>
          <a:xfrm>
            <a:off x="685800" y="5760720"/>
            <a:ext cx="10820095" cy="566928"/>
          </a:xfrm>
          <a:prstGeom prst="roundRect">
            <a:avLst>
              <a:gd name="adj" fmla="val 50000"/>
            </a:avLst>
          </a:prstGeom>
          <a:solidFill>
            <a:srgbClr val="FFFFFF"/>
          </a:solidFill>
          <a:ln w="19050">
            <a:solidFill>
              <a:srgbClr val="584099"/>
            </a:solidFill>
          </a:ln>
        </p:spPr>
        <p:txBody>
          <a:bodyPr rtlCol="0" anchor="ctr"/>
          <a:lstStyle/>
          <a:p>
            <a:pPr algn="ctr"/>
          </a:p>
        </p:txBody>
      </p:sp>
      <p:sp>
        <p:nvSpPr>
          <p:cNvPr id="22" name="TextBox 21"/>
          <p:cNvSpPr txBox="1"/>
          <p:nvPr/>
        </p:nvSpPr>
        <p:spPr>
          <a:xfrm>
            <a:off x="960120" y="5760720"/>
            <a:ext cx="10271455" cy="566928"/>
          </a:xfrm>
          <a:prstGeom prst="rect">
            <a:avLst/>
          </a:prstGeom>
          <a:noFill/>
        </p:spPr>
        <p:txBody>
          <a:bodyPr wrap="square" lIns="0" rIns="0" tIns="0" bIns="0" anchor="ctr">
            <a:noAutofit/>
          </a:bodyPr>
          <a:lstStyle/>
          <a:p>
            <a:pPr algn="ctr" marL="0" indent="0">
              <a:lnSpc>
                <a:spcPct val="100000"/>
              </a:lnSpc>
              <a:spcBef>
                <a:spcPts val="0"/>
              </a:spcBef>
              <a:buNone/>
            </a:pPr>
            <a:r>
              <a:rPr lang="en-AU" sz="1600" b="1">
                <a:solidFill>
                  <a:srgbClr val="584099"/>
                </a:solidFill>
                <a:latin typeface="Arial"/>
                <a:ea typeface="Arial"/>
                <a:cs typeface="Arial"/>
              </a:rPr>
              <a:t>After the inputs, choose one or two options.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200" b="0">
                <a:solidFill>
                  <a:srgbClr val="584099"/>
                </a:solidFill>
                <a:latin typeface="Arial Black"/>
                <a:ea typeface="Arial Black"/>
                <a:cs typeface="Arial Black"/>
              </a:rPr>
              <a:t>Executive functioning meets assessment</a:t>
            </a:r>
          </a:p>
        </p:txBody>
      </p:sp>
      <p:sp>
        <p:nvSpPr>
          <p:cNvPr id="3" name="TextBox 2"/>
          <p:cNvSpPr txBox="1"/>
          <p:nvPr/>
        </p:nvSpPr>
        <p:spPr>
          <a:xfrm>
            <a:off x="685800" y="1325880"/>
            <a:ext cx="10789920" cy="548640"/>
          </a:xfrm>
          <a:prstGeom prst="rect">
            <a:avLst/>
          </a:prstGeom>
          <a:noFill/>
        </p:spPr>
        <p:txBody>
          <a:bodyPr wrap="square" lIns="0" tIns="0" rIns="0" bIns="0" anchor="t">
            <a:noAutofit/>
          </a:bodyPr>
          <a:lstStyle/>
          <a:p>
            <a:pPr marL="0" indent="0" algn="l">
              <a:lnSpc>
                <a:spcPct val="100000"/>
              </a:lnSpc>
              <a:spcBef>
                <a:spcPts val="0"/>
              </a:spcBef>
              <a:buNone/>
            </a:pPr>
            <a:r>
              <a:rPr lang="en-AU" sz="2200" b="1">
                <a:solidFill>
                  <a:srgbClr val="3D2A6B"/>
                </a:solidFill>
                <a:latin typeface="Arial"/>
                <a:ea typeface="Arial"/>
                <a:cs typeface="Arial"/>
              </a:rPr>
              <a:t>Match support to a known demand:</a:t>
            </a:r>
          </a:p>
        </p:txBody>
      </p:sp>
      <p:sp>
        <p:nvSpPr>
          <p:cNvPr id="4" name="Rounded Rectangle 3"/>
          <p:cNvSpPr/>
          <p:nvPr/>
        </p:nvSpPr>
        <p:spPr>
          <a:xfrm>
            <a:off x="685800" y="2011680"/>
            <a:ext cx="5295748" cy="1325880"/>
          </a:xfrm>
          <a:prstGeom prst="roundRect">
            <a:avLst>
              <a:gd name="adj" fmla="val 12000"/>
            </a:avLst>
          </a:prstGeom>
          <a:solidFill>
            <a:srgbClr val="F3F0FA"/>
          </a:solidFill>
          <a:ln>
            <a:noFill/>
          </a:ln>
        </p:spPr>
        <p:txBody>
          <a:bodyPr rtlCol="0" anchor="ctr"/>
          <a:lstStyle/>
          <a:p>
            <a:pPr algn="ctr"/>
            <a:endParaRPr/>
          </a:p>
        </p:txBody>
      </p:sp>
      <p:sp>
        <p:nvSpPr>
          <p:cNvPr id="5" name="TextBox 4"/>
          <p:cNvSpPr txBox="1"/>
          <p:nvPr/>
        </p:nvSpPr>
        <p:spPr>
          <a:xfrm>
            <a:off x="960120" y="2011680"/>
            <a:ext cx="4747108" cy="1325880"/>
          </a:xfrm>
          <a:prstGeom prst="rect">
            <a:avLst/>
          </a:prstGeom>
          <a:noFill/>
        </p:spPr>
        <p:txBody>
          <a:bodyPr wrap="square" lIns="0" tIns="0" rIns="0" bIns="0" anchor="ctr">
            <a:noAutofit/>
          </a:bodyPr>
          <a:lstStyle/>
          <a:p>
            <a:pPr marL="0" indent="0" algn="l">
              <a:lnSpc>
                <a:spcPct val="100000"/>
              </a:lnSpc>
              <a:spcBef>
                <a:spcPts val="0"/>
              </a:spcBef>
              <a:buNone/>
            </a:pPr>
            <a:r>
              <a:rPr lang="en-AU" sz="2200" b="1">
                <a:solidFill>
                  <a:srgbClr val="3D2A6B"/>
                </a:solidFill>
                <a:latin typeface="Arial"/>
                <a:ea typeface="Arial"/>
                <a:cs typeface="Arial"/>
              </a:rPr>
              <a:t>Publish assessment schedules early</a:t>
            </a:r>
          </a:p>
        </p:txBody>
      </p:sp>
      <p:sp>
        <p:nvSpPr>
          <p:cNvPr id="6" name="Rounded Rectangle 5"/>
          <p:cNvSpPr/>
          <p:nvPr/>
        </p:nvSpPr>
        <p:spPr>
          <a:xfrm>
            <a:off x="6210148" y="2011680"/>
            <a:ext cx="5295748" cy="1325880"/>
          </a:xfrm>
          <a:prstGeom prst="roundRect">
            <a:avLst>
              <a:gd name="adj" fmla="val 12000"/>
            </a:avLst>
          </a:prstGeom>
          <a:solidFill>
            <a:srgbClr val="F3F0FA"/>
          </a:solidFill>
          <a:ln>
            <a:noFill/>
          </a:ln>
        </p:spPr>
        <p:txBody>
          <a:bodyPr rtlCol="0" anchor="ctr"/>
          <a:lstStyle/>
          <a:p>
            <a:pPr algn="ctr"/>
            <a:endParaRPr/>
          </a:p>
        </p:txBody>
      </p:sp>
      <p:sp>
        <p:nvSpPr>
          <p:cNvPr id="7" name="TextBox 6"/>
          <p:cNvSpPr txBox="1"/>
          <p:nvPr/>
        </p:nvSpPr>
        <p:spPr>
          <a:xfrm>
            <a:off x="6484468" y="2011680"/>
            <a:ext cx="4747108" cy="1325880"/>
          </a:xfrm>
          <a:prstGeom prst="rect">
            <a:avLst/>
          </a:prstGeom>
          <a:noFill/>
        </p:spPr>
        <p:txBody>
          <a:bodyPr wrap="square" lIns="0" tIns="0" rIns="0" bIns="0" anchor="ctr">
            <a:noAutofit/>
          </a:bodyPr>
          <a:lstStyle/>
          <a:p>
            <a:pPr marL="0" indent="0" algn="l">
              <a:lnSpc>
                <a:spcPct val="100000"/>
              </a:lnSpc>
              <a:spcBef>
                <a:spcPts val="0"/>
              </a:spcBef>
              <a:buNone/>
            </a:pPr>
            <a:r>
              <a:rPr lang="en-AU" sz="2200" b="1">
                <a:solidFill>
                  <a:srgbClr val="3D2A6B"/>
                </a:solidFill>
                <a:latin typeface="Arial"/>
                <a:ea typeface="Arial"/>
                <a:cs typeface="Arial"/>
              </a:rPr>
              <a:t>Chunk tasks with visible milestones</a:t>
            </a:r>
          </a:p>
        </p:txBody>
      </p:sp>
      <p:sp>
        <p:nvSpPr>
          <p:cNvPr id="8" name="Rounded Rectangle 7"/>
          <p:cNvSpPr/>
          <p:nvPr/>
        </p:nvSpPr>
        <p:spPr>
          <a:xfrm>
            <a:off x="685800" y="3566160"/>
            <a:ext cx="5295748" cy="1325880"/>
          </a:xfrm>
          <a:prstGeom prst="roundRect">
            <a:avLst>
              <a:gd name="adj" fmla="val 12000"/>
            </a:avLst>
          </a:prstGeom>
          <a:solidFill>
            <a:srgbClr val="F3F0FA"/>
          </a:solidFill>
          <a:ln>
            <a:noFill/>
          </a:ln>
        </p:spPr>
        <p:txBody>
          <a:bodyPr rtlCol="0" anchor="ctr"/>
          <a:lstStyle/>
          <a:p>
            <a:pPr algn="ctr"/>
            <a:endParaRPr/>
          </a:p>
        </p:txBody>
      </p:sp>
      <p:sp>
        <p:nvSpPr>
          <p:cNvPr id="9" name="TextBox 8"/>
          <p:cNvSpPr txBox="1"/>
          <p:nvPr/>
        </p:nvSpPr>
        <p:spPr>
          <a:xfrm>
            <a:off x="960120" y="3566160"/>
            <a:ext cx="4747108" cy="1325880"/>
          </a:xfrm>
          <a:prstGeom prst="rect">
            <a:avLst/>
          </a:prstGeom>
          <a:noFill/>
        </p:spPr>
        <p:txBody>
          <a:bodyPr wrap="square" lIns="0" tIns="0" rIns="0" bIns="0" anchor="ctr">
            <a:noAutofit/>
          </a:bodyPr>
          <a:lstStyle/>
          <a:p>
            <a:pPr marL="0" indent="0" algn="l">
              <a:lnSpc>
                <a:spcPct val="100000"/>
              </a:lnSpc>
              <a:spcBef>
                <a:spcPts val="0"/>
              </a:spcBef>
              <a:buNone/>
            </a:pPr>
            <a:r>
              <a:rPr lang="en-AU" sz="2200" b="1">
                <a:solidFill>
                  <a:srgbClr val="3D2A6B"/>
                </a:solidFill>
                <a:latin typeface="Arial"/>
                <a:ea typeface="Arial"/>
                <a:cs typeface="Arial"/>
              </a:rPr>
              <a:t>Show an exemplar of the finished thing</a:t>
            </a:r>
          </a:p>
        </p:txBody>
      </p:sp>
      <p:sp>
        <p:nvSpPr>
          <p:cNvPr id="10" name="Rounded Rectangle 9"/>
          <p:cNvSpPr/>
          <p:nvPr/>
        </p:nvSpPr>
        <p:spPr>
          <a:xfrm>
            <a:off x="6210148" y="3566160"/>
            <a:ext cx="5295748" cy="1325880"/>
          </a:xfrm>
          <a:prstGeom prst="roundRect">
            <a:avLst>
              <a:gd name="adj" fmla="val 12000"/>
            </a:avLst>
          </a:prstGeom>
          <a:solidFill>
            <a:srgbClr val="F3F0FA"/>
          </a:solidFill>
          <a:ln>
            <a:noFill/>
          </a:ln>
        </p:spPr>
        <p:txBody>
          <a:bodyPr rtlCol="0" anchor="ctr"/>
          <a:lstStyle/>
          <a:p>
            <a:pPr algn="ctr"/>
            <a:endParaRPr/>
          </a:p>
        </p:txBody>
      </p:sp>
      <p:sp>
        <p:nvSpPr>
          <p:cNvPr id="11" name="TextBox 10"/>
          <p:cNvSpPr txBox="1"/>
          <p:nvPr/>
        </p:nvSpPr>
        <p:spPr>
          <a:xfrm>
            <a:off x="6484468" y="3566160"/>
            <a:ext cx="4747108" cy="1325880"/>
          </a:xfrm>
          <a:prstGeom prst="rect">
            <a:avLst/>
          </a:prstGeom>
          <a:noFill/>
        </p:spPr>
        <p:txBody>
          <a:bodyPr wrap="square" lIns="0" tIns="0" rIns="0" bIns="0" anchor="ctr">
            <a:noAutofit/>
          </a:bodyPr>
          <a:lstStyle/>
          <a:p>
            <a:pPr marL="0" indent="0" algn="l">
              <a:lnSpc>
                <a:spcPct val="100000"/>
              </a:lnSpc>
              <a:spcBef>
                <a:spcPts val="0"/>
              </a:spcBef>
              <a:buNone/>
            </a:pPr>
            <a:r>
              <a:rPr lang="en-AU" sz="2200" b="1">
                <a:solidFill>
                  <a:srgbClr val="3D2A6B"/>
                </a:solidFill>
                <a:latin typeface="Arial"/>
                <a:ea typeface="Arial"/>
                <a:cs typeface="Arial"/>
              </a:rPr>
              <a:t>Make submission steps literal</a:t>
            </a:r>
          </a:p>
        </p:txBody>
      </p:sp>
      <p:sp>
        <p:nvSpPr>
          <p:cNvPr id="12" name="Rounded Rectangle 11"/>
          <p:cNvSpPr/>
          <p:nvPr/>
        </p:nvSpPr>
        <p:spPr>
          <a:xfrm>
            <a:off x="685800" y="5257800"/>
            <a:ext cx="10820095" cy="566928"/>
          </a:xfrm>
          <a:prstGeom prst="roundRect">
            <a:avLst>
              <a:gd name="adj" fmla="val 50000"/>
            </a:avLst>
          </a:prstGeom>
          <a:solidFill>
            <a:srgbClr val="FFFFFF"/>
          </a:solidFill>
          <a:ln w="19050">
            <a:solidFill>
              <a:srgbClr val="584099"/>
            </a:solidFill>
          </a:ln>
        </p:spPr>
        <p:txBody>
          <a:bodyPr rtlCol="0" anchor="ctr"/>
          <a:lstStyle/>
          <a:p>
            <a:pPr algn="ctr"/>
            <a:endParaRPr/>
          </a:p>
        </p:txBody>
      </p:sp>
      <p:sp>
        <p:nvSpPr>
          <p:cNvPr id="13" name="TextBox 12"/>
          <p:cNvSpPr txBox="1"/>
          <p:nvPr/>
        </p:nvSpPr>
        <p:spPr>
          <a:xfrm>
            <a:off x="960120" y="5257800"/>
            <a:ext cx="10271455" cy="566928"/>
          </a:xfrm>
          <a:prstGeom prst="rect">
            <a:avLst/>
          </a:prstGeom>
          <a:noFill/>
        </p:spPr>
        <p:txBody>
          <a:bodyPr wrap="square" lIns="0" tIns="0" rIns="0" bIns="0" anchor="ctr">
            <a:noAutofit/>
          </a:bodyPr>
          <a:lstStyle/>
          <a:p>
            <a:pPr marL="0" indent="0" algn="ctr">
              <a:lnSpc>
                <a:spcPct val="100000"/>
              </a:lnSpc>
              <a:spcBef>
                <a:spcPts val="0"/>
              </a:spcBef>
              <a:buNone/>
            </a:pPr>
            <a:r>
              <a:rPr lang="en-AU" sz="1800" b="1">
                <a:solidFill>
                  <a:srgbClr val="584099"/>
                </a:solidFill>
                <a:latin typeface="Arial"/>
                <a:ea typeface="Arial"/>
                <a:cs typeface="Arial"/>
              </a:rPr>
              <a:t>When a task is missed, look at starting, planning and time before assuming a student didn't care.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Predictability across the timetable</a:t>
            </a:r>
          </a:p>
        </p:txBody>
      </p:sp>
      <p:sp>
        <p:nvSpPr>
          <p:cNvPr id="3" name="TextBox 2"/>
          <p:cNvSpPr txBox="1"/>
          <p:nvPr/>
        </p:nvSpPr>
        <p:spPr>
          <a:xfrm>
            <a:off x="685800" y="1325880"/>
            <a:ext cx="10789920" cy="548640"/>
          </a:xfrm>
          <a:prstGeom prst="rect">
            <a:avLst/>
          </a:prstGeom>
          <a:noFill/>
        </p:spPr>
        <p:txBody>
          <a:bodyPr wrap="square" lIns="0" tIns="0" rIns="0" bIns="0" anchor="t">
            <a:noAutofit/>
          </a:bodyPr>
          <a:lstStyle/>
          <a:p>
            <a:pPr marL="0" indent="0" algn="l">
              <a:lnSpc>
                <a:spcPct val="100000"/>
              </a:lnSpc>
              <a:spcBef>
                <a:spcPts val="0"/>
              </a:spcBef>
              <a:buNone/>
            </a:pPr>
            <a:r>
              <a:rPr lang="en-AU" sz="2200" b="1">
                <a:solidFill>
                  <a:srgbClr val="3D2A6B"/>
                </a:solidFill>
                <a:latin typeface="Arial"/>
                <a:ea typeface="Arial"/>
                <a:cs typeface="Arial"/>
              </a:rPr>
              <a:t>Predictability includes clear information about routine and change.</a:t>
            </a:r>
          </a:p>
        </p:txBody>
      </p:sp>
      <p:sp>
        <p:nvSpPr>
          <p:cNvPr id="4" name="TextBox 3"/>
          <p:cNvSpPr txBox="1"/>
          <p:nvPr/>
        </p:nvSpPr>
        <p:spPr>
          <a:xfrm>
            <a:off x="685800" y="1965960"/>
            <a:ext cx="10789920" cy="457200"/>
          </a:xfrm>
          <a:prstGeom prst="rect">
            <a:avLst/>
          </a:prstGeom>
          <a:noFill/>
        </p:spPr>
        <p:txBody>
          <a:bodyPr wrap="square" lIns="0" tIns="0" rIns="0" bIns="0" anchor="t">
            <a:noAutofit/>
          </a:bodyPr>
          <a:lstStyle/>
          <a:p>
            <a:pPr marL="0" indent="0" algn="l">
              <a:lnSpc>
                <a:spcPct val="100000"/>
              </a:lnSpc>
              <a:spcBef>
                <a:spcPts val="0"/>
              </a:spcBef>
              <a:buNone/>
            </a:pPr>
            <a:r>
              <a:rPr lang="en-AU" sz="1900" b="0">
                <a:solidFill>
                  <a:srgbClr val="2D2440"/>
                </a:solidFill>
                <a:latin typeface="Arial"/>
                <a:ea typeface="Arial"/>
                <a:cs typeface="Arial"/>
              </a:rPr>
              <a:t>Help students answer:</a:t>
            </a:r>
          </a:p>
        </p:txBody>
      </p:sp>
      <p:sp>
        <p:nvSpPr>
          <p:cNvPr id="5" name="Rounded Rectangle 4"/>
          <p:cNvSpPr/>
          <p:nvPr/>
        </p:nvSpPr>
        <p:spPr>
          <a:xfrm>
            <a:off x="685800" y="2560320"/>
            <a:ext cx="2533574" cy="2148840"/>
          </a:xfrm>
          <a:prstGeom prst="roundRect">
            <a:avLst>
              <a:gd name="adj" fmla="val 12000"/>
            </a:avLst>
          </a:prstGeom>
          <a:solidFill>
            <a:srgbClr val="F3F0FA"/>
          </a:solidFill>
          <a:ln>
            <a:noFill/>
          </a:ln>
        </p:spPr>
        <p:txBody>
          <a:bodyPr rtlCol="0" anchor="ctr"/>
          <a:lstStyle/>
          <a:p>
            <a:pPr algn="ctr"/>
            <a:endParaRPr/>
          </a:p>
        </p:txBody>
      </p:sp>
      <p:sp>
        <p:nvSpPr>
          <p:cNvPr id="6" name="Oval 5"/>
          <p:cNvSpPr/>
          <p:nvPr/>
        </p:nvSpPr>
        <p:spPr>
          <a:xfrm>
            <a:off x="960120" y="2788920"/>
            <a:ext cx="548640" cy="548640"/>
          </a:xfrm>
          <a:prstGeom prst="ellipse">
            <a:avLst/>
          </a:prstGeom>
          <a:solidFill>
            <a:srgbClr val="FFFFFF"/>
          </a:solidFill>
          <a:ln w="25400">
            <a:solidFill>
              <a:srgbClr val="584099"/>
            </a:solidFill>
          </a:ln>
        </p:spPr>
        <p:txBody>
          <a:bodyPr rtlCol="0" anchor="ctr"/>
          <a:lstStyle/>
          <a:p>
            <a:pPr algn="ctr"/>
            <a:endParaRPr/>
          </a:p>
        </p:txBody>
      </p:sp>
      <p:sp>
        <p:nvSpPr>
          <p:cNvPr id="7" name="TextBox 6"/>
          <p:cNvSpPr txBox="1"/>
          <p:nvPr/>
        </p:nvSpPr>
        <p:spPr>
          <a:xfrm>
            <a:off x="960120" y="2788920"/>
            <a:ext cx="548640" cy="548640"/>
          </a:xfrm>
          <a:prstGeom prst="rect">
            <a:avLst/>
          </a:prstGeom>
          <a:noFill/>
        </p:spPr>
        <p:txBody>
          <a:bodyPr wrap="square" lIns="0" tIns="0" rIns="0" bIns="0" anchor="ctr">
            <a:noAutofit/>
          </a:bodyPr>
          <a:lstStyle/>
          <a:p>
            <a:pPr marL="0" indent="0" algn="ctr">
              <a:lnSpc>
                <a:spcPct val="100000"/>
              </a:lnSpc>
              <a:spcBef>
                <a:spcPts val="0"/>
              </a:spcBef>
              <a:buNone/>
            </a:pPr>
            <a:r>
              <a:rPr lang="en-AU" sz="2000" b="0">
                <a:solidFill>
                  <a:srgbClr val="584099"/>
                </a:solidFill>
                <a:latin typeface="Arial Black"/>
                <a:ea typeface="Arial Black"/>
                <a:cs typeface="Arial Black"/>
              </a:rPr>
              <a:t>?</a:t>
            </a:r>
          </a:p>
        </p:txBody>
      </p:sp>
      <p:sp>
        <p:nvSpPr>
          <p:cNvPr id="8" name="TextBox 7"/>
          <p:cNvSpPr txBox="1"/>
          <p:nvPr/>
        </p:nvSpPr>
        <p:spPr>
          <a:xfrm>
            <a:off x="960120" y="3520440"/>
            <a:ext cx="1984934" cy="1097280"/>
          </a:xfrm>
          <a:prstGeom prst="rect">
            <a:avLst/>
          </a:prstGeom>
          <a:noFill/>
        </p:spPr>
        <p:txBody>
          <a:bodyPr wrap="square" lIns="0" tIns="0" rIns="0" bIns="0" anchor="t">
            <a:noAutofit/>
          </a:bodyPr>
          <a:lstStyle/>
          <a:p>
            <a:pPr marL="0" indent="0" algn="l">
              <a:lnSpc>
                <a:spcPct val="100000"/>
              </a:lnSpc>
              <a:spcBef>
                <a:spcPts val="0"/>
              </a:spcBef>
              <a:buNone/>
            </a:pPr>
            <a:r>
              <a:rPr lang="en-AU" sz="2000" b="1">
                <a:solidFill>
                  <a:srgbClr val="3D2A6B"/>
                </a:solidFill>
                <a:latin typeface="Arial"/>
                <a:ea typeface="Arial"/>
                <a:cs typeface="Arial"/>
              </a:rPr>
              <a:t>What is happening?</a:t>
            </a:r>
          </a:p>
        </p:txBody>
      </p:sp>
      <p:sp>
        <p:nvSpPr>
          <p:cNvPr id="9" name="Rounded Rectangle 8"/>
          <p:cNvSpPr/>
          <p:nvPr/>
        </p:nvSpPr>
        <p:spPr>
          <a:xfrm>
            <a:off x="3447974" y="2560320"/>
            <a:ext cx="2533574" cy="2148840"/>
          </a:xfrm>
          <a:prstGeom prst="roundRect">
            <a:avLst>
              <a:gd name="adj" fmla="val 12000"/>
            </a:avLst>
          </a:prstGeom>
          <a:solidFill>
            <a:srgbClr val="F3F0FA"/>
          </a:solidFill>
          <a:ln>
            <a:noFill/>
          </a:ln>
        </p:spPr>
        <p:txBody>
          <a:bodyPr rtlCol="0" anchor="ctr"/>
          <a:lstStyle/>
          <a:p>
            <a:pPr algn="ctr"/>
            <a:endParaRPr/>
          </a:p>
        </p:txBody>
      </p:sp>
      <p:sp>
        <p:nvSpPr>
          <p:cNvPr id="10" name="Oval 9"/>
          <p:cNvSpPr/>
          <p:nvPr/>
        </p:nvSpPr>
        <p:spPr>
          <a:xfrm>
            <a:off x="3722294" y="2788920"/>
            <a:ext cx="548640" cy="548640"/>
          </a:xfrm>
          <a:prstGeom prst="ellipse">
            <a:avLst/>
          </a:prstGeom>
          <a:solidFill>
            <a:srgbClr val="FFFFFF"/>
          </a:solidFill>
          <a:ln w="25400">
            <a:solidFill>
              <a:srgbClr val="584099"/>
            </a:solidFill>
          </a:ln>
        </p:spPr>
        <p:txBody>
          <a:bodyPr rtlCol="0" anchor="ctr"/>
          <a:lstStyle/>
          <a:p>
            <a:pPr algn="ctr"/>
            <a:endParaRPr/>
          </a:p>
        </p:txBody>
      </p:sp>
      <p:sp>
        <p:nvSpPr>
          <p:cNvPr id="11" name="TextBox 10"/>
          <p:cNvSpPr txBox="1"/>
          <p:nvPr/>
        </p:nvSpPr>
        <p:spPr>
          <a:xfrm>
            <a:off x="3722294" y="2788920"/>
            <a:ext cx="548640" cy="548640"/>
          </a:xfrm>
          <a:prstGeom prst="rect">
            <a:avLst/>
          </a:prstGeom>
          <a:noFill/>
        </p:spPr>
        <p:txBody>
          <a:bodyPr wrap="square" lIns="0" tIns="0" rIns="0" bIns="0" anchor="ctr">
            <a:noAutofit/>
          </a:bodyPr>
          <a:lstStyle/>
          <a:p>
            <a:pPr marL="0" indent="0" algn="ctr">
              <a:lnSpc>
                <a:spcPct val="100000"/>
              </a:lnSpc>
              <a:spcBef>
                <a:spcPts val="0"/>
              </a:spcBef>
              <a:buNone/>
            </a:pPr>
            <a:r>
              <a:rPr lang="en-AU" sz="2000" b="0">
                <a:solidFill>
                  <a:srgbClr val="584099"/>
                </a:solidFill>
                <a:latin typeface="Arial Black"/>
                <a:ea typeface="Arial Black"/>
                <a:cs typeface="Arial Black"/>
              </a:rPr>
              <a:t>?</a:t>
            </a:r>
          </a:p>
        </p:txBody>
      </p:sp>
      <p:sp>
        <p:nvSpPr>
          <p:cNvPr id="12" name="TextBox 11"/>
          <p:cNvSpPr txBox="1"/>
          <p:nvPr/>
        </p:nvSpPr>
        <p:spPr>
          <a:xfrm>
            <a:off x="3722294" y="3520440"/>
            <a:ext cx="1984934" cy="1097280"/>
          </a:xfrm>
          <a:prstGeom prst="rect">
            <a:avLst/>
          </a:prstGeom>
          <a:noFill/>
        </p:spPr>
        <p:txBody>
          <a:bodyPr wrap="square" lIns="0" tIns="0" rIns="0" bIns="0" anchor="t">
            <a:noAutofit/>
          </a:bodyPr>
          <a:lstStyle/>
          <a:p>
            <a:pPr marL="0" indent="0" algn="l">
              <a:lnSpc>
                <a:spcPct val="100000"/>
              </a:lnSpc>
              <a:spcBef>
                <a:spcPts val="0"/>
              </a:spcBef>
              <a:buNone/>
            </a:pPr>
            <a:r>
              <a:rPr lang="en-AU" sz="2000" b="1">
                <a:solidFill>
                  <a:srgbClr val="3D2A6B"/>
                </a:solidFill>
                <a:latin typeface="Arial"/>
                <a:ea typeface="Arial"/>
                <a:cs typeface="Arial"/>
              </a:rPr>
              <a:t>What is changing?</a:t>
            </a:r>
          </a:p>
        </p:txBody>
      </p:sp>
      <p:sp>
        <p:nvSpPr>
          <p:cNvPr id="13" name="Rounded Rectangle 12"/>
          <p:cNvSpPr/>
          <p:nvPr/>
        </p:nvSpPr>
        <p:spPr>
          <a:xfrm>
            <a:off x="6210148" y="2560320"/>
            <a:ext cx="2533574" cy="2148840"/>
          </a:xfrm>
          <a:prstGeom prst="roundRect">
            <a:avLst>
              <a:gd name="adj" fmla="val 12000"/>
            </a:avLst>
          </a:prstGeom>
          <a:solidFill>
            <a:srgbClr val="F3F0FA"/>
          </a:solidFill>
          <a:ln>
            <a:noFill/>
          </a:ln>
        </p:spPr>
        <p:txBody>
          <a:bodyPr rtlCol="0" anchor="ctr"/>
          <a:lstStyle/>
          <a:p>
            <a:pPr algn="ctr"/>
            <a:endParaRPr/>
          </a:p>
        </p:txBody>
      </p:sp>
      <p:sp>
        <p:nvSpPr>
          <p:cNvPr id="14" name="Oval 13"/>
          <p:cNvSpPr/>
          <p:nvPr/>
        </p:nvSpPr>
        <p:spPr>
          <a:xfrm>
            <a:off x="6484468" y="2788920"/>
            <a:ext cx="548640" cy="548640"/>
          </a:xfrm>
          <a:prstGeom prst="ellipse">
            <a:avLst/>
          </a:prstGeom>
          <a:solidFill>
            <a:srgbClr val="FFFFFF"/>
          </a:solidFill>
          <a:ln w="25400">
            <a:solidFill>
              <a:srgbClr val="584099"/>
            </a:solidFill>
          </a:ln>
        </p:spPr>
        <p:txBody>
          <a:bodyPr rtlCol="0" anchor="ctr"/>
          <a:lstStyle/>
          <a:p>
            <a:pPr algn="ctr"/>
            <a:endParaRPr/>
          </a:p>
        </p:txBody>
      </p:sp>
      <p:sp>
        <p:nvSpPr>
          <p:cNvPr id="15" name="TextBox 14"/>
          <p:cNvSpPr txBox="1"/>
          <p:nvPr/>
        </p:nvSpPr>
        <p:spPr>
          <a:xfrm>
            <a:off x="6484468" y="2788920"/>
            <a:ext cx="548640" cy="548640"/>
          </a:xfrm>
          <a:prstGeom prst="rect">
            <a:avLst/>
          </a:prstGeom>
          <a:noFill/>
        </p:spPr>
        <p:txBody>
          <a:bodyPr wrap="square" lIns="0" tIns="0" rIns="0" bIns="0" anchor="ctr">
            <a:noAutofit/>
          </a:bodyPr>
          <a:lstStyle/>
          <a:p>
            <a:pPr marL="0" indent="0" algn="ctr">
              <a:lnSpc>
                <a:spcPct val="100000"/>
              </a:lnSpc>
              <a:spcBef>
                <a:spcPts val="0"/>
              </a:spcBef>
              <a:buNone/>
            </a:pPr>
            <a:r>
              <a:rPr lang="en-AU" sz="2000" b="0">
                <a:solidFill>
                  <a:srgbClr val="584099"/>
                </a:solidFill>
                <a:latin typeface="Arial Black"/>
                <a:ea typeface="Arial Black"/>
                <a:cs typeface="Arial Black"/>
              </a:rPr>
              <a:t>?</a:t>
            </a:r>
          </a:p>
        </p:txBody>
      </p:sp>
      <p:sp>
        <p:nvSpPr>
          <p:cNvPr id="16" name="TextBox 15"/>
          <p:cNvSpPr txBox="1"/>
          <p:nvPr/>
        </p:nvSpPr>
        <p:spPr>
          <a:xfrm>
            <a:off x="6484468" y="3520440"/>
            <a:ext cx="1984934" cy="1097280"/>
          </a:xfrm>
          <a:prstGeom prst="rect">
            <a:avLst/>
          </a:prstGeom>
          <a:noFill/>
        </p:spPr>
        <p:txBody>
          <a:bodyPr wrap="square" lIns="0" tIns="0" rIns="0" bIns="0" anchor="t">
            <a:noAutofit/>
          </a:bodyPr>
          <a:lstStyle/>
          <a:p>
            <a:pPr marL="0" indent="0" algn="l">
              <a:lnSpc>
                <a:spcPct val="100000"/>
              </a:lnSpc>
              <a:spcBef>
                <a:spcPts val="0"/>
              </a:spcBef>
              <a:buNone/>
            </a:pPr>
            <a:r>
              <a:rPr lang="en-AU" sz="2000" b="1">
                <a:solidFill>
                  <a:srgbClr val="3D2A6B"/>
                </a:solidFill>
                <a:latin typeface="Arial"/>
                <a:ea typeface="Arial"/>
                <a:cs typeface="Arial"/>
              </a:rPr>
              <a:t>What comes next?</a:t>
            </a:r>
          </a:p>
        </p:txBody>
      </p:sp>
      <p:sp>
        <p:nvSpPr>
          <p:cNvPr id="17" name="Rounded Rectangle 16"/>
          <p:cNvSpPr/>
          <p:nvPr/>
        </p:nvSpPr>
        <p:spPr>
          <a:xfrm>
            <a:off x="8972321" y="2560320"/>
            <a:ext cx="2533574" cy="2148840"/>
          </a:xfrm>
          <a:prstGeom prst="roundRect">
            <a:avLst>
              <a:gd name="adj" fmla="val 12000"/>
            </a:avLst>
          </a:prstGeom>
          <a:solidFill>
            <a:srgbClr val="F3F0FA"/>
          </a:solidFill>
          <a:ln>
            <a:noFill/>
          </a:ln>
        </p:spPr>
        <p:txBody>
          <a:bodyPr rtlCol="0" anchor="ctr"/>
          <a:lstStyle/>
          <a:p>
            <a:pPr algn="ctr"/>
            <a:endParaRPr/>
          </a:p>
        </p:txBody>
      </p:sp>
      <p:sp>
        <p:nvSpPr>
          <p:cNvPr id="18" name="Oval 17"/>
          <p:cNvSpPr/>
          <p:nvPr/>
        </p:nvSpPr>
        <p:spPr>
          <a:xfrm>
            <a:off x="9246641" y="2788920"/>
            <a:ext cx="548640" cy="548640"/>
          </a:xfrm>
          <a:prstGeom prst="ellipse">
            <a:avLst/>
          </a:prstGeom>
          <a:solidFill>
            <a:srgbClr val="FFFFFF"/>
          </a:solidFill>
          <a:ln w="25400">
            <a:solidFill>
              <a:srgbClr val="584099"/>
            </a:solidFill>
          </a:ln>
        </p:spPr>
        <p:txBody>
          <a:bodyPr rtlCol="0" anchor="ctr"/>
          <a:lstStyle/>
          <a:p>
            <a:pPr algn="ctr"/>
            <a:endParaRPr/>
          </a:p>
        </p:txBody>
      </p:sp>
      <p:sp>
        <p:nvSpPr>
          <p:cNvPr id="19" name="TextBox 18"/>
          <p:cNvSpPr txBox="1"/>
          <p:nvPr/>
        </p:nvSpPr>
        <p:spPr>
          <a:xfrm>
            <a:off x="9246641" y="2788920"/>
            <a:ext cx="548640" cy="548640"/>
          </a:xfrm>
          <a:prstGeom prst="rect">
            <a:avLst/>
          </a:prstGeom>
          <a:noFill/>
        </p:spPr>
        <p:txBody>
          <a:bodyPr wrap="square" lIns="0" tIns="0" rIns="0" bIns="0" anchor="ctr">
            <a:noAutofit/>
          </a:bodyPr>
          <a:lstStyle/>
          <a:p>
            <a:pPr marL="0" indent="0" algn="ctr">
              <a:lnSpc>
                <a:spcPct val="100000"/>
              </a:lnSpc>
              <a:spcBef>
                <a:spcPts val="0"/>
              </a:spcBef>
              <a:buNone/>
            </a:pPr>
            <a:r>
              <a:rPr lang="en-AU" sz="2000" b="0">
                <a:solidFill>
                  <a:srgbClr val="584099"/>
                </a:solidFill>
                <a:latin typeface="Arial Black"/>
                <a:ea typeface="Arial Black"/>
                <a:cs typeface="Arial Black"/>
              </a:rPr>
              <a:t>?</a:t>
            </a:r>
          </a:p>
        </p:txBody>
      </p:sp>
      <p:sp>
        <p:nvSpPr>
          <p:cNvPr id="20" name="TextBox 19"/>
          <p:cNvSpPr txBox="1"/>
          <p:nvPr/>
        </p:nvSpPr>
        <p:spPr>
          <a:xfrm>
            <a:off x="9246641" y="3520440"/>
            <a:ext cx="1984934" cy="1097280"/>
          </a:xfrm>
          <a:prstGeom prst="rect">
            <a:avLst/>
          </a:prstGeom>
          <a:noFill/>
        </p:spPr>
        <p:txBody>
          <a:bodyPr wrap="square" lIns="0" tIns="0" rIns="0" bIns="0" anchor="t">
            <a:noAutofit/>
          </a:bodyPr>
          <a:lstStyle/>
          <a:p>
            <a:pPr marL="0" indent="0" algn="l">
              <a:lnSpc>
                <a:spcPct val="100000"/>
              </a:lnSpc>
              <a:spcBef>
                <a:spcPts val="0"/>
              </a:spcBef>
              <a:buNone/>
            </a:pPr>
            <a:r>
              <a:rPr lang="en-AU" sz="2000" b="1">
                <a:solidFill>
                  <a:srgbClr val="3D2A6B"/>
                </a:solidFill>
                <a:latin typeface="Arial"/>
                <a:ea typeface="Arial"/>
                <a:cs typeface="Arial"/>
              </a:rPr>
              <a:t>What can I do if the plan changes?</a:t>
            </a:r>
          </a:p>
        </p:txBody>
      </p:sp>
      <p:sp>
        <p:nvSpPr>
          <p:cNvPr id="21" name="Rounded Rectangle 20"/>
          <p:cNvSpPr/>
          <p:nvPr/>
        </p:nvSpPr>
        <p:spPr>
          <a:xfrm>
            <a:off x="685800" y="5120640"/>
            <a:ext cx="10820095" cy="566928"/>
          </a:xfrm>
          <a:prstGeom prst="roundRect">
            <a:avLst>
              <a:gd name="adj" fmla="val 50000"/>
            </a:avLst>
          </a:prstGeom>
          <a:solidFill>
            <a:srgbClr val="FFFFFF"/>
          </a:solidFill>
          <a:ln w="19050">
            <a:solidFill>
              <a:srgbClr val="584099"/>
            </a:solidFill>
          </a:ln>
        </p:spPr>
        <p:txBody>
          <a:bodyPr rtlCol="0" anchor="ctr"/>
          <a:lstStyle/>
          <a:p>
            <a:pPr algn="ctr"/>
            <a:endParaRPr/>
          </a:p>
        </p:txBody>
      </p:sp>
      <p:sp>
        <p:nvSpPr>
          <p:cNvPr id="22" name="TextBox 21"/>
          <p:cNvSpPr txBox="1"/>
          <p:nvPr/>
        </p:nvSpPr>
        <p:spPr>
          <a:xfrm>
            <a:off x="960120" y="5120640"/>
            <a:ext cx="10271455" cy="566928"/>
          </a:xfrm>
          <a:prstGeom prst="rect">
            <a:avLst/>
          </a:prstGeom>
          <a:noFill/>
        </p:spPr>
        <p:txBody>
          <a:bodyPr wrap="square" lIns="0" tIns="0" rIns="0" bIns="0" anchor="ctr">
            <a:noAutofit/>
          </a:bodyPr>
          <a:lstStyle/>
          <a:p>
            <a:pPr marL="0" indent="0" algn="ctr">
              <a:lnSpc>
                <a:spcPct val="100000"/>
              </a:lnSpc>
              <a:spcBef>
                <a:spcPts val="0"/>
              </a:spcBef>
              <a:buNone/>
            </a:pPr>
            <a:r>
              <a:rPr lang="en-AU" sz="1800" b="1">
                <a:solidFill>
                  <a:srgbClr val="584099"/>
                </a:solidFill>
                <a:latin typeface="Arial"/>
                <a:ea typeface="Arial"/>
                <a:cs typeface="Arial"/>
              </a:rPr>
              <a:t>Give information early enough to be useful, in every class and on relief days.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Supports that travel</a:t>
            </a:r>
          </a:p>
        </p:txBody>
      </p:sp>
      <p:sp>
        <p:nvSpPr>
          <p:cNvPr id="3" name="TextBox 2"/>
          <p:cNvSpPr txBox="1"/>
          <p:nvPr/>
        </p:nvSpPr>
        <p:spPr>
          <a:xfrm>
            <a:off x="685800" y="1325880"/>
            <a:ext cx="10789920" cy="548640"/>
          </a:xfrm>
          <a:prstGeom prst="rect">
            <a:avLst/>
          </a:prstGeom>
          <a:noFill/>
        </p:spPr>
        <p:txBody>
          <a:bodyPr wrap="square" lIns="0" tIns="0" rIns="0" bIns="0" anchor="t">
            <a:noAutofit/>
          </a:bodyPr>
          <a:lstStyle/>
          <a:p>
            <a:pPr marL="0" indent="0" algn="l">
              <a:lnSpc>
                <a:spcPct val="100000"/>
              </a:lnSpc>
              <a:spcBef>
                <a:spcPts val="0"/>
              </a:spcBef>
              <a:buNone/>
            </a:pPr>
            <a:r>
              <a:rPr lang="en-AU" sz="2200" b="1">
                <a:solidFill>
                  <a:srgbClr val="3D2A6B"/>
                </a:solidFill>
                <a:latin typeface="Arial"/>
                <a:ea typeface="Arial"/>
                <a:cs typeface="Arial"/>
              </a:rPr>
              <a:t>Share what helps across the timetable:</a:t>
            </a:r>
          </a:p>
        </p:txBody>
      </p:sp>
      <p:sp>
        <p:nvSpPr>
          <p:cNvPr id="4" name="Rounded Rectangle 3"/>
          <p:cNvSpPr/>
          <p:nvPr/>
        </p:nvSpPr>
        <p:spPr>
          <a:xfrm>
            <a:off x="685800" y="2011680"/>
            <a:ext cx="5295748" cy="1325880"/>
          </a:xfrm>
          <a:prstGeom prst="roundRect">
            <a:avLst>
              <a:gd name="adj" fmla="val 12000"/>
            </a:avLst>
          </a:prstGeom>
          <a:solidFill>
            <a:srgbClr val="F3F0FA"/>
          </a:solidFill>
          <a:ln>
            <a:noFill/>
          </a:ln>
        </p:spPr>
        <p:txBody>
          <a:bodyPr rtlCol="0" anchor="ctr"/>
          <a:lstStyle/>
          <a:p>
            <a:pPr algn="ctr"/>
            <a:endParaRPr/>
          </a:p>
        </p:txBody>
      </p:sp>
      <p:sp>
        <p:nvSpPr>
          <p:cNvPr id="5" name="TextBox 4"/>
          <p:cNvSpPr txBox="1"/>
          <p:nvPr/>
        </p:nvSpPr>
        <p:spPr>
          <a:xfrm>
            <a:off x="960120" y="2011680"/>
            <a:ext cx="4747108" cy="1325880"/>
          </a:xfrm>
          <a:prstGeom prst="rect">
            <a:avLst/>
          </a:prstGeom>
          <a:noFill/>
        </p:spPr>
        <p:txBody>
          <a:bodyPr wrap="square" lIns="0" tIns="0" rIns="0" bIns="0" anchor="ctr">
            <a:noAutofit/>
          </a:bodyPr>
          <a:lstStyle/>
          <a:p>
            <a:pPr marL="0" indent="0" algn="l">
              <a:lnSpc>
                <a:spcPct val="100000"/>
              </a:lnSpc>
              <a:spcBef>
                <a:spcPts val="0"/>
              </a:spcBef>
              <a:buNone/>
            </a:pPr>
            <a:r>
              <a:rPr lang="en-AU" sz="2200" b="1">
                <a:solidFill>
                  <a:srgbClr val="3D2A6B"/>
                </a:solidFill>
                <a:latin typeface="Arial"/>
                <a:ea typeface="Arial"/>
                <a:cs typeface="Arial"/>
              </a:rPr>
              <a:t>A one-page profile, written with the student</a:t>
            </a:r>
          </a:p>
        </p:txBody>
      </p:sp>
      <p:sp>
        <p:nvSpPr>
          <p:cNvPr id="6" name="Rounded Rectangle 5"/>
          <p:cNvSpPr/>
          <p:nvPr/>
        </p:nvSpPr>
        <p:spPr>
          <a:xfrm>
            <a:off x="6210148" y="2011680"/>
            <a:ext cx="5295748" cy="1325880"/>
          </a:xfrm>
          <a:prstGeom prst="roundRect">
            <a:avLst>
              <a:gd name="adj" fmla="val 12000"/>
            </a:avLst>
          </a:prstGeom>
          <a:solidFill>
            <a:srgbClr val="F3F0FA"/>
          </a:solidFill>
          <a:ln>
            <a:noFill/>
          </a:ln>
        </p:spPr>
        <p:txBody>
          <a:bodyPr rtlCol="0" anchor="ctr"/>
          <a:lstStyle/>
          <a:p>
            <a:pPr algn="ctr"/>
            <a:endParaRPr/>
          </a:p>
        </p:txBody>
      </p:sp>
      <p:sp>
        <p:nvSpPr>
          <p:cNvPr id="7" name="TextBox 6"/>
          <p:cNvSpPr txBox="1"/>
          <p:nvPr/>
        </p:nvSpPr>
        <p:spPr>
          <a:xfrm>
            <a:off x="6484468" y="2011680"/>
            <a:ext cx="4747108" cy="1325880"/>
          </a:xfrm>
          <a:prstGeom prst="rect">
            <a:avLst/>
          </a:prstGeom>
          <a:noFill/>
        </p:spPr>
        <p:txBody>
          <a:bodyPr wrap="square" lIns="0" tIns="0" rIns="0" bIns="0" anchor="ctr">
            <a:noAutofit/>
          </a:bodyPr>
          <a:lstStyle/>
          <a:p>
            <a:pPr marL="0" indent="0" algn="l">
              <a:lnSpc>
                <a:spcPct val="100000"/>
              </a:lnSpc>
              <a:spcBef>
                <a:spcPts val="0"/>
              </a:spcBef>
              <a:buNone/>
            </a:pPr>
            <a:r>
              <a:rPr lang="en-AU" sz="2200" b="1">
                <a:solidFill>
                  <a:srgbClr val="3D2A6B"/>
                </a:solidFill>
                <a:latin typeface="Arial"/>
                <a:ea typeface="Arial"/>
                <a:cs typeface="Arial"/>
              </a:rPr>
              <a:t>Handover notes for new and relief teachers</a:t>
            </a:r>
          </a:p>
        </p:txBody>
      </p:sp>
      <p:sp>
        <p:nvSpPr>
          <p:cNvPr id="8" name="Rounded Rectangle 7"/>
          <p:cNvSpPr/>
          <p:nvPr/>
        </p:nvSpPr>
        <p:spPr>
          <a:xfrm>
            <a:off x="685800" y="3566160"/>
            <a:ext cx="5295748" cy="1325880"/>
          </a:xfrm>
          <a:prstGeom prst="roundRect">
            <a:avLst>
              <a:gd name="adj" fmla="val 12000"/>
            </a:avLst>
          </a:prstGeom>
          <a:solidFill>
            <a:srgbClr val="F3F0FA"/>
          </a:solidFill>
          <a:ln>
            <a:noFill/>
          </a:ln>
        </p:spPr>
        <p:txBody>
          <a:bodyPr rtlCol="0" anchor="ctr"/>
          <a:lstStyle/>
          <a:p>
            <a:pPr algn="ctr"/>
            <a:endParaRPr/>
          </a:p>
        </p:txBody>
      </p:sp>
      <p:sp>
        <p:nvSpPr>
          <p:cNvPr id="9" name="TextBox 8"/>
          <p:cNvSpPr txBox="1"/>
          <p:nvPr/>
        </p:nvSpPr>
        <p:spPr>
          <a:xfrm>
            <a:off x="960120" y="3566160"/>
            <a:ext cx="4747108" cy="1325880"/>
          </a:xfrm>
          <a:prstGeom prst="rect">
            <a:avLst/>
          </a:prstGeom>
          <a:noFill/>
        </p:spPr>
        <p:txBody>
          <a:bodyPr wrap="square" lIns="0" tIns="0" rIns="0" bIns="0" anchor="ctr">
            <a:noAutofit/>
          </a:bodyPr>
          <a:lstStyle/>
          <a:p>
            <a:pPr marL="0" indent="0" algn="l">
              <a:lnSpc>
                <a:spcPct val="100000"/>
              </a:lnSpc>
              <a:spcBef>
                <a:spcPts val="0"/>
              </a:spcBef>
              <a:buNone/>
            </a:pPr>
            <a:r>
              <a:rPr lang="en-AU" sz="2200" b="1">
                <a:solidFill>
                  <a:srgbClr val="3D2A6B"/>
                </a:solidFill>
                <a:latin typeface="Arial"/>
                <a:ea typeface="Arial"/>
                <a:cs typeface="Arial"/>
              </a:rPr>
              <a:t>The same visual supports in every room</a:t>
            </a:r>
          </a:p>
        </p:txBody>
      </p:sp>
      <p:sp>
        <p:nvSpPr>
          <p:cNvPr id="10" name="Rounded Rectangle 9"/>
          <p:cNvSpPr/>
          <p:nvPr/>
        </p:nvSpPr>
        <p:spPr>
          <a:xfrm>
            <a:off x="6210148" y="3566160"/>
            <a:ext cx="5295748" cy="1325880"/>
          </a:xfrm>
          <a:prstGeom prst="roundRect">
            <a:avLst>
              <a:gd name="adj" fmla="val 12000"/>
            </a:avLst>
          </a:prstGeom>
          <a:solidFill>
            <a:srgbClr val="F3F0FA"/>
          </a:solidFill>
          <a:ln>
            <a:noFill/>
          </a:ln>
        </p:spPr>
        <p:txBody>
          <a:bodyPr rtlCol="0" anchor="ctr"/>
          <a:lstStyle/>
          <a:p>
            <a:pPr algn="ctr"/>
            <a:endParaRPr/>
          </a:p>
        </p:txBody>
      </p:sp>
      <p:sp>
        <p:nvSpPr>
          <p:cNvPr id="11" name="TextBox 10"/>
          <p:cNvSpPr txBox="1"/>
          <p:nvPr/>
        </p:nvSpPr>
        <p:spPr>
          <a:xfrm>
            <a:off x="6484468" y="3566160"/>
            <a:ext cx="4747108" cy="1325880"/>
          </a:xfrm>
          <a:prstGeom prst="rect">
            <a:avLst/>
          </a:prstGeom>
          <a:noFill/>
        </p:spPr>
        <p:txBody>
          <a:bodyPr wrap="square" lIns="0" tIns="0" rIns="0" bIns="0" anchor="ctr">
            <a:noAutofit/>
          </a:bodyPr>
          <a:lstStyle/>
          <a:p>
            <a:pPr marL="0" indent="0" algn="l">
              <a:lnSpc>
                <a:spcPct val="100000"/>
              </a:lnSpc>
              <a:spcBef>
                <a:spcPts val="0"/>
              </a:spcBef>
              <a:buNone/>
            </a:pPr>
            <a:r>
              <a:rPr lang="en-AU" sz="2200" b="1">
                <a:solidFill>
                  <a:srgbClr val="3D2A6B"/>
                </a:solidFill>
                <a:latin typeface="Arial"/>
                <a:ea typeface="Arial"/>
                <a:cs typeface="Arial"/>
              </a:rPr>
              <a:t>Agree where it is kept and who updates it</a:t>
            </a:r>
          </a:p>
        </p:txBody>
      </p:sp>
      <p:sp>
        <p:nvSpPr>
          <p:cNvPr id="12" name="Rounded Rectangle 11"/>
          <p:cNvSpPr/>
          <p:nvPr/>
        </p:nvSpPr>
        <p:spPr>
          <a:xfrm>
            <a:off x="685800" y="5257800"/>
            <a:ext cx="10820095" cy="566928"/>
          </a:xfrm>
          <a:prstGeom prst="roundRect">
            <a:avLst>
              <a:gd name="adj" fmla="val 50000"/>
            </a:avLst>
          </a:prstGeom>
          <a:solidFill>
            <a:srgbClr val="FFFFFF"/>
          </a:solidFill>
          <a:ln w="19050">
            <a:solidFill>
              <a:srgbClr val="584099"/>
            </a:solidFill>
          </a:ln>
        </p:spPr>
        <p:txBody>
          <a:bodyPr rtlCol="0" anchor="ctr"/>
          <a:lstStyle/>
          <a:p>
            <a:pPr algn="ctr"/>
            <a:endParaRPr/>
          </a:p>
        </p:txBody>
      </p:sp>
      <p:sp>
        <p:nvSpPr>
          <p:cNvPr id="13" name="TextBox 12"/>
          <p:cNvSpPr txBox="1"/>
          <p:nvPr/>
        </p:nvSpPr>
        <p:spPr>
          <a:xfrm>
            <a:off x="960120" y="5257800"/>
            <a:ext cx="10271455" cy="566928"/>
          </a:xfrm>
          <a:prstGeom prst="rect">
            <a:avLst/>
          </a:prstGeom>
          <a:noFill/>
        </p:spPr>
        <p:txBody>
          <a:bodyPr wrap="square" lIns="0" tIns="0" rIns="0" bIns="0" anchor="ctr">
            <a:noAutofit/>
          </a:bodyPr>
          <a:lstStyle/>
          <a:p>
            <a:pPr marL="0" indent="0" algn="ctr">
              <a:lnSpc>
                <a:spcPct val="100000"/>
              </a:lnSpc>
              <a:spcBef>
                <a:spcPts val="0"/>
              </a:spcBef>
              <a:buNone/>
            </a:pPr>
            <a:r>
              <a:rPr lang="en-AU" sz="1800" b="1">
                <a:solidFill>
                  <a:srgbClr val="584099"/>
                </a:solidFill>
                <a:latin typeface="Arial"/>
                <a:ea typeface="Arial"/>
                <a:cs typeface="Arial"/>
              </a:rPr>
              <a:t>Would a relief teacher, or the period 4 teacher, know what helps before the lesson starts?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Visual supports</a:t>
            </a:r>
          </a:p>
        </p:txBody>
      </p:sp>
      <p:sp>
        <p:nvSpPr>
          <p:cNvPr id="5" name="Rounded Rectangle 4"/>
          <p:cNvSpPr/>
          <p:nvPr/>
        </p:nvSpPr>
        <p:spPr>
          <a:xfrm>
            <a:off x="7315200" y="3063240"/>
            <a:ext cx="4187952" cy="3291840"/>
          </a:xfrm>
          <a:prstGeom prst="roundRect">
            <a:avLst>
              <a:gd name="adj" fmla="val 12000"/>
            </a:avLst>
          </a:prstGeom>
          <a:solidFill>
            <a:srgbClr val="FFFFFF"/>
          </a:solidFill>
          <a:ln w="19050">
            <a:solidFill>
              <a:srgbClr val="584099"/>
            </a:solidFill>
          </a:ln>
        </p:spPr>
        <p:txBody>
          <a:bodyPr rtlCol="0" anchor="ctr"/>
          <a:lstStyle/>
          <a:p>
            <a:pPr algn="ctr"/>
            <a:endParaRPr/>
          </a:p>
        </p:txBody>
      </p:sp>
      <p:sp>
        <p:nvSpPr>
          <p:cNvPr id="6" name="TextBox 5"/>
          <p:cNvSpPr txBox="1"/>
          <p:nvPr/>
        </p:nvSpPr>
        <p:spPr>
          <a:xfrm>
            <a:off x="7589520" y="3063240"/>
            <a:ext cx="3639312" cy="3291840"/>
          </a:xfrm>
          <a:prstGeom prst="rect">
            <a:avLst/>
          </a:prstGeom>
          <a:noFill/>
        </p:spPr>
        <p:txBody>
          <a:bodyPr wrap="square" lIns="0" tIns="0" rIns="0" bIns="0" anchor="ctr">
            <a:noAutofit/>
          </a:bodyPr>
          <a:lstStyle/>
          <a:p>
            <a:pPr marL="0" indent="0" algn="l">
              <a:lnSpc>
                <a:spcPct val="100000"/>
              </a:lnSpc>
              <a:spcBef>
                <a:spcPts val="0"/>
              </a:spcBef>
              <a:buNone/>
            </a:pPr>
            <a:r>
              <a:rPr lang="en-AU" sz="2000" b="0">
                <a:solidFill>
                  <a:srgbClr val="584099"/>
                </a:solidFill>
                <a:latin typeface="Arial Black"/>
                <a:ea typeface="Arial Black"/>
                <a:cs typeface="Arial Black"/>
              </a:rPr>
              <a:t>Visual Supports Checklist</a:t>
            </a:r>
          </a:p>
          <a:p>
            <a:pPr marL="0" indent="0" algn="l">
              <a:lnSpc>
                <a:spcPct val="105000"/>
              </a:lnSpc>
              <a:spcBef>
                <a:spcPts val="600"/>
              </a:spcBef>
              <a:buNone/>
            </a:pPr>
            <a:r>
              <a:rPr lang="en-AU" sz="1800" b="0">
                <a:solidFill>
                  <a:srgbClr val="2D2440"/>
                </a:solidFill>
                <a:latin typeface="Arial"/>
                <a:ea typeface="Arial"/>
                <a:cs typeface="Arial"/>
              </a:rPr>
              <a:t>Online webinar available to explore visual supports in greater depth.</a:t>
            </a:r>
          </a:p>
        </p:txBody>
      </p:sp>
      <p:sp>
        <p:nvSpPr>
          <p:cNvPr id="7" name="TextBox 6"/>
          <p:cNvSpPr txBox="1"/>
          <p:nvPr/>
        </p:nvSpPr>
        <p:spPr>
          <a:xfrm>
            <a:off x="685800" y="1417320"/>
            <a:ext cx="10817352" cy="1417320"/>
          </a:xfrm>
          <a:prstGeom prst="rect">
            <a:avLst/>
          </a:prstGeom>
          <a:noFill/>
        </p:spPr>
        <p:txBody>
          <a:bodyPr wrap="square" lIns="0" tIns="0" rIns="0" bIns="0" anchor="t">
            <a:noAutofit/>
          </a:bodyPr>
          <a:lstStyle/>
          <a:p>
            <a:pPr marL="0" indent="0" algn="l">
              <a:lnSpc>
                <a:spcPct val="105000"/>
              </a:lnSpc>
              <a:spcBef>
                <a:spcPts val="0"/>
              </a:spcBef>
              <a:buNone/>
            </a:pPr>
            <a:r>
              <a:rPr lang="en-AU" sz="2200" b="1">
                <a:solidFill>
                  <a:srgbClr val="3D2A6B"/>
                </a:solidFill>
                <a:latin typeface="Arial"/>
                <a:ea typeface="Arial"/>
                <a:cs typeface="Arial"/>
              </a:rPr>
              <a:t>A visual support should clarify something the student needs to find, understand, remember or communicate.</a:t>
            </a:r>
          </a:p>
          <a:p>
            <a:pPr marL="0" indent="0" algn="l">
              <a:lnSpc>
                <a:spcPct val="110000"/>
              </a:lnSpc>
              <a:spcBef>
                <a:spcPts val="800"/>
              </a:spcBef>
              <a:buNone/>
            </a:pPr>
            <a:r>
              <a:rPr lang="en-AU" sz="1800" b="0">
                <a:solidFill>
                  <a:srgbClr val="2D2440"/>
                </a:solidFill>
                <a:latin typeface="Arial"/>
                <a:ea typeface="Arial"/>
                <a:cs typeface="Arial"/>
              </a:rPr>
              <a:t>Keep it available at the point of use, avoid unnecessary detail, explain how it works and check its meaning and usefulness with the student.</a:t>
            </a:r>
          </a:p>
        </p:txBody>
      </p:sp>
      <p:sp>
        <p:nvSpPr>
          <p:cNvPr id="8" name="Rounded Rectangle 7"/>
          <p:cNvSpPr/>
          <p:nvPr/>
        </p:nvSpPr>
        <p:spPr>
          <a:xfrm>
            <a:off x="685800" y="3063240"/>
            <a:ext cx="6400800" cy="3291840"/>
          </a:xfrm>
          <a:prstGeom prst="roundRect">
            <a:avLst>
              <a:gd name="adj" fmla="val 8000"/>
            </a:avLst>
          </a:prstGeom>
          <a:solidFill>
            <a:srgbClr val="F3F0FA"/>
          </a:solidFill>
          <a:ln>
            <a:noFill/>
          </a:ln>
        </p:spPr>
        <p:txBody>
          <a:bodyPr rtlCol="0" anchor="ctr"/>
          <a:lstStyle/>
          <a:p>
            <a:pPr algn="ctr"/>
            <a:endParaRPr/>
          </a:p>
        </p:txBody>
      </p:sp>
      <p:sp>
        <p:nvSpPr>
          <p:cNvPr id="9" name="TextBox 8"/>
          <p:cNvSpPr txBox="1"/>
          <p:nvPr/>
        </p:nvSpPr>
        <p:spPr>
          <a:xfrm>
            <a:off x="1005840" y="3063240"/>
            <a:ext cx="5760720" cy="3291840"/>
          </a:xfrm>
          <a:prstGeom prst="rect">
            <a:avLst/>
          </a:prstGeom>
          <a:noFill/>
        </p:spPr>
        <p:txBody>
          <a:bodyPr wrap="square" lIns="0" tIns="0" rIns="0" bIns="0" anchor="ctr">
            <a:noAutofit/>
          </a:bodyPr>
          <a:lstStyle/>
          <a:p>
            <a:pPr marL="0" indent="0" algn="l">
              <a:lnSpc>
                <a:spcPct val="100000"/>
              </a:lnSpc>
              <a:spcBef>
                <a:spcPts val="0"/>
              </a:spcBef>
              <a:buNone/>
            </a:pPr>
            <a:r>
              <a:rPr lang="en-AU" sz="2000" b="0">
                <a:solidFill>
                  <a:srgbClr val="584099"/>
                </a:solidFill>
                <a:latin typeface="Arial Black"/>
                <a:ea typeface="Arial Black"/>
                <a:cs typeface="Arial Black"/>
              </a:rPr>
              <a:t>Quick review of a visual support</a:t>
            </a:r>
          </a:p>
          <a:p>
            <a:pPr marL="347472" indent="-347472" algn="l">
              <a:lnSpc>
                <a:spcPct val="100000"/>
              </a:lnSpc>
              <a:spcBef>
                <a:spcPts val="800"/>
              </a:spcBef>
              <a:buClr>
                <a:srgbClr val="584099"/>
              </a:buClr>
              <a:buFont typeface="Arial"/>
              <a:buChar char="•"/>
            </a:pPr>
            <a:r>
              <a:rPr lang="en-AU" sz="1800" b="1">
                <a:solidFill>
                  <a:srgbClr val="3D2A6B"/>
                </a:solidFill>
                <a:latin typeface="Arial"/>
                <a:ea typeface="Arial"/>
                <a:cs typeface="Arial"/>
              </a:rPr>
              <a:t>Can the student understand it?</a:t>
            </a:r>
          </a:p>
          <a:p>
            <a:pPr marL="347472" indent="-347472" algn="l">
              <a:lnSpc>
                <a:spcPct val="100000"/>
              </a:lnSpc>
              <a:spcBef>
                <a:spcPts val="400"/>
              </a:spcBef>
              <a:buClr>
                <a:srgbClr val="584099"/>
              </a:buClr>
              <a:buFont typeface="Arial"/>
              <a:buChar char="•"/>
            </a:pPr>
            <a:r>
              <a:rPr lang="en-AU" sz="1800" b="1">
                <a:solidFill>
                  <a:srgbClr val="3D2A6B"/>
                </a:solidFill>
                <a:latin typeface="Arial"/>
                <a:ea typeface="Arial"/>
                <a:cs typeface="Arial"/>
              </a:rPr>
              <a:t>Can they access it when they need it?</a:t>
            </a:r>
          </a:p>
          <a:p>
            <a:pPr marL="347472" indent="-347472" algn="l">
              <a:lnSpc>
                <a:spcPct val="100000"/>
              </a:lnSpc>
              <a:spcBef>
                <a:spcPts val="400"/>
              </a:spcBef>
              <a:buClr>
                <a:srgbClr val="584099"/>
              </a:buClr>
              <a:buFont typeface="Arial"/>
              <a:buChar char="•"/>
            </a:pPr>
            <a:r>
              <a:rPr lang="en-AU" sz="1800" b="1">
                <a:solidFill>
                  <a:srgbClr val="3D2A6B"/>
                </a:solidFill>
                <a:latin typeface="Arial"/>
                <a:ea typeface="Arial"/>
                <a:cs typeface="Arial"/>
              </a:rPr>
              <a:t>Does it reflect what is actually happening, including change?</a:t>
            </a:r>
          </a:p>
          <a:p>
            <a:pPr marL="347472" indent="-347472" algn="l">
              <a:lnSpc>
                <a:spcPct val="100000"/>
              </a:lnSpc>
              <a:spcBef>
                <a:spcPts val="400"/>
              </a:spcBef>
              <a:buClr>
                <a:srgbClr val="584099"/>
              </a:buClr>
              <a:buFont typeface="Arial"/>
              <a:buChar char="•"/>
            </a:pPr>
            <a:r>
              <a:rPr lang="en-AU" sz="1800" b="1">
                <a:solidFill>
                  <a:srgbClr val="3D2A6B"/>
                </a:solidFill>
                <a:latin typeface="Arial"/>
                <a:ea typeface="Arial"/>
                <a:cs typeface="Arial"/>
              </a:rPr>
              <a:t>Does it provide useful information or a way to respond?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C1826-8129-03E6-F590-473183620AB0}"/>
              </a:ext>
            </a:extLst>
          </p:cNvPr>
          <p:cNvSpPr>
            <a:spLocks noGrp="1"/>
          </p:cNvSpPr>
          <p:nvPr>
            <p:ph type="title"/>
          </p:nvPr>
        </p:nvSpPr>
        <p:spPr>
          <a:xfrm>
            <a:off x="685800" y="457200"/>
            <a:ext cx="10789920" cy="777240"/>
          </a:xfrm>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Universal Design for Learning</a:t>
            </a:r>
          </a:p>
        </p:txBody>
      </p:sp>
      <p:sp>
        <p:nvSpPr>
          <p:cNvPr id="6" name="TextBox 5"/>
          <p:cNvSpPr txBox="1"/>
          <p:nvPr/>
        </p:nvSpPr>
        <p:spPr>
          <a:xfrm>
            <a:off x="685800" y="1325880"/>
            <a:ext cx="10789920" cy="548640"/>
          </a:xfrm>
          <a:prstGeom prst="rect">
            <a:avLst/>
          </a:prstGeom>
          <a:noFill/>
        </p:spPr>
        <p:txBody>
          <a:bodyPr wrap="square" lIns="0" tIns="0" rIns="0" bIns="0" anchor="t">
            <a:noAutofit/>
          </a:bodyPr>
          <a:lstStyle/>
          <a:p>
            <a:pPr marL="0" indent="0" algn="l">
              <a:lnSpc>
                <a:spcPct val="100000"/>
              </a:lnSpc>
              <a:spcBef>
                <a:spcPts val="0"/>
              </a:spcBef>
              <a:buNone/>
            </a:pPr>
            <a:r>
              <a:rPr lang="en-AU" sz="2200" b="1">
                <a:solidFill>
                  <a:srgbClr val="3D2A6B"/>
                </a:solidFill>
                <a:latin typeface="Arial"/>
                <a:ea typeface="Arial"/>
                <a:cs typeface="Arial"/>
              </a:rPr>
              <a:t>Apply a Universal Design for Learning lens to the emerging design:</a:t>
            </a:r>
          </a:p>
        </p:txBody>
      </p:sp>
      <p:sp>
        <p:nvSpPr>
          <p:cNvPr id="7" name="Rounded Rectangle 3"/>
          <p:cNvSpPr/>
          <p:nvPr/>
        </p:nvSpPr>
        <p:spPr>
          <a:xfrm>
            <a:off x="685800" y="2103120"/>
            <a:ext cx="3456432" cy="2194560"/>
          </a:xfrm>
          <a:prstGeom prst="roundRect">
            <a:avLst>
              <a:gd name="adj" fmla="val 12000"/>
            </a:avLst>
          </a:prstGeom>
          <a:solidFill>
            <a:srgbClr val="F3F0FA"/>
          </a:solidFill>
          <a:ln>
            <a:noFill/>
          </a:ln>
        </p:spPr>
        <p:txBody>
          <a:bodyPr rtlCol="0" anchor="ctr"/>
          <a:lstStyle/>
          <a:p>
            <a:pPr algn="ctr"/>
            <a:endParaRPr/>
          </a:p>
        </p:txBody>
      </p:sp>
      <p:sp>
        <p:nvSpPr>
          <p:cNvPr id="8" name="TextBox 4"/>
          <p:cNvSpPr txBox="1"/>
          <p:nvPr/>
        </p:nvSpPr>
        <p:spPr>
          <a:xfrm>
            <a:off x="960120" y="2103120"/>
            <a:ext cx="2907792" cy="2194560"/>
          </a:xfrm>
          <a:prstGeom prst="rect">
            <a:avLst/>
          </a:prstGeom>
          <a:noFill/>
        </p:spPr>
        <p:txBody>
          <a:bodyPr wrap="square" lIns="0" tIns="0" rIns="0" bIns="0" anchor="ctr">
            <a:noAutofit/>
          </a:bodyPr>
          <a:lstStyle/>
          <a:p>
            <a:pPr marL="0" indent="0" algn="l">
              <a:lnSpc>
                <a:spcPct val="100000"/>
              </a:lnSpc>
              <a:spcBef>
                <a:spcPts val="0"/>
              </a:spcBef>
              <a:buNone/>
            </a:pPr>
            <a:r>
              <a:rPr lang="en-AU" sz="2200" b="1">
                <a:solidFill>
                  <a:srgbClr val="3D2A6B"/>
                </a:solidFill>
                <a:latin typeface="Arial"/>
                <a:ea typeface="Arial"/>
                <a:cs typeface="Arial"/>
              </a:rPr>
              <a:t>Make important information clear and available</a:t>
            </a:r>
          </a:p>
        </p:txBody>
      </p:sp>
      <p:sp>
        <p:nvSpPr>
          <p:cNvPr id="9" name="Rounded Rectangle 3"/>
          <p:cNvSpPr/>
          <p:nvPr/>
        </p:nvSpPr>
        <p:spPr>
          <a:xfrm>
            <a:off x="4370832" y="2103120"/>
            <a:ext cx="3456432" cy="2194560"/>
          </a:xfrm>
          <a:prstGeom prst="roundRect">
            <a:avLst>
              <a:gd name="adj" fmla="val 12000"/>
            </a:avLst>
          </a:prstGeom>
          <a:solidFill>
            <a:srgbClr val="F3F0FA"/>
          </a:solidFill>
          <a:ln>
            <a:noFill/>
          </a:ln>
        </p:spPr>
        <p:txBody>
          <a:bodyPr rtlCol="0" anchor="ctr"/>
          <a:lstStyle/>
          <a:p>
            <a:pPr algn="ctr"/>
            <a:endParaRPr/>
          </a:p>
        </p:txBody>
      </p:sp>
      <p:sp>
        <p:nvSpPr>
          <p:cNvPr id="10" name="TextBox 4"/>
          <p:cNvSpPr txBox="1"/>
          <p:nvPr/>
        </p:nvSpPr>
        <p:spPr>
          <a:xfrm>
            <a:off x="4645152" y="2103120"/>
            <a:ext cx="2907792" cy="2194560"/>
          </a:xfrm>
          <a:prstGeom prst="rect">
            <a:avLst/>
          </a:prstGeom>
          <a:noFill/>
        </p:spPr>
        <p:txBody>
          <a:bodyPr wrap="square" lIns="0" tIns="0" rIns="0" bIns="0" anchor="ctr">
            <a:noAutofit/>
          </a:bodyPr>
          <a:lstStyle/>
          <a:p>
            <a:pPr marL="0" indent="0" algn="l">
              <a:lnSpc>
                <a:spcPct val="100000"/>
              </a:lnSpc>
              <a:spcBef>
                <a:spcPts val="0"/>
              </a:spcBef>
              <a:buNone/>
            </a:pPr>
            <a:r>
              <a:rPr lang="en-AU" sz="2200" b="1">
                <a:solidFill>
                  <a:srgbClr val="3D2A6B"/>
                </a:solidFill>
                <a:latin typeface="Arial"/>
                <a:ea typeface="Arial"/>
                <a:cs typeface="Arial"/>
              </a:rPr>
              <a:t>Offer workable ways to participate and respond</a:t>
            </a:r>
          </a:p>
        </p:txBody>
      </p:sp>
      <p:sp>
        <p:nvSpPr>
          <p:cNvPr id="11" name="Rounded Rectangle 3"/>
          <p:cNvSpPr/>
          <p:nvPr/>
        </p:nvSpPr>
        <p:spPr>
          <a:xfrm>
            <a:off x="8055864" y="2103120"/>
            <a:ext cx="3456432" cy="2194560"/>
          </a:xfrm>
          <a:prstGeom prst="roundRect">
            <a:avLst>
              <a:gd name="adj" fmla="val 12000"/>
            </a:avLst>
          </a:prstGeom>
          <a:solidFill>
            <a:srgbClr val="F3F0FA"/>
          </a:solidFill>
          <a:ln>
            <a:noFill/>
          </a:ln>
        </p:spPr>
        <p:txBody>
          <a:bodyPr rtlCol="0" anchor="ctr"/>
          <a:lstStyle/>
          <a:p>
            <a:pPr algn="ctr"/>
            <a:endParaRPr/>
          </a:p>
        </p:txBody>
      </p:sp>
      <p:sp>
        <p:nvSpPr>
          <p:cNvPr id="12" name="TextBox 4"/>
          <p:cNvSpPr txBox="1"/>
          <p:nvPr/>
        </p:nvSpPr>
        <p:spPr>
          <a:xfrm>
            <a:off x="8330184" y="2103120"/>
            <a:ext cx="2907792" cy="2194560"/>
          </a:xfrm>
          <a:prstGeom prst="rect">
            <a:avLst/>
          </a:prstGeom>
          <a:noFill/>
        </p:spPr>
        <p:txBody>
          <a:bodyPr wrap="square" lIns="0" tIns="0" rIns="0" bIns="0" anchor="ctr">
            <a:noAutofit/>
          </a:bodyPr>
          <a:lstStyle/>
          <a:p>
            <a:pPr marL="0" indent="0" algn="l">
              <a:lnSpc>
                <a:spcPct val="100000"/>
              </a:lnSpc>
              <a:spcBef>
                <a:spcPts val="0"/>
              </a:spcBef>
              <a:buNone/>
            </a:pPr>
            <a:r>
              <a:rPr lang="en-AU" sz="2200" b="1">
                <a:solidFill>
                  <a:srgbClr val="3D2A6B"/>
                </a:solidFill>
                <a:latin typeface="Arial"/>
                <a:ea typeface="Arial"/>
                <a:cs typeface="Arial"/>
              </a:rPr>
              <a:t>Support engagement without removing meaningful challenge</a:t>
            </a:r>
          </a:p>
        </p:txBody>
      </p:sp>
      <p:sp>
        <p:nvSpPr>
          <p:cNvPr id="13" name="Rounded Rectangle 15"/>
          <p:cNvSpPr/>
          <p:nvPr/>
        </p:nvSpPr>
        <p:spPr>
          <a:xfrm>
            <a:off x="685800" y="4663440"/>
            <a:ext cx="10817352" cy="685800"/>
          </a:xfrm>
          <a:prstGeom prst="roundRect">
            <a:avLst>
              <a:gd name="adj" fmla="val 50000"/>
            </a:avLst>
          </a:prstGeom>
          <a:solidFill>
            <a:srgbClr val="FFFFFF"/>
          </a:solidFill>
          <a:ln w="19050">
            <a:solidFill>
              <a:srgbClr val="584099"/>
            </a:solidFill>
          </a:ln>
        </p:spPr>
        <p:txBody>
          <a:bodyPr rtlCol="0" anchor="ctr"/>
          <a:lstStyle/>
          <a:p>
            <a:pPr algn="ctr"/>
          </a:p>
        </p:txBody>
      </p:sp>
      <p:sp>
        <p:nvSpPr>
          <p:cNvPr id="14" name="TextBox 16"/>
          <p:cNvSpPr txBox="1"/>
          <p:nvPr/>
        </p:nvSpPr>
        <p:spPr>
          <a:xfrm>
            <a:off x="960120" y="4663440"/>
            <a:ext cx="10268712" cy="685800"/>
          </a:xfrm>
          <a:prstGeom prst="rect">
            <a:avLst/>
          </a:prstGeom>
          <a:noFill/>
        </p:spPr>
        <p:txBody>
          <a:bodyPr wrap="square" lIns="0" rIns="0" tIns="0" bIns="0" anchor="ctr">
            <a:noAutofit/>
          </a:bodyPr>
          <a:lstStyle/>
          <a:p>
            <a:pPr algn="ctr" marL="0" indent="0">
              <a:lnSpc>
                <a:spcPct val="100000"/>
              </a:lnSpc>
              <a:spcBef>
                <a:spcPts val="0"/>
              </a:spcBef>
              <a:buNone/>
            </a:pPr>
            <a:r>
              <a:rPr lang="en-AU" sz="2000" b="1">
                <a:solidFill>
                  <a:srgbClr val="584099"/>
                </a:solidFill>
                <a:latin typeface="Arial"/>
                <a:ea typeface="Arial"/>
                <a:cs typeface="Arial"/>
              </a:rPr>
              <a:t>Individual knowledge and universal design can inform each other.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Accessibility check</a:t>
            </a:r>
          </a:p>
        </p:txBody>
      </p:sp>
      <p:sp>
        <p:nvSpPr>
          <p:cNvPr id="3" name="TextBox 2"/>
          <p:cNvSpPr txBox="1"/>
          <p:nvPr/>
        </p:nvSpPr>
        <p:spPr>
          <a:xfrm>
            <a:off x="685800" y="1325880"/>
            <a:ext cx="10789920" cy="548640"/>
          </a:xfrm>
          <a:prstGeom prst="rect">
            <a:avLst/>
          </a:prstGeom>
          <a:noFill/>
        </p:spPr>
        <p:txBody>
          <a:bodyPr wrap="square" lIns="0" tIns="0" rIns="0" bIns="0" anchor="t">
            <a:noAutofit/>
          </a:bodyPr>
          <a:lstStyle/>
          <a:p>
            <a:pPr marL="0" indent="0" algn="l">
              <a:lnSpc>
                <a:spcPct val="100000"/>
              </a:lnSpc>
              <a:spcBef>
                <a:spcPts val="0"/>
              </a:spcBef>
              <a:buNone/>
            </a:pPr>
            <a:r>
              <a:rPr lang="en-AU" sz="2000" b="1">
                <a:solidFill>
                  <a:srgbClr val="3D2A6B"/>
                </a:solidFill>
                <a:latin typeface="Arial"/>
                <a:ea typeface="Arial"/>
                <a:cs typeface="Arial"/>
              </a:rPr>
              <a:t>Run these over your draft design, then test it through use and feedback.</a:t>
            </a:r>
          </a:p>
        </p:txBody>
      </p:sp>
      <p:sp>
        <p:nvSpPr>
          <p:cNvPr id="4" name="Rounded Rectangle 3"/>
          <p:cNvSpPr/>
          <p:nvPr/>
        </p:nvSpPr>
        <p:spPr>
          <a:xfrm>
            <a:off x="685800" y="2011680"/>
            <a:ext cx="10820095" cy="822960"/>
          </a:xfrm>
          <a:prstGeom prst="roundRect">
            <a:avLst>
              <a:gd name="adj" fmla="val 25000"/>
            </a:avLst>
          </a:prstGeom>
          <a:solidFill>
            <a:srgbClr val="F3F0FA"/>
          </a:solidFill>
          <a:ln>
            <a:noFill/>
          </a:ln>
        </p:spPr>
        <p:txBody>
          <a:bodyPr rtlCol="0" anchor="ctr"/>
          <a:lstStyle/>
          <a:p>
            <a:pPr algn="ctr"/>
            <a:endParaRPr/>
          </a:p>
        </p:txBody>
      </p:sp>
      <p:sp>
        <p:nvSpPr>
          <p:cNvPr id="5" name="Oval 4"/>
          <p:cNvSpPr/>
          <p:nvPr/>
        </p:nvSpPr>
        <p:spPr>
          <a:xfrm>
            <a:off x="914400" y="2194560"/>
            <a:ext cx="457200" cy="457200"/>
          </a:xfrm>
          <a:prstGeom prst="ellipse">
            <a:avLst/>
          </a:prstGeom>
          <a:solidFill>
            <a:srgbClr val="FFFFFF"/>
          </a:solidFill>
          <a:ln w="25400">
            <a:solidFill>
              <a:srgbClr val="584099"/>
            </a:solidFill>
          </a:ln>
        </p:spPr>
        <p:txBody>
          <a:bodyPr rtlCol="0" anchor="ctr"/>
          <a:lstStyle/>
          <a:p>
            <a:pPr algn="ctr"/>
            <a:endParaRPr/>
          </a:p>
        </p:txBody>
      </p:sp>
      <p:sp>
        <p:nvSpPr>
          <p:cNvPr id="6" name="TextBox 5"/>
          <p:cNvSpPr txBox="1"/>
          <p:nvPr/>
        </p:nvSpPr>
        <p:spPr>
          <a:xfrm>
            <a:off x="1600200" y="2011680"/>
            <a:ext cx="9601200" cy="822960"/>
          </a:xfrm>
          <a:prstGeom prst="rect">
            <a:avLst/>
          </a:prstGeom>
          <a:noFill/>
        </p:spPr>
        <p:txBody>
          <a:bodyPr wrap="square" lIns="0" tIns="0" rIns="0" bIns="0" anchor="ctr">
            <a:noAutofit/>
          </a:bodyPr>
          <a:lstStyle/>
          <a:p>
            <a:pPr marL="0" indent="0" algn="l">
              <a:lnSpc>
                <a:spcPct val="100000"/>
              </a:lnSpc>
              <a:spcBef>
                <a:spcPts val="0"/>
              </a:spcBef>
              <a:buNone/>
            </a:pPr>
            <a:r>
              <a:rPr lang="en-AU" sz="2100" b="1">
                <a:solidFill>
                  <a:srgbClr val="3D2A6B"/>
                </a:solidFill>
                <a:latin typeface="Arial"/>
                <a:ea typeface="Arial"/>
                <a:cs typeface="Arial"/>
              </a:rPr>
              <a:t>Can students find and understand what they need?</a:t>
            </a:r>
          </a:p>
        </p:txBody>
      </p:sp>
      <p:sp>
        <p:nvSpPr>
          <p:cNvPr id="7" name="Rounded Rectangle 6"/>
          <p:cNvSpPr/>
          <p:nvPr/>
        </p:nvSpPr>
        <p:spPr>
          <a:xfrm>
            <a:off x="685800" y="3017520"/>
            <a:ext cx="10820095" cy="822960"/>
          </a:xfrm>
          <a:prstGeom prst="roundRect">
            <a:avLst>
              <a:gd name="adj" fmla="val 25000"/>
            </a:avLst>
          </a:prstGeom>
          <a:solidFill>
            <a:srgbClr val="F3F0FA"/>
          </a:solidFill>
          <a:ln>
            <a:noFill/>
          </a:ln>
        </p:spPr>
        <p:txBody>
          <a:bodyPr rtlCol="0" anchor="ctr"/>
          <a:lstStyle/>
          <a:p>
            <a:pPr algn="ctr"/>
            <a:endParaRPr/>
          </a:p>
        </p:txBody>
      </p:sp>
      <p:sp>
        <p:nvSpPr>
          <p:cNvPr id="8" name="Oval 7"/>
          <p:cNvSpPr/>
          <p:nvPr/>
        </p:nvSpPr>
        <p:spPr>
          <a:xfrm>
            <a:off x="914400" y="3200400"/>
            <a:ext cx="457200" cy="457200"/>
          </a:xfrm>
          <a:prstGeom prst="ellipse">
            <a:avLst/>
          </a:prstGeom>
          <a:solidFill>
            <a:srgbClr val="FFFFFF"/>
          </a:solidFill>
          <a:ln w="25400">
            <a:solidFill>
              <a:srgbClr val="584099"/>
            </a:solidFill>
          </a:ln>
        </p:spPr>
        <p:txBody>
          <a:bodyPr rtlCol="0" anchor="ctr"/>
          <a:lstStyle/>
          <a:p>
            <a:pPr algn="ctr"/>
            <a:endParaRPr/>
          </a:p>
        </p:txBody>
      </p:sp>
      <p:sp>
        <p:nvSpPr>
          <p:cNvPr id="9" name="TextBox 8"/>
          <p:cNvSpPr txBox="1"/>
          <p:nvPr/>
        </p:nvSpPr>
        <p:spPr>
          <a:xfrm>
            <a:off x="1600200" y="3017520"/>
            <a:ext cx="9601200" cy="822960"/>
          </a:xfrm>
          <a:prstGeom prst="rect">
            <a:avLst/>
          </a:prstGeom>
          <a:noFill/>
        </p:spPr>
        <p:txBody>
          <a:bodyPr wrap="square" lIns="0" tIns="0" rIns="0" bIns="0" anchor="ctr">
            <a:noAutofit/>
          </a:bodyPr>
          <a:lstStyle/>
          <a:p>
            <a:pPr marL="0" indent="0" algn="l">
              <a:lnSpc>
                <a:spcPct val="100000"/>
              </a:lnSpc>
              <a:spcBef>
                <a:spcPts val="0"/>
              </a:spcBef>
              <a:buNone/>
            </a:pPr>
            <a:r>
              <a:rPr lang="en-AU" sz="2100" b="1">
                <a:solidFill>
                  <a:srgbClr val="3D2A6B"/>
                </a:solidFill>
                <a:latin typeface="Arial"/>
                <a:ea typeface="Arial"/>
                <a:cs typeface="Arial"/>
              </a:rPr>
              <a:t>Can they take part in more than one way?</a:t>
            </a:r>
          </a:p>
        </p:txBody>
      </p:sp>
      <p:sp>
        <p:nvSpPr>
          <p:cNvPr id="10" name="Rounded Rectangle 9"/>
          <p:cNvSpPr/>
          <p:nvPr/>
        </p:nvSpPr>
        <p:spPr>
          <a:xfrm>
            <a:off x="685800" y="4023360"/>
            <a:ext cx="10820095" cy="822960"/>
          </a:xfrm>
          <a:prstGeom prst="roundRect">
            <a:avLst>
              <a:gd name="adj" fmla="val 25000"/>
            </a:avLst>
          </a:prstGeom>
          <a:solidFill>
            <a:srgbClr val="F3F0FA"/>
          </a:solidFill>
          <a:ln>
            <a:noFill/>
          </a:ln>
        </p:spPr>
        <p:txBody>
          <a:bodyPr rtlCol="0" anchor="ctr"/>
          <a:lstStyle/>
          <a:p>
            <a:pPr algn="ctr"/>
            <a:endParaRPr/>
          </a:p>
        </p:txBody>
      </p:sp>
      <p:sp>
        <p:nvSpPr>
          <p:cNvPr id="11" name="Oval 10"/>
          <p:cNvSpPr/>
          <p:nvPr/>
        </p:nvSpPr>
        <p:spPr>
          <a:xfrm>
            <a:off x="914400" y="4206240"/>
            <a:ext cx="457200" cy="457200"/>
          </a:xfrm>
          <a:prstGeom prst="ellipse">
            <a:avLst/>
          </a:prstGeom>
          <a:solidFill>
            <a:srgbClr val="FFFFFF"/>
          </a:solidFill>
          <a:ln w="25400">
            <a:solidFill>
              <a:srgbClr val="584099"/>
            </a:solidFill>
          </a:ln>
        </p:spPr>
        <p:txBody>
          <a:bodyPr rtlCol="0" anchor="ctr"/>
          <a:lstStyle/>
          <a:p>
            <a:pPr algn="ctr"/>
            <a:endParaRPr/>
          </a:p>
        </p:txBody>
      </p:sp>
      <p:sp>
        <p:nvSpPr>
          <p:cNvPr id="12" name="TextBox 11"/>
          <p:cNvSpPr txBox="1"/>
          <p:nvPr/>
        </p:nvSpPr>
        <p:spPr>
          <a:xfrm>
            <a:off x="1600200" y="4023360"/>
            <a:ext cx="9601200" cy="822960"/>
          </a:xfrm>
          <a:prstGeom prst="rect">
            <a:avLst/>
          </a:prstGeom>
          <a:noFill/>
        </p:spPr>
        <p:txBody>
          <a:bodyPr wrap="square" lIns="0" tIns="0" rIns="0" bIns="0" anchor="ctr">
            <a:noAutofit/>
          </a:bodyPr>
          <a:lstStyle/>
          <a:p>
            <a:pPr marL="0" indent="0" algn="l">
              <a:lnSpc>
                <a:spcPct val="100000"/>
              </a:lnSpc>
              <a:spcBef>
                <a:spcPts val="0"/>
              </a:spcBef>
              <a:buNone/>
            </a:pPr>
            <a:r>
              <a:rPr lang="en-AU" sz="2100" b="1">
                <a:solidFill>
                  <a:srgbClr val="3D2A6B"/>
                </a:solidFill>
                <a:latin typeface="Arial"/>
                <a:ea typeface="Arial"/>
                <a:cs typeface="Arial"/>
              </a:rPr>
              <a:t>Can they pause, ask for help or recover?</a:t>
            </a:r>
          </a:p>
        </p:txBody>
      </p:sp>
      <p:sp>
        <p:nvSpPr>
          <p:cNvPr id="13" name="Rounded Rectangle 12"/>
          <p:cNvSpPr/>
          <p:nvPr/>
        </p:nvSpPr>
        <p:spPr>
          <a:xfrm>
            <a:off x="685800" y="5029200"/>
            <a:ext cx="10820095" cy="822960"/>
          </a:xfrm>
          <a:prstGeom prst="roundRect">
            <a:avLst>
              <a:gd name="adj" fmla="val 25000"/>
            </a:avLst>
          </a:prstGeom>
          <a:solidFill>
            <a:srgbClr val="F3F0FA"/>
          </a:solidFill>
          <a:ln>
            <a:noFill/>
          </a:ln>
        </p:spPr>
        <p:txBody>
          <a:bodyPr rtlCol="0" anchor="ctr"/>
          <a:lstStyle/>
          <a:p>
            <a:pPr algn="ctr"/>
            <a:endParaRPr/>
          </a:p>
        </p:txBody>
      </p:sp>
      <p:sp>
        <p:nvSpPr>
          <p:cNvPr id="14" name="Oval 13"/>
          <p:cNvSpPr/>
          <p:nvPr/>
        </p:nvSpPr>
        <p:spPr>
          <a:xfrm>
            <a:off x="914400" y="5212080"/>
            <a:ext cx="457200" cy="457200"/>
          </a:xfrm>
          <a:prstGeom prst="ellipse">
            <a:avLst/>
          </a:prstGeom>
          <a:solidFill>
            <a:srgbClr val="FFFFFF"/>
          </a:solidFill>
          <a:ln w="25400">
            <a:solidFill>
              <a:srgbClr val="584099"/>
            </a:solidFill>
          </a:ln>
        </p:spPr>
        <p:txBody>
          <a:bodyPr rtlCol="0" anchor="ctr"/>
          <a:lstStyle/>
          <a:p>
            <a:pPr algn="ctr"/>
            <a:endParaRPr/>
          </a:p>
        </p:txBody>
      </p:sp>
      <p:sp>
        <p:nvSpPr>
          <p:cNvPr id="15" name="TextBox 14"/>
          <p:cNvSpPr txBox="1"/>
          <p:nvPr/>
        </p:nvSpPr>
        <p:spPr>
          <a:xfrm>
            <a:off x="1600200" y="5029200"/>
            <a:ext cx="9601200" cy="822960"/>
          </a:xfrm>
          <a:prstGeom prst="rect">
            <a:avLst/>
          </a:prstGeom>
          <a:noFill/>
        </p:spPr>
        <p:txBody>
          <a:bodyPr wrap="square" lIns="0" tIns="0" rIns="0" bIns="0" anchor="ctr">
            <a:noAutofit/>
          </a:bodyPr>
          <a:lstStyle/>
          <a:p>
            <a:pPr marL="0" indent="0" algn="l">
              <a:lnSpc>
                <a:spcPct val="100000"/>
              </a:lnSpc>
              <a:spcBef>
                <a:spcPts val="0"/>
              </a:spcBef>
              <a:buNone/>
            </a:pPr>
            <a:r>
              <a:rPr lang="en-AU" sz="2100" b="1">
                <a:solidFill>
                  <a:srgbClr val="3D2A6B"/>
                </a:solidFill>
                <a:latin typeface="Arial"/>
                <a:ea typeface="Arial"/>
                <a:cs typeface="Arial"/>
              </a:rPr>
              <a:t>Is the support available when demand increases?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Finish your design</a:t>
            </a:r>
          </a:p>
        </p:txBody>
      </p:sp>
      <p:sp>
        <p:nvSpPr>
          <p:cNvPr id="3" name="TextBox 2"/>
          <p:cNvSpPr txBox="1"/>
          <p:nvPr/>
        </p:nvSpPr>
        <p:spPr>
          <a:xfrm>
            <a:off x="685800" y="1325880"/>
            <a:ext cx="10789920" cy="548640"/>
          </a:xfrm>
          <a:prstGeom prst="rect">
            <a:avLst/>
          </a:prstGeom>
          <a:noFill/>
        </p:spPr>
        <p:txBody>
          <a:bodyPr wrap="square" lIns="0" tIns="0" rIns="0" bIns="0" anchor="t">
            <a:noAutofit/>
          </a:bodyPr>
          <a:lstStyle/>
          <a:p>
            <a:pPr marL="0" indent="0" algn="l">
              <a:lnSpc>
                <a:spcPct val="100000"/>
              </a:lnSpc>
              <a:spcBef>
                <a:spcPts val="0"/>
              </a:spcBef>
              <a:buNone/>
            </a:pPr>
            <a:r>
              <a:rPr lang="en-AU" sz="2200" b="1">
                <a:solidFill>
                  <a:srgbClr val="3D2A6B"/>
                </a:solidFill>
                <a:latin typeface="Arial"/>
                <a:ea typeface="Arial"/>
                <a:cs typeface="Arial"/>
              </a:rPr>
              <a:t>Develop the change in your Participant Guide.</a:t>
            </a:r>
          </a:p>
        </p:txBody>
      </p:sp>
      <p:sp>
        <p:nvSpPr>
          <p:cNvPr id="4" name="Rounded Rectangle 3"/>
          <p:cNvSpPr/>
          <p:nvPr/>
        </p:nvSpPr>
        <p:spPr>
          <a:xfrm>
            <a:off x="685800" y="1920240"/>
            <a:ext cx="10820095" cy="640080"/>
          </a:xfrm>
          <a:prstGeom prst="roundRect">
            <a:avLst>
              <a:gd name="adj" fmla="val 30000"/>
            </a:avLst>
          </a:prstGeom>
          <a:solidFill>
            <a:srgbClr val="F3F0FA"/>
          </a:solidFill>
          <a:ln>
            <a:noFill/>
          </a:ln>
        </p:spPr>
        <p:txBody>
          <a:bodyPr rtlCol="0" anchor="ctr"/>
          <a:lstStyle/>
          <a:p>
            <a:pPr algn="ctr"/>
            <a:endParaRPr/>
          </a:p>
        </p:txBody>
      </p:sp>
      <p:sp>
        <p:nvSpPr>
          <p:cNvPr id="5" name="Oval 4"/>
          <p:cNvSpPr/>
          <p:nvPr/>
        </p:nvSpPr>
        <p:spPr>
          <a:xfrm>
            <a:off x="850392" y="2011680"/>
            <a:ext cx="457200" cy="457200"/>
          </a:xfrm>
          <a:prstGeom prst="ellipse">
            <a:avLst/>
          </a:prstGeom>
          <a:solidFill>
            <a:srgbClr val="FFFFFF"/>
          </a:solidFill>
          <a:ln w="25400">
            <a:solidFill>
              <a:srgbClr val="584099"/>
            </a:solidFill>
          </a:ln>
        </p:spPr>
        <p:txBody>
          <a:bodyPr rtlCol="0" anchor="ctr"/>
          <a:lstStyle/>
          <a:p>
            <a:pPr algn="ctr"/>
            <a:endParaRPr/>
          </a:p>
        </p:txBody>
      </p:sp>
      <p:sp>
        <p:nvSpPr>
          <p:cNvPr id="6" name="TextBox 5"/>
          <p:cNvSpPr txBox="1"/>
          <p:nvPr/>
        </p:nvSpPr>
        <p:spPr>
          <a:xfrm>
            <a:off x="850392" y="2011680"/>
            <a:ext cx="457200" cy="457200"/>
          </a:xfrm>
          <a:prstGeom prst="rect">
            <a:avLst/>
          </a:prstGeom>
          <a:noFill/>
        </p:spPr>
        <p:txBody>
          <a:bodyPr wrap="square" lIns="0" tIns="0" rIns="0" bIns="0" anchor="ctr">
            <a:noAutofit/>
          </a:bodyPr>
          <a:lstStyle/>
          <a:p>
            <a:pPr marL="0" indent="0" algn="ctr">
              <a:lnSpc>
                <a:spcPct val="100000"/>
              </a:lnSpc>
              <a:spcBef>
                <a:spcPts val="0"/>
              </a:spcBef>
              <a:buNone/>
            </a:pPr>
            <a:r>
              <a:rPr lang="en-AU" sz="1600" b="0">
                <a:solidFill>
                  <a:srgbClr val="584099"/>
                </a:solidFill>
                <a:latin typeface="Arial Black"/>
                <a:ea typeface="Arial Black"/>
                <a:cs typeface="Arial Black"/>
              </a:rPr>
              <a:t>1</a:t>
            </a:r>
          </a:p>
        </p:txBody>
      </p:sp>
      <p:sp>
        <p:nvSpPr>
          <p:cNvPr id="7" name="TextBox 6"/>
          <p:cNvSpPr txBox="1"/>
          <p:nvPr/>
        </p:nvSpPr>
        <p:spPr>
          <a:xfrm>
            <a:off x="1554480" y="1920240"/>
            <a:ext cx="9692640" cy="640080"/>
          </a:xfrm>
          <a:prstGeom prst="rect">
            <a:avLst/>
          </a:prstGeom>
          <a:noFill/>
        </p:spPr>
        <p:txBody>
          <a:bodyPr wrap="square" lIns="0" tIns="0" rIns="0" bIns="0" anchor="ctr">
            <a:noAutofit/>
          </a:bodyPr>
          <a:lstStyle/>
          <a:p>
            <a:pPr marL="0" indent="0" algn="l">
              <a:lnSpc>
                <a:spcPct val="100000"/>
              </a:lnSpc>
              <a:spcBef>
                <a:spcPts val="0"/>
              </a:spcBef>
              <a:buNone/>
            </a:pPr>
            <a:r>
              <a:rPr lang="en-AU" sz="2000" b="1">
                <a:solidFill>
                  <a:srgbClr val="3D2A6B"/>
                </a:solidFill>
                <a:latin typeface="Arial"/>
                <a:ea typeface="Arial"/>
                <a:cs typeface="Arial"/>
              </a:rPr>
              <a:t>State the barrier or unnecessary demand.</a:t>
            </a:r>
          </a:p>
        </p:txBody>
      </p:sp>
      <p:sp>
        <p:nvSpPr>
          <p:cNvPr id="8" name="Rounded Rectangle 7"/>
          <p:cNvSpPr/>
          <p:nvPr/>
        </p:nvSpPr>
        <p:spPr>
          <a:xfrm>
            <a:off x="685800" y="2679192"/>
            <a:ext cx="10820095" cy="640080"/>
          </a:xfrm>
          <a:prstGeom prst="roundRect">
            <a:avLst>
              <a:gd name="adj" fmla="val 30000"/>
            </a:avLst>
          </a:prstGeom>
          <a:solidFill>
            <a:srgbClr val="F3F0FA"/>
          </a:solidFill>
          <a:ln>
            <a:noFill/>
          </a:ln>
        </p:spPr>
        <p:txBody>
          <a:bodyPr rtlCol="0" anchor="ctr"/>
          <a:lstStyle/>
          <a:p>
            <a:pPr algn="ctr"/>
            <a:endParaRPr/>
          </a:p>
        </p:txBody>
      </p:sp>
      <p:sp>
        <p:nvSpPr>
          <p:cNvPr id="9" name="Oval 8"/>
          <p:cNvSpPr/>
          <p:nvPr/>
        </p:nvSpPr>
        <p:spPr>
          <a:xfrm>
            <a:off x="850392" y="2770632"/>
            <a:ext cx="457200" cy="457200"/>
          </a:xfrm>
          <a:prstGeom prst="ellipse">
            <a:avLst/>
          </a:prstGeom>
          <a:solidFill>
            <a:srgbClr val="FFFFFF"/>
          </a:solidFill>
          <a:ln w="25400">
            <a:solidFill>
              <a:srgbClr val="584099"/>
            </a:solidFill>
          </a:ln>
        </p:spPr>
        <p:txBody>
          <a:bodyPr rtlCol="0" anchor="ctr"/>
          <a:lstStyle/>
          <a:p>
            <a:pPr algn="ctr"/>
            <a:endParaRPr/>
          </a:p>
        </p:txBody>
      </p:sp>
      <p:sp>
        <p:nvSpPr>
          <p:cNvPr id="10" name="TextBox 9"/>
          <p:cNvSpPr txBox="1"/>
          <p:nvPr/>
        </p:nvSpPr>
        <p:spPr>
          <a:xfrm>
            <a:off x="850392" y="2770632"/>
            <a:ext cx="457200" cy="457200"/>
          </a:xfrm>
          <a:prstGeom prst="rect">
            <a:avLst/>
          </a:prstGeom>
          <a:noFill/>
        </p:spPr>
        <p:txBody>
          <a:bodyPr wrap="square" lIns="0" tIns="0" rIns="0" bIns="0" anchor="ctr">
            <a:noAutofit/>
          </a:bodyPr>
          <a:lstStyle/>
          <a:p>
            <a:pPr marL="0" indent="0" algn="ctr">
              <a:lnSpc>
                <a:spcPct val="100000"/>
              </a:lnSpc>
              <a:spcBef>
                <a:spcPts val="0"/>
              </a:spcBef>
              <a:buNone/>
            </a:pPr>
            <a:r>
              <a:rPr lang="en-AU" sz="1600" b="0">
                <a:solidFill>
                  <a:srgbClr val="584099"/>
                </a:solidFill>
                <a:latin typeface="Arial Black"/>
                <a:ea typeface="Arial Black"/>
                <a:cs typeface="Arial Black"/>
              </a:rPr>
              <a:t>2</a:t>
            </a:r>
          </a:p>
        </p:txBody>
      </p:sp>
      <p:sp>
        <p:nvSpPr>
          <p:cNvPr id="11" name="TextBox 10"/>
          <p:cNvSpPr txBox="1"/>
          <p:nvPr/>
        </p:nvSpPr>
        <p:spPr>
          <a:xfrm>
            <a:off x="1554480" y="2679192"/>
            <a:ext cx="9692640" cy="640080"/>
          </a:xfrm>
          <a:prstGeom prst="rect">
            <a:avLst/>
          </a:prstGeom>
          <a:noFill/>
        </p:spPr>
        <p:txBody>
          <a:bodyPr wrap="square" lIns="0" tIns="0" rIns="0" bIns="0" anchor="ctr">
            <a:noAutofit/>
          </a:bodyPr>
          <a:lstStyle/>
          <a:p>
            <a:pPr marL="0" indent="0" algn="l">
              <a:lnSpc>
                <a:spcPct val="100000"/>
              </a:lnSpc>
              <a:spcBef>
                <a:spcPts val="0"/>
              </a:spcBef>
              <a:buNone/>
            </a:pPr>
            <a:r>
              <a:rPr lang="en-AU" sz="2000" b="1">
                <a:solidFill>
                  <a:srgbClr val="3D2A6B"/>
                </a:solidFill>
                <a:latin typeface="Arial"/>
                <a:ea typeface="Arial"/>
                <a:cs typeface="Arial"/>
              </a:rPr>
              <a:t>Change the environment, task or routine.</a:t>
            </a:r>
          </a:p>
        </p:txBody>
      </p:sp>
      <p:sp>
        <p:nvSpPr>
          <p:cNvPr id="12" name="Rounded Rectangle 11"/>
          <p:cNvSpPr/>
          <p:nvPr/>
        </p:nvSpPr>
        <p:spPr>
          <a:xfrm>
            <a:off x="685800" y="3438144"/>
            <a:ext cx="10820095" cy="640080"/>
          </a:xfrm>
          <a:prstGeom prst="roundRect">
            <a:avLst>
              <a:gd name="adj" fmla="val 30000"/>
            </a:avLst>
          </a:prstGeom>
          <a:solidFill>
            <a:srgbClr val="F3F0FA"/>
          </a:solidFill>
          <a:ln>
            <a:noFill/>
          </a:ln>
        </p:spPr>
        <p:txBody>
          <a:bodyPr rtlCol="0" anchor="ctr"/>
          <a:lstStyle/>
          <a:p>
            <a:pPr algn="ctr"/>
            <a:endParaRPr/>
          </a:p>
        </p:txBody>
      </p:sp>
      <p:sp>
        <p:nvSpPr>
          <p:cNvPr id="13" name="Oval 12"/>
          <p:cNvSpPr/>
          <p:nvPr/>
        </p:nvSpPr>
        <p:spPr>
          <a:xfrm>
            <a:off x="850392" y="3529584"/>
            <a:ext cx="457200" cy="457200"/>
          </a:xfrm>
          <a:prstGeom prst="ellipse">
            <a:avLst/>
          </a:prstGeom>
          <a:solidFill>
            <a:srgbClr val="FFFFFF"/>
          </a:solidFill>
          <a:ln w="25400">
            <a:solidFill>
              <a:srgbClr val="584099"/>
            </a:solidFill>
          </a:ln>
        </p:spPr>
        <p:txBody>
          <a:bodyPr rtlCol="0" anchor="ctr"/>
          <a:lstStyle/>
          <a:p>
            <a:pPr algn="ctr"/>
            <a:endParaRPr/>
          </a:p>
        </p:txBody>
      </p:sp>
      <p:sp>
        <p:nvSpPr>
          <p:cNvPr id="14" name="TextBox 13"/>
          <p:cNvSpPr txBox="1"/>
          <p:nvPr/>
        </p:nvSpPr>
        <p:spPr>
          <a:xfrm>
            <a:off x="850392" y="3529584"/>
            <a:ext cx="457200" cy="457200"/>
          </a:xfrm>
          <a:prstGeom prst="rect">
            <a:avLst/>
          </a:prstGeom>
          <a:noFill/>
        </p:spPr>
        <p:txBody>
          <a:bodyPr wrap="square" lIns="0" tIns="0" rIns="0" bIns="0" anchor="ctr">
            <a:noAutofit/>
          </a:bodyPr>
          <a:lstStyle/>
          <a:p>
            <a:pPr marL="0" indent="0" algn="ctr">
              <a:lnSpc>
                <a:spcPct val="100000"/>
              </a:lnSpc>
              <a:spcBef>
                <a:spcPts val="0"/>
              </a:spcBef>
              <a:buNone/>
            </a:pPr>
            <a:r>
              <a:rPr lang="en-AU" sz="1600" b="0">
                <a:solidFill>
                  <a:srgbClr val="584099"/>
                </a:solidFill>
                <a:latin typeface="Arial Black"/>
                <a:ea typeface="Arial Black"/>
                <a:cs typeface="Arial Black"/>
              </a:rPr>
              <a:t>3</a:t>
            </a:r>
          </a:p>
        </p:txBody>
      </p:sp>
      <p:sp>
        <p:nvSpPr>
          <p:cNvPr id="15" name="TextBox 14"/>
          <p:cNvSpPr txBox="1"/>
          <p:nvPr/>
        </p:nvSpPr>
        <p:spPr>
          <a:xfrm>
            <a:off x="1554480" y="3438144"/>
            <a:ext cx="9692640" cy="640080"/>
          </a:xfrm>
          <a:prstGeom prst="rect">
            <a:avLst/>
          </a:prstGeom>
          <a:noFill/>
        </p:spPr>
        <p:txBody>
          <a:bodyPr wrap="square" lIns="0" tIns="0" rIns="0" bIns="0" anchor="ctr">
            <a:noAutofit/>
          </a:bodyPr>
          <a:lstStyle/>
          <a:p>
            <a:pPr marL="0" indent="0" algn="l">
              <a:lnSpc>
                <a:spcPct val="100000"/>
              </a:lnSpc>
              <a:spcBef>
                <a:spcPts val="0"/>
              </a:spcBef>
              <a:buNone/>
            </a:pPr>
            <a:r>
              <a:rPr lang="en-AU" sz="2000" b="1">
                <a:solidFill>
                  <a:srgbClr val="3D2A6B"/>
                </a:solidFill>
                <a:latin typeface="Arial"/>
                <a:ea typeface="Arial"/>
                <a:cs typeface="Arial"/>
              </a:rPr>
              <a:t>Include students' communication and experience.</a:t>
            </a:r>
          </a:p>
        </p:txBody>
      </p:sp>
      <p:sp>
        <p:nvSpPr>
          <p:cNvPr id="16" name="Rounded Rectangle 15"/>
          <p:cNvSpPr/>
          <p:nvPr/>
        </p:nvSpPr>
        <p:spPr>
          <a:xfrm>
            <a:off x="685800" y="4197096"/>
            <a:ext cx="10820095" cy="640080"/>
          </a:xfrm>
          <a:prstGeom prst="roundRect">
            <a:avLst>
              <a:gd name="adj" fmla="val 30000"/>
            </a:avLst>
          </a:prstGeom>
          <a:solidFill>
            <a:srgbClr val="F3F0FA"/>
          </a:solidFill>
          <a:ln>
            <a:noFill/>
          </a:ln>
        </p:spPr>
        <p:txBody>
          <a:bodyPr rtlCol="0" anchor="ctr"/>
          <a:lstStyle/>
          <a:p>
            <a:pPr algn="ctr"/>
            <a:endParaRPr/>
          </a:p>
        </p:txBody>
      </p:sp>
      <p:sp>
        <p:nvSpPr>
          <p:cNvPr id="17" name="Oval 16"/>
          <p:cNvSpPr/>
          <p:nvPr/>
        </p:nvSpPr>
        <p:spPr>
          <a:xfrm>
            <a:off x="850392" y="4288536"/>
            <a:ext cx="457200" cy="457200"/>
          </a:xfrm>
          <a:prstGeom prst="ellipse">
            <a:avLst/>
          </a:prstGeom>
          <a:solidFill>
            <a:srgbClr val="FFFFFF"/>
          </a:solidFill>
          <a:ln w="25400">
            <a:solidFill>
              <a:srgbClr val="584099"/>
            </a:solidFill>
          </a:ln>
        </p:spPr>
        <p:txBody>
          <a:bodyPr rtlCol="0" anchor="ctr"/>
          <a:lstStyle/>
          <a:p>
            <a:pPr algn="ctr"/>
            <a:endParaRPr/>
          </a:p>
        </p:txBody>
      </p:sp>
      <p:sp>
        <p:nvSpPr>
          <p:cNvPr id="18" name="TextBox 17"/>
          <p:cNvSpPr txBox="1"/>
          <p:nvPr/>
        </p:nvSpPr>
        <p:spPr>
          <a:xfrm>
            <a:off x="850392" y="4288536"/>
            <a:ext cx="457200" cy="457200"/>
          </a:xfrm>
          <a:prstGeom prst="rect">
            <a:avLst/>
          </a:prstGeom>
          <a:noFill/>
        </p:spPr>
        <p:txBody>
          <a:bodyPr wrap="square" lIns="0" tIns="0" rIns="0" bIns="0" anchor="ctr">
            <a:noAutofit/>
          </a:bodyPr>
          <a:lstStyle/>
          <a:p>
            <a:pPr marL="0" indent="0" algn="ctr">
              <a:lnSpc>
                <a:spcPct val="100000"/>
              </a:lnSpc>
              <a:spcBef>
                <a:spcPts val="0"/>
              </a:spcBef>
              <a:buNone/>
            </a:pPr>
            <a:r>
              <a:rPr lang="en-AU" sz="1600" b="0">
                <a:solidFill>
                  <a:srgbClr val="584099"/>
                </a:solidFill>
                <a:latin typeface="Arial Black"/>
                <a:ea typeface="Arial Black"/>
                <a:cs typeface="Arial Black"/>
              </a:rPr>
              <a:t>4</a:t>
            </a:r>
          </a:p>
        </p:txBody>
      </p:sp>
      <p:sp>
        <p:nvSpPr>
          <p:cNvPr id="19" name="TextBox 18"/>
          <p:cNvSpPr txBox="1"/>
          <p:nvPr/>
        </p:nvSpPr>
        <p:spPr>
          <a:xfrm>
            <a:off x="1554480" y="4197096"/>
            <a:ext cx="9692640" cy="640080"/>
          </a:xfrm>
          <a:prstGeom prst="rect">
            <a:avLst/>
          </a:prstGeom>
          <a:noFill/>
        </p:spPr>
        <p:txBody>
          <a:bodyPr wrap="square" lIns="0" tIns="0" rIns="0" bIns="0" anchor="ctr">
            <a:noAutofit/>
          </a:bodyPr>
          <a:lstStyle/>
          <a:p>
            <a:pPr marL="0" indent="0" algn="l">
              <a:lnSpc>
                <a:spcPct val="100000"/>
              </a:lnSpc>
              <a:spcBef>
                <a:spcPts val="0"/>
              </a:spcBef>
              <a:buNone/>
            </a:pPr>
            <a:r>
              <a:rPr lang="en-AU" sz="2000" b="1">
                <a:solidFill>
                  <a:srgbClr val="3D2A6B"/>
                </a:solidFill>
                <a:latin typeface="Arial"/>
                <a:ea typeface="Arial"/>
                <a:cs typeface="Arial"/>
              </a:rPr>
              <a:t>Decide what you will observe.</a:t>
            </a:r>
          </a:p>
        </p:txBody>
      </p:sp>
      <p:sp>
        <p:nvSpPr>
          <p:cNvPr id="20" name="Rounded Rectangle 19"/>
          <p:cNvSpPr/>
          <p:nvPr/>
        </p:nvSpPr>
        <p:spPr>
          <a:xfrm>
            <a:off x="685800" y="4956048"/>
            <a:ext cx="10820095" cy="640080"/>
          </a:xfrm>
          <a:prstGeom prst="roundRect">
            <a:avLst>
              <a:gd name="adj" fmla="val 30000"/>
            </a:avLst>
          </a:prstGeom>
          <a:solidFill>
            <a:srgbClr val="F3F0FA"/>
          </a:solidFill>
          <a:ln>
            <a:noFill/>
          </a:ln>
        </p:spPr>
        <p:txBody>
          <a:bodyPr rtlCol="0" anchor="ctr"/>
          <a:lstStyle/>
          <a:p>
            <a:pPr algn="ctr"/>
            <a:endParaRPr/>
          </a:p>
        </p:txBody>
      </p:sp>
      <p:sp>
        <p:nvSpPr>
          <p:cNvPr id="21" name="Oval 20"/>
          <p:cNvSpPr/>
          <p:nvPr/>
        </p:nvSpPr>
        <p:spPr>
          <a:xfrm>
            <a:off x="850392" y="5047488"/>
            <a:ext cx="457200" cy="457200"/>
          </a:xfrm>
          <a:prstGeom prst="ellipse">
            <a:avLst/>
          </a:prstGeom>
          <a:solidFill>
            <a:srgbClr val="FFFFFF"/>
          </a:solidFill>
          <a:ln w="25400">
            <a:solidFill>
              <a:srgbClr val="584099"/>
            </a:solidFill>
          </a:ln>
        </p:spPr>
        <p:txBody>
          <a:bodyPr rtlCol="0" anchor="ctr"/>
          <a:lstStyle/>
          <a:p>
            <a:pPr algn="ctr"/>
            <a:endParaRPr/>
          </a:p>
        </p:txBody>
      </p:sp>
      <p:sp>
        <p:nvSpPr>
          <p:cNvPr id="22" name="TextBox 21"/>
          <p:cNvSpPr txBox="1"/>
          <p:nvPr/>
        </p:nvSpPr>
        <p:spPr>
          <a:xfrm>
            <a:off x="850392" y="5047488"/>
            <a:ext cx="457200" cy="457200"/>
          </a:xfrm>
          <a:prstGeom prst="rect">
            <a:avLst/>
          </a:prstGeom>
          <a:noFill/>
        </p:spPr>
        <p:txBody>
          <a:bodyPr wrap="square" lIns="0" tIns="0" rIns="0" bIns="0" anchor="ctr">
            <a:noAutofit/>
          </a:bodyPr>
          <a:lstStyle/>
          <a:p>
            <a:pPr marL="0" indent="0" algn="ctr">
              <a:lnSpc>
                <a:spcPct val="100000"/>
              </a:lnSpc>
              <a:spcBef>
                <a:spcPts val="0"/>
              </a:spcBef>
              <a:buNone/>
            </a:pPr>
            <a:r>
              <a:rPr lang="en-AU" sz="1600" b="0">
                <a:solidFill>
                  <a:srgbClr val="584099"/>
                </a:solidFill>
                <a:latin typeface="Arial Black"/>
                <a:ea typeface="Arial Black"/>
                <a:cs typeface="Arial Black"/>
              </a:rPr>
              <a:t>5</a:t>
            </a:r>
          </a:p>
        </p:txBody>
      </p:sp>
      <p:sp>
        <p:nvSpPr>
          <p:cNvPr id="23" name="TextBox 22"/>
          <p:cNvSpPr txBox="1"/>
          <p:nvPr/>
        </p:nvSpPr>
        <p:spPr>
          <a:xfrm>
            <a:off x="1554480" y="4956048"/>
            <a:ext cx="9692640" cy="640080"/>
          </a:xfrm>
          <a:prstGeom prst="rect">
            <a:avLst/>
          </a:prstGeom>
          <a:noFill/>
        </p:spPr>
        <p:txBody>
          <a:bodyPr wrap="square" lIns="0" tIns="0" rIns="0" bIns="0" anchor="ctr">
            <a:noAutofit/>
          </a:bodyPr>
          <a:lstStyle/>
          <a:p>
            <a:pPr marL="0" indent="0" algn="l">
              <a:lnSpc>
                <a:spcPct val="100000"/>
              </a:lnSpc>
              <a:spcBef>
                <a:spcPts val="0"/>
              </a:spcBef>
              <a:buNone/>
            </a:pPr>
            <a:r>
              <a:rPr lang="en-AU" sz="2000" b="1">
                <a:solidFill>
                  <a:srgbClr val="3D2A6B"/>
                </a:solidFill>
                <a:latin typeface="Arial"/>
                <a:ea typeface="Arial"/>
                <a:cs typeface="Arial"/>
              </a:rPr>
              <a:t>Set a time to review.</a:t>
            </a:r>
          </a:p>
        </p:txBody>
      </p:sp>
      <p:sp>
        <p:nvSpPr>
          <p:cNvPr id="24" name="Rounded Rectangle 23"/>
          <p:cNvSpPr/>
          <p:nvPr/>
        </p:nvSpPr>
        <p:spPr>
          <a:xfrm>
            <a:off x="685800" y="5824728"/>
            <a:ext cx="10820095" cy="566928"/>
          </a:xfrm>
          <a:prstGeom prst="roundRect">
            <a:avLst>
              <a:gd name="adj" fmla="val 50000"/>
            </a:avLst>
          </a:prstGeom>
          <a:solidFill>
            <a:srgbClr val="FFFFFF"/>
          </a:solidFill>
          <a:ln w="19050">
            <a:solidFill>
              <a:srgbClr val="584099"/>
            </a:solidFill>
          </a:ln>
        </p:spPr>
        <p:txBody>
          <a:bodyPr rtlCol="0" anchor="ctr"/>
          <a:lstStyle/>
          <a:p>
            <a:pPr algn="ctr"/>
            <a:endParaRPr/>
          </a:p>
        </p:txBody>
      </p:sp>
      <p:sp>
        <p:nvSpPr>
          <p:cNvPr id="25" name="TextBox 24"/>
          <p:cNvSpPr txBox="1"/>
          <p:nvPr/>
        </p:nvSpPr>
        <p:spPr>
          <a:xfrm>
            <a:off x="960120" y="5824728"/>
            <a:ext cx="10271455" cy="566928"/>
          </a:xfrm>
          <a:prstGeom prst="rect">
            <a:avLst/>
          </a:prstGeom>
          <a:noFill/>
        </p:spPr>
        <p:txBody>
          <a:bodyPr wrap="square" lIns="0" tIns="0" rIns="0" bIns="0" anchor="ctr">
            <a:noAutofit/>
          </a:bodyPr>
          <a:lstStyle/>
          <a:p>
            <a:pPr marL="0" indent="0" algn="ctr">
              <a:lnSpc>
                <a:spcPct val="100000"/>
              </a:lnSpc>
              <a:spcBef>
                <a:spcPts val="0"/>
              </a:spcBef>
              <a:buNone/>
            </a:pPr>
            <a:r>
              <a:rPr lang="en-AU" sz="1800" b="1">
                <a:solidFill>
                  <a:srgbClr val="584099"/>
                </a:solidFill>
                <a:latin typeface="Arial"/>
                <a:ea typeface="Arial"/>
                <a:cs typeface="Arial"/>
              </a:rPr>
              <a:t>In a breakout pair, check the design remains student-centred and environment-first.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85800" y="457200"/>
            <a:ext cx="10789920" cy="777240"/>
          </a:xfrm>
          <a:prstGeom prst="rect">
            <a:avLst/>
          </a:prstGeom>
          <a:noFill/>
        </p:spPr>
        <p:txBody>
          <a:bodyPr wrap="square" lIns="0" rIns="0" tIns="0" bIns="0" anchor="t">
            <a:noAutofit/>
          </a:bodyPr>
          <a:lstStyle/>
          <a:p>
            <a:pPr algn="l" marL="0" indent="0">
              <a:lnSpc>
                <a:spcPct val="95000"/>
              </a:lnSpc>
              <a:spcBef>
                <a:spcPts val="0"/>
              </a:spcBef>
              <a:buNone/>
            </a:pPr>
            <a:r>
              <a:rPr lang="en-AU" sz="3600" b="0">
                <a:solidFill>
                  <a:srgbClr val="584099"/>
                </a:solidFill>
                <a:latin typeface="Arial Black"/>
                <a:ea typeface="Arial Black"/>
                <a:cs typeface="Arial Black"/>
              </a:rPr>
              <a:t>Check the design against your students</a:t>
            </a:r>
          </a:p>
        </p:txBody>
      </p:sp>
      <p:sp>
        <p:nvSpPr>
          <p:cNvPr id="3" name="TextBox 2"/>
          <p:cNvSpPr txBox="1"/>
          <p:nvPr/>
        </p:nvSpPr>
        <p:spPr>
          <a:xfrm>
            <a:off x="685800" y="1325880"/>
            <a:ext cx="10789920" cy="54864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3D2A6B"/>
                </a:solidFill>
                <a:latin typeface="Arial"/>
                <a:ea typeface="Arial"/>
                <a:cs typeface="Arial"/>
              </a:rPr>
              <a:t>Privately, test your design against each of your students.</a:t>
            </a:r>
          </a:p>
        </p:txBody>
      </p:sp>
      <p:sp>
        <p:nvSpPr>
          <p:cNvPr id="4" name="Rounded Rectangle 3"/>
          <p:cNvSpPr/>
          <p:nvPr/>
        </p:nvSpPr>
        <p:spPr>
          <a:xfrm>
            <a:off x="3246120" y="2057400"/>
            <a:ext cx="2631338" cy="640080"/>
          </a:xfrm>
          <a:prstGeom prst="roundRect">
            <a:avLst>
              <a:gd name="adj" fmla="val 30000"/>
            </a:avLst>
          </a:prstGeom>
          <a:solidFill>
            <a:srgbClr val="F3F0FA"/>
          </a:solidFill>
          <a:ln>
            <a:noFill/>
          </a:ln>
        </p:spPr>
        <p:txBody>
          <a:bodyPr rtlCol="0" anchor="ctr"/>
          <a:lstStyle/>
          <a:p>
            <a:pPr algn="ctr"/>
          </a:p>
        </p:txBody>
      </p:sp>
      <p:sp>
        <p:nvSpPr>
          <p:cNvPr id="5" name="TextBox 4"/>
          <p:cNvSpPr txBox="1"/>
          <p:nvPr/>
        </p:nvSpPr>
        <p:spPr>
          <a:xfrm>
            <a:off x="3520440" y="2057400"/>
            <a:ext cx="2082698" cy="640080"/>
          </a:xfrm>
          <a:prstGeom prst="rect">
            <a:avLst/>
          </a:prstGeom>
          <a:noFill/>
        </p:spPr>
        <p:txBody>
          <a:bodyPr wrap="square" lIns="0" rIns="0" tIns="0" bIns="0" anchor="ctr">
            <a:noAutofit/>
          </a:bodyPr>
          <a:lstStyle/>
          <a:p>
            <a:pPr algn="ctr" marL="0" indent="0">
              <a:lnSpc>
                <a:spcPct val="100000"/>
              </a:lnSpc>
              <a:spcBef>
                <a:spcPts val="0"/>
              </a:spcBef>
              <a:buNone/>
            </a:pPr>
            <a:r>
              <a:rPr lang="en-AU" sz="1800" b="1">
                <a:solidFill>
                  <a:srgbClr val="584099"/>
                </a:solidFill>
                <a:latin typeface="Arial"/>
                <a:ea typeface="Arial"/>
                <a:cs typeface="Arial"/>
              </a:rPr>
              <a:t>Helps</a:t>
            </a:r>
          </a:p>
        </p:txBody>
      </p:sp>
      <p:sp>
        <p:nvSpPr>
          <p:cNvPr id="6" name="Rounded Rectangle 5"/>
          <p:cNvSpPr/>
          <p:nvPr/>
        </p:nvSpPr>
        <p:spPr>
          <a:xfrm>
            <a:off x="6060338" y="2057400"/>
            <a:ext cx="2631338" cy="640080"/>
          </a:xfrm>
          <a:prstGeom prst="roundRect">
            <a:avLst>
              <a:gd name="adj" fmla="val 30000"/>
            </a:avLst>
          </a:prstGeom>
          <a:solidFill>
            <a:srgbClr val="F3F0FA"/>
          </a:solidFill>
          <a:ln>
            <a:noFill/>
          </a:ln>
        </p:spPr>
        <p:txBody>
          <a:bodyPr rtlCol="0" anchor="ctr"/>
          <a:lstStyle/>
          <a:p>
            <a:pPr algn="ctr"/>
          </a:p>
        </p:txBody>
      </p:sp>
      <p:sp>
        <p:nvSpPr>
          <p:cNvPr id="7" name="TextBox 6"/>
          <p:cNvSpPr txBox="1"/>
          <p:nvPr/>
        </p:nvSpPr>
        <p:spPr>
          <a:xfrm>
            <a:off x="6334658" y="2057400"/>
            <a:ext cx="2082698" cy="640080"/>
          </a:xfrm>
          <a:prstGeom prst="rect">
            <a:avLst/>
          </a:prstGeom>
          <a:noFill/>
        </p:spPr>
        <p:txBody>
          <a:bodyPr wrap="square" lIns="0" rIns="0" tIns="0" bIns="0" anchor="ctr">
            <a:noAutofit/>
          </a:bodyPr>
          <a:lstStyle/>
          <a:p>
            <a:pPr algn="ctr" marL="0" indent="0">
              <a:lnSpc>
                <a:spcPct val="100000"/>
              </a:lnSpc>
              <a:spcBef>
                <a:spcPts val="0"/>
              </a:spcBef>
              <a:buNone/>
            </a:pPr>
            <a:r>
              <a:rPr lang="en-AU" sz="1800" b="1">
                <a:solidFill>
                  <a:srgbClr val="584099"/>
                </a:solidFill>
                <a:latin typeface="Arial"/>
                <a:ea typeface="Arial"/>
                <a:cs typeface="Arial"/>
              </a:rPr>
              <a:t>No difference</a:t>
            </a:r>
          </a:p>
        </p:txBody>
      </p:sp>
      <p:sp>
        <p:nvSpPr>
          <p:cNvPr id="8" name="Rounded Rectangle 7"/>
          <p:cNvSpPr/>
          <p:nvPr/>
        </p:nvSpPr>
        <p:spPr>
          <a:xfrm>
            <a:off x="8874557" y="2057400"/>
            <a:ext cx="2631338" cy="640080"/>
          </a:xfrm>
          <a:prstGeom prst="roundRect">
            <a:avLst>
              <a:gd name="adj" fmla="val 30000"/>
            </a:avLst>
          </a:prstGeom>
          <a:solidFill>
            <a:srgbClr val="584099"/>
          </a:solidFill>
          <a:ln>
            <a:noFill/>
          </a:ln>
        </p:spPr>
        <p:txBody>
          <a:bodyPr rtlCol="0" anchor="ctr"/>
          <a:lstStyle/>
          <a:p>
            <a:pPr algn="ctr"/>
          </a:p>
        </p:txBody>
      </p:sp>
      <p:sp>
        <p:nvSpPr>
          <p:cNvPr id="9" name="TextBox 8"/>
          <p:cNvSpPr txBox="1"/>
          <p:nvPr/>
        </p:nvSpPr>
        <p:spPr>
          <a:xfrm>
            <a:off x="9148877" y="2057400"/>
            <a:ext cx="2082698" cy="640080"/>
          </a:xfrm>
          <a:prstGeom prst="rect">
            <a:avLst/>
          </a:prstGeom>
          <a:noFill/>
        </p:spPr>
        <p:txBody>
          <a:bodyPr wrap="square" lIns="0" rIns="0" tIns="0" bIns="0" anchor="ctr">
            <a:noAutofit/>
          </a:bodyPr>
          <a:lstStyle/>
          <a:p>
            <a:pPr algn="ctr" marL="0" indent="0">
              <a:lnSpc>
                <a:spcPct val="100000"/>
              </a:lnSpc>
              <a:spcBef>
                <a:spcPts val="0"/>
              </a:spcBef>
              <a:buNone/>
            </a:pPr>
            <a:r>
              <a:rPr lang="en-AU" sz="1800" b="1">
                <a:solidFill>
                  <a:srgbClr val="FFFFFF"/>
                </a:solidFill>
                <a:latin typeface="Arial"/>
                <a:ea typeface="Arial"/>
                <a:cs typeface="Arial"/>
              </a:rPr>
              <a:t>Needs something more</a:t>
            </a:r>
          </a:p>
        </p:txBody>
      </p:sp>
      <p:sp>
        <p:nvSpPr>
          <p:cNvPr id="10" name="Rounded Rectangle 9"/>
          <p:cNvSpPr/>
          <p:nvPr/>
        </p:nvSpPr>
        <p:spPr>
          <a:xfrm>
            <a:off x="685800" y="2880360"/>
            <a:ext cx="2377440" cy="868680"/>
          </a:xfrm>
          <a:prstGeom prst="roundRect">
            <a:avLst>
              <a:gd name="adj" fmla="val 20000"/>
            </a:avLst>
          </a:prstGeom>
          <a:solidFill>
            <a:srgbClr val="F3F0FA"/>
          </a:solidFill>
          <a:ln>
            <a:noFill/>
          </a:ln>
        </p:spPr>
        <p:txBody>
          <a:bodyPr rtlCol="0" anchor="ctr"/>
          <a:lstStyle/>
          <a:p>
            <a:pPr algn="ctr"/>
          </a:p>
        </p:txBody>
      </p:sp>
      <p:sp>
        <p:nvSpPr>
          <p:cNvPr id="11" name="TextBox 10"/>
          <p:cNvSpPr txBox="1"/>
          <p:nvPr/>
        </p:nvSpPr>
        <p:spPr>
          <a:xfrm>
            <a:off x="960120" y="2880360"/>
            <a:ext cx="1828800" cy="868680"/>
          </a:xfrm>
          <a:prstGeom prst="rect">
            <a:avLst/>
          </a:prstGeom>
          <a:noFill/>
        </p:spPr>
        <p:txBody>
          <a:bodyPr wrap="square" lIns="0" rIns="0" tIns="0" bIns="0" anchor="ctr">
            <a:noAutofit/>
          </a:bodyPr>
          <a:lstStyle/>
          <a:p>
            <a:pPr algn="l" marL="0" indent="0">
              <a:lnSpc>
                <a:spcPct val="100000"/>
              </a:lnSpc>
              <a:spcBef>
                <a:spcPts val="0"/>
              </a:spcBef>
              <a:buNone/>
            </a:pPr>
            <a:r>
              <a:rPr lang="en-AU" sz="1800" b="1">
                <a:solidFill>
                  <a:srgbClr val="3D2A6B"/>
                </a:solidFill>
                <a:latin typeface="Arial"/>
                <a:ea typeface="Arial"/>
                <a:cs typeface="Arial"/>
              </a:rPr>
              <a:t>Student A</a:t>
            </a:r>
          </a:p>
        </p:txBody>
      </p:sp>
      <p:sp>
        <p:nvSpPr>
          <p:cNvPr id="12" name="Rounded Rectangle 11"/>
          <p:cNvSpPr/>
          <p:nvPr/>
        </p:nvSpPr>
        <p:spPr>
          <a:xfrm>
            <a:off x="3246120" y="2880360"/>
            <a:ext cx="2631338" cy="868680"/>
          </a:xfrm>
          <a:prstGeom prst="roundRect">
            <a:avLst>
              <a:gd name="adj" fmla="val 20000"/>
            </a:avLst>
          </a:prstGeom>
          <a:solidFill>
            <a:srgbClr val="FFFFFF"/>
          </a:solidFill>
          <a:ln w="15875">
            <a:solidFill>
              <a:srgbClr val="B9A7D6"/>
            </a:solidFill>
          </a:ln>
        </p:spPr>
        <p:txBody>
          <a:bodyPr rtlCol="0" anchor="ctr"/>
          <a:lstStyle/>
          <a:p>
            <a:pPr algn="ctr"/>
          </a:p>
        </p:txBody>
      </p:sp>
      <p:sp>
        <p:nvSpPr>
          <p:cNvPr id="13" name="Rounded Rectangle 12"/>
          <p:cNvSpPr/>
          <p:nvPr/>
        </p:nvSpPr>
        <p:spPr>
          <a:xfrm>
            <a:off x="6060338" y="2880360"/>
            <a:ext cx="2631338" cy="868680"/>
          </a:xfrm>
          <a:prstGeom prst="roundRect">
            <a:avLst>
              <a:gd name="adj" fmla="val 20000"/>
            </a:avLst>
          </a:prstGeom>
          <a:solidFill>
            <a:srgbClr val="FFFFFF"/>
          </a:solidFill>
          <a:ln w="15875">
            <a:solidFill>
              <a:srgbClr val="B9A7D6"/>
            </a:solidFill>
          </a:ln>
        </p:spPr>
        <p:txBody>
          <a:bodyPr rtlCol="0" anchor="ctr"/>
          <a:lstStyle/>
          <a:p>
            <a:pPr algn="ctr"/>
          </a:p>
        </p:txBody>
      </p:sp>
      <p:sp>
        <p:nvSpPr>
          <p:cNvPr id="14" name="Rounded Rectangle 13"/>
          <p:cNvSpPr/>
          <p:nvPr/>
        </p:nvSpPr>
        <p:spPr>
          <a:xfrm>
            <a:off x="8874557" y="2880360"/>
            <a:ext cx="2631338" cy="868680"/>
          </a:xfrm>
          <a:prstGeom prst="roundRect">
            <a:avLst>
              <a:gd name="adj" fmla="val 20000"/>
            </a:avLst>
          </a:prstGeom>
          <a:solidFill>
            <a:srgbClr val="FFFFFF"/>
          </a:solidFill>
          <a:ln w="15875">
            <a:solidFill>
              <a:srgbClr val="B9A7D6"/>
            </a:solidFill>
          </a:ln>
        </p:spPr>
        <p:txBody>
          <a:bodyPr rtlCol="0" anchor="ctr"/>
          <a:lstStyle/>
          <a:p>
            <a:pPr algn="ctr"/>
          </a:p>
        </p:txBody>
      </p:sp>
      <p:sp>
        <p:nvSpPr>
          <p:cNvPr id="15" name="Rounded Rectangle 14"/>
          <p:cNvSpPr/>
          <p:nvPr/>
        </p:nvSpPr>
        <p:spPr>
          <a:xfrm>
            <a:off x="685800" y="3886200"/>
            <a:ext cx="2377440" cy="868680"/>
          </a:xfrm>
          <a:prstGeom prst="roundRect">
            <a:avLst>
              <a:gd name="adj" fmla="val 20000"/>
            </a:avLst>
          </a:prstGeom>
          <a:solidFill>
            <a:srgbClr val="F3F0FA"/>
          </a:solidFill>
          <a:ln>
            <a:noFill/>
          </a:ln>
        </p:spPr>
        <p:txBody>
          <a:bodyPr rtlCol="0" anchor="ctr"/>
          <a:lstStyle/>
          <a:p>
            <a:pPr algn="ctr"/>
          </a:p>
        </p:txBody>
      </p:sp>
      <p:sp>
        <p:nvSpPr>
          <p:cNvPr id="16" name="TextBox 15"/>
          <p:cNvSpPr txBox="1"/>
          <p:nvPr/>
        </p:nvSpPr>
        <p:spPr>
          <a:xfrm>
            <a:off x="960120" y="3886200"/>
            <a:ext cx="1828800" cy="868680"/>
          </a:xfrm>
          <a:prstGeom prst="rect">
            <a:avLst/>
          </a:prstGeom>
          <a:noFill/>
        </p:spPr>
        <p:txBody>
          <a:bodyPr wrap="square" lIns="0" rIns="0" tIns="0" bIns="0" anchor="ctr">
            <a:noAutofit/>
          </a:bodyPr>
          <a:lstStyle/>
          <a:p>
            <a:pPr algn="l" marL="0" indent="0">
              <a:lnSpc>
                <a:spcPct val="100000"/>
              </a:lnSpc>
              <a:spcBef>
                <a:spcPts val="0"/>
              </a:spcBef>
              <a:buNone/>
            </a:pPr>
            <a:r>
              <a:rPr lang="en-AU" sz="1800" b="1">
                <a:solidFill>
                  <a:srgbClr val="3D2A6B"/>
                </a:solidFill>
                <a:latin typeface="Arial"/>
                <a:ea typeface="Arial"/>
                <a:cs typeface="Arial"/>
              </a:rPr>
              <a:t>Student B</a:t>
            </a:r>
          </a:p>
        </p:txBody>
      </p:sp>
      <p:sp>
        <p:nvSpPr>
          <p:cNvPr id="17" name="Rounded Rectangle 16"/>
          <p:cNvSpPr/>
          <p:nvPr/>
        </p:nvSpPr>
        <p:spPr>
          <a:xfrm>
            <a:off x="3246120" y="3886200"/>
            <a:ext cx="2631338" cy="868680"/>
          </a:xfrm>
          <a:prstGeom prst="roundRect">
            <a:avLst>
              <a:gd name="adj" fmla="val 20000"/>
            </a:avLst>
          </a:prstGeom>
          <a:solidFill>
            <a:srgbClr val="FFFFFF"/>
          </a:solidFill>
          <a:ln w="15875">
            <a:solidFill>
              <a:srgbClr val="B9A7D6"/>
            </a:solidFill>
          </a:ln>
        </p:spPr>
        <p:txBody>
          <a:bodyPr rtlCol="0" anchor="ctr"/>
          <a:lstStyle/>
          <a:p>
            <a:pPr algn="ctr"/>
          </a:p>
        </p:txBody>
      </p:sp>
      <p:sp>
        <p:nvSpPr>
          <p:cNvPr id="18" name="Rounded Rectangle 17"/>
          <p:cNvSpPr/>
          <p:nvPr/>
        </p:nvSpPr>
        <p:spPr>
          <a:xfrm>
            <a:off x="6060338" y="3886200"/>
            <a:ext cx="2631338" cy="868680"/>
          </a:xfrm>
          <a:prstGeom prst="roundRect">
            <a:avLst>
              <a:gd name="adj" fmla="val 20000"/>
            </a:avLst>
          </a:prstGeom>
          <a:solidFill>
            <a:srgbClr val="FFFFFF"/>
          </a:solidFill>
          <a:ln w="15875">
            <a:solidFill>
              <a:srgbClr val="B9A7D6"/>
            </a:solidFill>
          </a:ln>
        </p:spPr>
        <p:txBody>
          <a:bodyPr rtlCol="0" anchor="ctr"/>
          <a:lstStyle/>
          <a:p>
            <a:pPr algn="ctr"/>
          </a:p>
        </p:txBody>
      </p:sp>
      <p:sp>
        <p:nvSpPr>
          <p:cNvPr id="19" name="Rounded Rectangle 18"/>
          <p:cNvSpPr/>
          <p:nvPr/>
        </p:nvSpPr>
        <p:spPr>
          <a:xfrm>
            <a:off x="8874557" y="3886200"/>
            <a:ext cx="2631338" cy="868680"/>
          </a:xfrm>
          <a:prstGeom prst="roundRect">
            <a:avLst>
              <a:gd name="adj" fmla="val 20000"/>
            </a:avLst>
          </a:prstGeom>
          <a:solidFill>
            <a:srgbClr val="FFFFFF"/>
          </a:solidFill>
          <a:ln w="15875">
            <a:solidFill>
              <a:srgbClr val="B9A7D6"/>
            </a:solidFill>
          </a:ln>
        </p:spPr>
        <p:txBody>
          <a:bodyPr rtlCol="0" anchor="ctr"/>
          <a:lstStyle/>
          <a:p>
            <a:pPr algn="ctr"/>
          </a:p>
        </p:txBody>
      </p:sp>
      <p:sp>
        <p:nvSpPr>
          <p:cNvPr id="20" name="Rounded Rectangle 19"/>
          <p:cNvSpPr/>
          <p:nvPr/>
        </p:nvSpPr>
        <p:spPr>
          <a:xfrm>
            <a:off x="685800" y="4892040"/>
            <a:ext cx="2377440" cy="868680"/>
          </a:xfrm>
          <a:prstGeom prst="roundRect">
            <a:avLst>
              <a:gd name="adj" fmla="val 20000"/>
            </a:avLst>
          </a:prstGeom>
          <a:solidFill>
            <a:srgbClr val="F3F0FA"/>
          </a:solidFill>
          <a:ln>
            <a:noFill/>
          </a:ln>
        </p:spPr>
        <p:txBody>
          <a:bodyPr rtlCol="0" anchor="ctr"/>
          <a:lstStyle/>
          <a:p>
            <a:pPr algn="ctr"/>
          </a:p>
        </p:txBody>
      </p:sp>
      <p:sp>
        <p:nvSpPr>
          <p:cNvPr id="21" name="TextBox 20"/>
          <p:cNvSpPr txBox="1"/>
          <p:nvPr/>
        </p:nvSpPr>
        <p:spPr>
          <a:xfrm>
            <a:off x="960120" y="4892040"/>
            <a:ext cx="1828800" cy="868680"/>
          </a:xfrm>
          <a:prstGeom prst="rect">
            <a:avLst/>
          </a:prstGeom>
          <a:noFill/>
        </p:spPr>
        <p:txBody>
          <a:bodyPr wrap="square" lIns="0" rIns="0" tIns="0" bIns="0" anchor="ctr">
            <a:noAutofit/>
          </a:bodyPr>
          <a:lstStyle/>
          <a:p>
            <a:pPr algn="l" marL="0" indent="0">
              <a:lnSpc>
                <a:spcPct val="100000"/>
              </a:lnSpc>
              <a:spcBef>
                <a:spcPts val="0"/>
              </a:spcBef>
              <a:buNone/>
            </a:pPr>
            <a:r>
              <a:rPr lang="en-AU" sz="1800" b="1">
                <a:solidFill>
                  <a:srgbClr val="3D2A6B"/>
                </a:solidFill>
                <a:latin typeface="Arial"/>
                <a:ea typeface="Arial"/>
                <a:cs typeface="Arial"/>
              </a:rPr>
              <a:t>Student C</a:t>
            </a:r>
          </a:p>
        </p:txBody>
      </p:sp>
      <p:sp>
        <p:nvSpPr>
          <p:cNvPr id="22" name="Rounded Rectangle 21"/>
          <p:cNvSpPr/>
          <p:nvPr/>
        </p:nvSpPr>
        <p:spPr>
          <a:xfrm>
            <a:off x="3246120" y="4892040"/>
            <a:ext cx="2631338" cy="868680"/>
          </a:xfrm>
          <a:prstGeom prst="roundRect">
            <a:avLst>
              <a:gd name="adj" fmla="val 20000"/>
            </a:avLst>
          </a:prstGeom>
          <a:solidFill>
            <a:srgbClr val="FFFFFF"/>
          </a:solidFill>
          <a:ln w="15875">
            <a:solidFill>
              <a:srgbClr val="B9A7D6"/>
            </a:solidFill>
          </a:ln>
        </p:spPr>
        <p:txBody>
          <a:bodyPr rtlCol="0" anchor="ctr"/>
          <a:lstStyle/>
          <a:p>
            <a:pPr algn="ctr"/>
          </a:p>
        </p:txBody>
      </p:sp>
      <p:sp>
        <p:nvSpPr>
          <p:cNvPr id="23" name="Rounded Rectangle 22"/>
          <p:cNvSpPr/>
          <p:nvPr/>
        </p:nvSpPr>
        <p:spPr>
          <a:xfrm>
            <a:off x="6060338" y="4892040"/>
            <a:ext cx="2631338" cy="868680"/>
          </a:xfrm>
          <a:prstGeom prst="roundRect">
            <a:avLst>
              <a:gd name="adj" fmla="val 20000"/>
            </a:avLst>
          </a:prstGeom>
          <a:solidFill>
            <a:srgbClr val="FFFFFF"/>
          </a:solidFill>
          <a:ln w="15875">
            <a:solidFill>
              <a:srgbClr val="B9A7D6"/>
            </a:solidFill>
          </a:ln>
        </p:spPr>
        <p:txBody>
          <a:bodyPr rtlCol="0" anchor="ctr"/>
          <a:lstStyle/>
          <a:p>
            <a:pPr algn="ctr"/>
          </a:p>
        </p:txBody>
      </p:sp>
      <p:sp>
        <p:nvSpPr>
          <p:cNvPr id="24" name="Rounded Rectangle 23"/>
          <p:cNvSpPr/>
          <p:nvPr/>
        </p:nvSpPr>
        <p:spPr>
          <a:xfrm>
            <a:off x="8874557" y="4892040"/>
            <a:ext cx="2631338" cy="868680"/>
          </a:xfrm>
          <a:prstGeom prst="roundRect">
            <a:avLst>
              <a:gd name="adj" fmla="val 20000"/>
            </a:avLst>
          </a:prstGeom>
          <a:solidFill>
            <a:srgbClr val="FFFFFF"/>
          </a:solidFill>
          <a:ln w="15875">
            <a:solidFill>
              <a:srgbClr val="B9A7D6"/>
            </a:solidFill>
          </a:ln>
        </p:spPr>
        <p:txBody>
          <a:bodyPr rtlCol="0" anchor="ctr"/>
          <a:lstStyle/>
          <a:p>
            <a:pPr algn="ctr"/>
          </a:p>
        </p:txBody>
      </p:sp>
      <p:sp>
        <p:nvSpPr>
          <p:cNvPr id="25" name="Rounded Rectangle 24"/>
          <p:cNvSpPr/>
          <p:nvPr/>
        </p:nvSpPr>
        <p:spPr>
          <a:xfrm>
            <a:off x="685800" y="5897880"/>
            <a:ext cx="10820095" cy="566928"/>
          </a:xfrm>
          <a:prstGeom prst="roundRect">
            <a:avLst>
              <a:gd name="adj" fmla="val 50000"/>
            </a:avLst>
          </a:prstGeom>
          <a:solidFill>
            <a:srgbClr val="FFFFFF"/>
          </a:solidFill>
          <a:ln w="19050">
            <a:solidFill>
              <a:srgbClr val="584099"/>
            </a:solidFill>
          </a:ln>
        </p:spPr>
        <p:txBody>
          <a:bodyPr rtlCol="0" anchor="ctr"/>
          <a:lstStyle/>
          <a:p>
            <a:pPr algn="ctr"/>
          </a:p>
        </p:txBody>
      </p:sp>
      <p:sp>
        <p:nvSpPr>
          <p:cNvPr id="26" name="TextBox 25"/>
          <p:cNvSpPr txBox="1"/>
          <p:nvPr/>
        </p:nvSpPr>
        <p:spPr>
          <a:xfrm>
            <a:off x="960120" y="5897880"/>
            <a:ext cx="10271455" cy="566928"/>
          </a:xfrm>
          <a:prstGeom prst="rect">
            <a:avLst/>
          </a:prstGeom>
          <a:noFill/>
        </p:spPr>
        <p:txBody>
          <a:bodyPr wrap="square" lIns="0" rIns="0" tIns="0" bIns="0" anchor="ctr">
            <a:noAutofit/>
          </a:bodyPr>
          <a:lstStyle/>
          <a:p>
            <a:pPr algn="ctr" marL="0" indent="0">
              <a:lnSpc>
                <a:spcPct val="100000"/>
              </a:lnSpc>
              <a:spcBef>
                <a:spcPts val="0"/>
              </a:spcBef>
              <a:buNone/>
            </a:pPr>
            <a:r>
              <a:rPr lang="en-AU" sz="1500" b="1">
                <a:solidFill>
                  <a:srgbClr val="584099"/>
                </a:solidFill>
                <a:latin typeface="Arial"/>
                <a:ea typeface="Arial"/>
                <a:cs typeface="Arial"/>
              </a:rPr>
              <a:t>Where the design still doesn’t work for someone, that is where targeted or individual support begins.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390D125E-F51A-444A-12E3-4EEA8C2340C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4215485-4B97-5ACA-8C2F-696A4814B7EC}"/>
              </a:ext>
            </a:extLst>
          </p:cNvPr>
          <p:cNvSpPr>
            <a:spLocks noGrp="1"/>
          </p:cNvSpPr>
          <p:nvPr>
            <p:ph type="title"/>
          </p:nvPr>
        </p:nvSpPr>
        <p:spPr>
          <a:xfrm>
            <a:off x="685800" y="457200"/>
            <a:ext cx="10789920" cy="777240"/>
          </a:xfrm>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Continuum of support</a:t>
            </a:r>
          </a:p>
        </p:txBody>
      </p:sp>
      <p:sp>
        <p:nvSpPr>
          <p:cNvPr id="5" name="TextBox 4"/>
          <p:cNvSpPr txBox="1"/>
          <p:nvPr/>
        </p:nvSpPr>
        <p:spPr>
          <a:xfrm>
            <a:off x="685800" y="1280160"/>
            <a:ext cx="10789920" cy="457200"/>
          </a:xfrm>
          <a:prstGeom prst="rect">
            <a:avLst/>
          </a:prstGeom>
          <a:noFill/>
        </p:spPr>
        <p:txBody>
          <a:bodyPr wrap="square" lIns="0" tIns="0" rIns="0" bIns="0" anchor="t">
            <a:noAutofit/>
          </a:bodyPr>
          <a:lstStyle/>
          <a:p>
            <a:pPr marL="0" indent="0" algn="l">
              <a:lnSpc>
                <a:spcPct val="100000"/>
              </a:lnSpc>
              <a:spcBef>
                <a:spcPts val="0"/>
              </a:spcBef>
              <a:buNone/>
            </a:pPr>
            <a:r>
              <a:rPr lang="en-AU" sz="2000" b="0">
                <a:solidFill>
                  <a:srgbClr val="2D2440"/>
                </a:solidFill>
                <a:latin typeface="Arial"/>
                <a:ea typeface="Arial"/>
                <a:cs typeface="Arial"/>
              </a:rPr>
              <a:t>Support is a continuum rather than a single intervention.</a:t>
            </a:r>
          </a:p>
        </p:txBody>
      </p:sp>
      <p:sp>
        <p:nvSpPr>
          <p:cNvPr id="6" name="Rounded Rectangle 5"/>
          <p:cNvSpPr/>
          <p:nvPr/>
        </p:nvSpPr>
        <p:spPr>
          <a:xfrm>
            <a:off x="685800" y="2468880"/>
            <a:ext cx="2567864" cy="2468880"/>
          </a:xfrm>
          <a:prstGeom prst="roundRect">
            <a:avLst>
              <a:gd name="adj" fmla="val 8000"/>
            </a:avLst>
          </a:prstGeom>
          <a:solidFill>
            <a:srgbClr val="EDE8F8"/>
          </a:solidFill>
          <a:ln>
            <a:noFill/>
          </a:ln>
        </p:spPr>
        <p:txBody>
          <a:bodyPr rtlCol="0" anchor="ctr"/>
          <a:lstStyle/>
          <a:p>
            <a:pPr algn="ctr"/>
            <a:endParaRPr/>
          </a:p>
        </p:txBody>
      </p:sp>
      <p:sp>
        <p:nvSpPr>
          <p:cNvPr id="7" name="TextBox 6"/>
          <p:cNvSpPr txBox="1"/>
          <p:nvPr/>
        </p:nvSpPr>
        <p:spPr>
          <a:xfrm>
            <a:off x="914400" y="2651760"/>
            <a:ext cx="2110664" cy="2194560"/>
          </a:xfrm>
          <a:prstGeom prst="rect">
            <a:avLst/>
          </a:prstGeom>
          <a:noFill/>
        </p:spPr>
        <p:txBody>
          <a:bodyPr wrap="square" lIns="0" tIns="0" rIns="0" bIns="0" anchor="t">
            <a:noAutofit/>
          </a:bodyPr>
          <a:lstStyle/>
          <a:p>
            <a:pPr marL="0" indent="0" algn="l">
              <a:lnSpc>
                <a:spcPct val="100000"/>
              </a:lnSpc>
              <a:spcBef>
                <a:spcPts val="0"/>
              </a:spcBef>
              <a:buNone/>
            </a:pPr>
            <a:r>
              <a:rPr lang="en-AU" sz="2200" b="0">
                <a:solidFill>
                  <a:srgbClr val="584099"/>
                </a:solidFill>
                <a:latin typeface="Arial Black"/>
                <a:ea typeface="Arial Black"/>
                <a:cs typeface="Arial Black"/>
              </a:rPr>
              <a:t>1</a:t>
            </a:r>
          </a:p>
          <a:p>
            <a:pPr marL="0" indent="0" algn="l">
              <a:lnSpc>
                <a:spcPct val="100000"/>
              </a:lnSpc>
              <a:spcBef>
                <a:spcPts val="400"/>
              </a:spcBef>
              <a:buNone/>
            </a:pPr>
            <a:r>
              <a:rPr lang="en-AU" sz="1800" b="1">
                <a:solidFill>
                  <a:srgbClr val="3D2A6B"/>
                </a:solidFill>
                <a:latin typeface="Arial"/>
                <a:ea typeface="Arial"/>
                <a:cs typeface="Arial"/>
              </a:rPr>
              <a:t>Inclusive environment</a:t>
            </a:r>
          </a:p>
          <a:p>
            <a:pPr marL="0" indent="0" algn="l">
              <a:lnSpc>
                <a:spcPct val="105000"/>
              </a:lnSpc>
              <a:spcBef>
                <a:spcPts val="600"/>
              </a:spcBef>
              <a:buNone/>
            </a:pPr>
            <a:r>
              <a:rPr lang="en-AU" sz="1600" b="0">
                <a:solidFill>
                  <a:srgbClr val="2D2440"/>
                </a:solidFill>
                <a:latin typeface="Arial"/>
                <a:ea typeface="Arial"/>
                <a:cs typeface="Arial"/>
              </a:rPr>
              <a:t>First, design inclusive environments that reduce barriers for everyone.</a:t>
            </a:r>
          </a:p>
        </p:txBody>
      </p:sp>
      <p:sp>
        <p:nvSpPr>
          <p:cNvPr id="8" name="Rounded Rectangle 7"/>
          <p:cNvSpPr/>
          <p:nvPr/>
        </p:nvSpPr>
        <p:spPr>
          <a:xfrm>
            <a:off x="3436544" y="2148840"/>
            <a:ext cx="2567864" cy="2788920"/>
          </a:xfrm>
          <a:prstGeom prst="roundRect">
            <a:avLst>
              <a:gd name="adj" fmla="val 8000"/>
            </a:avLst>
          </a:prstGeom>
          <a:solidFill>
            <a:srgbClr val="C9BCE0"/>
          </a:solidFill>
          <a:ln>
            <a:noFill/>
          </a:ln>
        </p:spPr>
        <p:txBody>
          <a:bodyPr rtlCol="0" anchor="ctr"/>
          <a:lstStyle/>
          <a:p>
            <a:pPr algn="ctr"/>
            <a:endParaRPr/>
          </a:p>
        </p:txBody>
      </p:sp>
      <p:sp>
        <p:nvSpPr>
          <p:cNvPr id="9" name="TextBox 8"/>
          <p:cNvSpPr txBox="1"/>
          <p:nvPr/>
        </p:nvSpPr>
        <p:spPr>
          <a:xfrm>
            <a:off x="3665144" y="2331720"/>
            <a:ext cx="2110664" cy="2514600"/>
          </a:xfrm>
          <a:prstGeom prst="rect">
            <a:avLst/>
          </a:prstGeom>
          <a:noFill/>
        </p:spPr>
        <p:txBody>
          <a:bodyPr wrap="square" lIns="0" tIns="0" rIns="0" bIns="0" anchor="t">
            <a:noAutofit/>
          </a:bodyPr>
          <a:lstStyle/>
          <a:p>
            <a:pPr marL="0" indent="0" algn="l">
              <a:lnSpc>
                <a:spcPct val="100000"/>
              </a:lnSpc>
              <a:spcBef>
                <a:spcPts val="0"/>
              </a:spcBef>
              <a:buNone/>
            </a:pPr>
            <a:r>
              <a:rPr lang="en-AU" sz="2200" b="0">
                <a:solidFill>
                  <a:srgbClr val="584099"/>
                </a:solidFill>
                <a:latin typeface="Arial Black"/>
                <a:ea typeface="Arial Black"/>
                <a:cs typeface="Arial Black"/>
              </a:rPr>
              <a:t>2</a:t>
            </a:r>
          </a:p>
          <a:p>
            <a:pPr marL="0" indent="0" algn="l">
              <a:lnSpc>
                <a:spcPct val="100000"/>
              </a:lnSpc>
              <a:spcBef>
                <a:spcPts val="400"/>
              </a:spcBef>
              <a:buNone/>
            </a:pPr>
            <a:r>
              <a:rPr lang="en-AU" sz="1800" b="1">
                <a:solidFill>
                  <a:srgbClr val="3D2A6B"/>
                </a:solidFill>
                <a:latin typeface="Arial"/>
                <a:ea typeface="Arial"/>
                <a:cs typeface="Arial"/>
              </a:rPr>
              <a:t>Universal supports</a:t>
            </a:r>
          </a:p>
          <a:p>
            <a:pPr marL="0" indent="0" algn="l">
              <a:lnSpc>
                <a:spcPct val="105000"/>
              </a:lnSpc>
              <a:spcBef>
                <a:spcPts val="600"/>
              </a:spcBef>
              <a:buNone/>
            </a:pPr>
            <a:r>
              <a:rPr lang="en-AU" sz="1600" b="0">
                <a:solidFill>
                  <a:srgbClr val="2D2440"/>
                </a:solidFill>
                <a:latin typeface="Arial"/>
                <a:ea typeface="Arial"/>
                <a:cs typeface="Arial"/>
              </a:rPr>
              <a:t>Then, provide universal supports that many students may benefit from.</a:t>
            </a:r>
          </a:p>
        </p:txBody>
      </p:sp>
      <p:sp>
        <p:nvSpPr>
          <p:cNvPr id="10" name="Rounded Rectangle 9"/>
          <p:cNvSpPr/>
          <p:nvPr/>
        </p:nvSpPr>
        <p:spPr>
          <a:xfrm>
            <a:off x="6187288" y="1828800"/>
            <a:ext cx="2567864" cy="3108960"/>
          </a:xfrm>
          <a:prstGeom prst="roundRect">
            <a:avLst>
              <a:gd name="adj" fmla="val 8000"/>
            </a:avLst>
          </a:prstGeom>
          <a:solidFill>
            <a:srgbClr val="7A5FC0"/>
          </a:solidFill>
          <a:ln>
            <a:noFill/>
          </a:ln>
        </p:spPr>
        <p:txBody>
          <a:bodyPr rtlCol="0" anchor="ctr"/>
          <a:lstStyle/>
          <a:p>
            <a:pPr algn="ctr"/>
            <a:endParaRPr/>
          </a:p>
        </p:txBody>
      </p:sp>
      <p:sp>
        <p:nvSpPr>
          <p:cNvPr id="11" name="TextBox 10"/>
          <p:cNvSpPr txBox="1"/>
          <p:nvPr/>
        </p:nvSpPr>
        <p:spPr>
          <a:xfrm>
            <a:off x="6415888" y="2011680"/>
            <a:ext cx="2110664" cy="2834640"/>
          </a:xfrm>
          <a:prstGeom prst="rect">
            <a:avLst/>
          </a:prstGeom>
          <a:noFill/>
        </p:spPr>
        <p:txBody>
          <a:bodyPr wrap="square" lIns="0" tIns="0" rIns="0" bIns="0" anchor="t">
            <a:noAutofit/>
          </a:bodyPr>
          <a:lstStyle/>
          <a:p>
            <a:pPr marL="0" indent="0" algn="l">
              <a:lnSpc>
                <a:spcPct val="100000"/>
              </a:lnSpc>
              <a:spcBef>
                <a:spcPts val="0"/>
              </a:spcBef>
              <a:buNone/>
            </a:pPr>
            <a:r>
              <a:rPr lang="en-AU" sz="2200" b="0">
                <a:solidFill>
                  <a:srgbClr val="FFFFFF"/>
                </a:solidFill>
                <a:latin typeface="Arial Black"/>
                <a:ea typeface="Arial Black"/>
                <a:cs typeface="Arial Black"/>
              </a:rPr>
              <a:t>3</a:t>
            </a:r>
          </a:p>
          <a:p>
            <a:pPr marL="0" indent="0" algn="l">
              <a:lnSpc>
                <a:spcPct val="100000"/>
              </a:lnSpc>
              <a:spcBef>
                <a:spcPts val="400"/>
              </a:spcBef>
              <a:buNone/>
            </a:pPr>
            <a:r>
              <a:rPr lang="en-AU" sz="1800" b="1">
                <a:solidFill>
                  <a:srgbClr val="FFFFFF"/>
                </a:solidFill>
                <a:latin typeface="Arial"/>
                <a:ea typeface="Arial"/>
                <a:cs typeface="Arial"/>
              </a:rPr>
              <a:t>Targeted supports</a:t>
            </a:r>
          </a:p>
          <a:p>
            <a:pPr marL="0" indent="0" algn="l">
              <a:lnSpc>
                <a:spcPct val="105000"/>
              </a:lnSpc>
              <a:spcBef>
                <a:spcPts val="600"/>
              </a:spcBef>
              <a:buNone/>
            </a:pPr>
            <a:r>
              <a:rPr lang="en-AU" sz="1600" b="0">
                <a:solidFill>
                  <a:srgbClr val="FFFFFF"/>
                </a:solidFill>
                <a:latin typeface="Arial"/>
                <a:ea typeface="Arial"/>
                <a:cs typeface="Arial"/>
              </a:rPr>
              <a:t>Next, offer targeted supports for students who need additional assistance.</a:t>
            </a:r>
          </a:p>
        </p:txBody>
      </p:sp>
      <p:sp>
        <p:nvSpPr>
          <p:cNvPr id="12" name="Rounded Rectangle 11"/>
          <p:cNvSpPr/>
          <p:nvPr/>
        </p:nvSpPr>
        <p:spPr>
          <a:xfrm>
            <a:off x="8938031" y="1508760"/>
            <a:ext cx="2567864" cy="3429000"/>
          </a:xfrm>
          <a:prstGeom prst="roundRect">
            <a:avLst>
              <a:gd name="adj" fmla="val 8000"/>
            </a:avLst>
          </a:prstGeom>
          <a:solidFill>
            <a:srgbClr val="584099"/>
          </a:solidFill>
          <a:ln>
            <a:noFill/>
          </a:ln>
        </p:spPr>
        <p:txBody>
          <a:bodyPr rtlCol="0" anchor="ctr"/>
          <a:lstStyle/>
          <a:p>
            <a:pPr algn="ctr"/>
            <a:endParaRPr/>
          </a:p>
        </p:txBody>
      </p:sp>
      <p:sp>
        <p:nvSpPr>
          <p:cNvPr id="13" name="TextBox 12"/>
          <p:cNvSpPr txBox="1"/>
          <p:nvPr/>
        </p:nvSpPr>
        <p:spPr>
          <a:xfrm>
            <a:off x="9166631" y="1691639"/>
            <a:ext cx="2110664" cy="3154680"/>
          </a:xfrm>
          <a:prstGeom prst="rect">
            <a:avLst/>
          </a:prstGeom>
          <a:noFill/>
        </p:spPr>
        <p:txBody>
          <a:bodyPr wrap="square" lIns="0" tIns="0" rIns="0" bIns="0" anchor="t">
            <a:noAutofit/>
          </a:bodyPr>
          <a:lstStyle/>
          <a:p>
            <a:pPr marL="0" indent="0" algn="l">
              <a:lnSpc>
                <a:spcPct val="100000"/>
              </a:lnSpc>
              <a:spcBef>
                <a:spcPts val="0"/>
              </a:spcBef>
              <a:buNone/>
            </a:pPr>
            <a:r>
              <a:rPr lang="en-AU" sz="2200" b="0">
                <a:solidFill>
                  <a:srgbClr val="FFFFFF"/>
                </a:solidFill>
                <a:latin typeface="Arial Black"/>
                <a:ea typeface="Arial Black"/>
                <a:cs typeface="Arial Black"/>
              </a:rPr>
              <a:t>4</a:t>
            </a:r>
          </a:p>
          <a:p>
            <a:pPr marL="0" indent="0" algn="l">
              <a:lnSpc>
                <a:spcPct val="100000"/>
              </a:lnSpc>
              <a:spcBef>
                <a:spcPts val="400"/>
              </a:spcBef>
              <a:buNone/>
            </a:pPr>
            <a:r>
              <a:rPr lang="en-AU" sz="1800" b="1">
                <a:solidFill>
                  <a:srgbClr val="FFFFFF"/>
                </a:solidFill>
                <a:latin typeface="Arial"/>
                <a:ea typeface="Arial"/>
                <a:cs typeface="Arial"/>
              </a:rPr>
              <a:t>Individual adjustments</a:t>
            </a:r>
          </a:p>
          <a:p>
            <a:pPr marL="0" indent="0" algn="l">
              <a:lnSpc>
                <a:spcPct val="105000"/>
              </a:lnSpc>
              <a:spcBef>
                <a:spcPts val="600"/>
              </a:spcBef>
              <a:buNone/>
            </a:pPr>
            <a:r>
              <a:rPr lang="en-AU" sz="1600" b="0">
                <a:solidFill>
                  <a:srgbClr val="FFFFFF"/>
                </a:solidFill>
                <a:latin typeface="Arial"/>
                <a:ea typeface="Arial"/>
                <a:cs typeface="Arial"/>
              </a:rPr>
              <a:t>Finally, where necessary, implement individual adjustments to ensure equitable access, participation and learning.</a:t>
            </a:r>
          </a:p>
        </p:txBody>
      </p:sp>
      <p:sp>
        <p:nvSpPr>
          <p:cNvPr id="14" name="Rounded Rectangle 13"/>
          <p:cNvSpPr/>
          <p:nvPr/>
        </p:nvSpPr>
        <p:spPr>
          <a:xfrm>
            <a:off x="685800" y="5120640"/>
            <a:ext cx="10820095" cy="1280160"/>
          </a:xfrm>
          <a:prstGeom prst="roundRect">
            <a:avLst>
              <a:gd name="adj" fmla="val 12000"/>
            </a:avLst>
          </a:prstGeom>
          <a:solidFill>
            <a:srgbClr val="F3F0FA"/>
          </a:solidFill>
          <a:ln>
            <a:noFill/>
          </a:ln>
        </p:spPr>
        <p:txBody>
          <a:bodyPr rtlCol="0" anchor="ctr"/>
          <a:lstStyle/>
          <a:p>
            <a:pPr algn="ctr"/>
            <a:endParaRPr/>
          </a:p>
        </p:txBody>
      </p:sp>
      <p:sp>
        <p:nvSpPr>
          <p:cNvPr id="15" name="TextBox 14"/>
          <p:cNvSpPr txBox="1"/>
          <p:nvPr/>
        </p:nvSpPr>
        <p:spPr>
          <a:xfrm>
            <a:off x="1005840" y="5120640"/>
            <a:ext cx="10149840" cy="1280160"/>
          </a:xfrm>
          <a:prstGeom prst="rect">
            <a:avLst/>
          </a:prstGeom>
          <a:noFill/>
        </p:spPr>
        <p:txBody>
          <a:bodyPr wrap="square" lIns="0" tIns="0" rIns="0" bIns="0" anchor="ctr">
            <a:noAutofit/>
          </a:bodyPr>
          <a:lstStyle/>
          <a:p>
            <a:pPr marL="0" indent="0" algn="l">
              <a:lnSpc>
                <a:spcPct val="100000"/>
              </a:lnSpc>
              <a:spcBef>
                <a:spcPts val="0"/>
              </a:spcBef>
              <a:buNone/>
            </a:pPr>
            <a:r>
              <a:rPr lang="en-AU" sz="2000" b="1">
                <a:solidFill>
                  <a:srgbClr val="3D2A6B"/>
                </a:solidFill>
                <a:latin typeface="Arial"/>
                <a:ea typeface="Arial"/>
                <a:cs typeface="Arial"/>
              </a:rPr>
              <a:t>Academic adjustments sit within a wider continuum of support.</a:t>
            </a:r>
          </a:p>
          <a:p>
            <a:pPr marL="0" indent="0" algn="l">
              <a:lnSpc>
                <a:spcPct val="100000"/>
              </a:lnSpc>
              <a:spcBef>
                <a:spcPts val="600"/>
              </a:spcBef>
              <a:buNone/>
            </a:pPr>
            <a:r>
              <a:rPr lang="en-AU" sz="1800" b="0">
                <a:solidFill>
                  <a:srgbClr val="2D2440"/>
                </a:solidFill>
                <a:latin typeface="Arial"/>
                <a:ea typeface="Arial"/>
                <a:cs typeface="Arial"/>
              </a:rPr>
              <a:t>Consider what is available to everyone, what is targeted and what is individually adjusted. Each response should connect to access and participation needs and be reviewed through use and feedback.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9C37B-A0B8-DC64-2CA6-97095004D226}"/>
              </a:ext>
            </a:extLst>
          </p:cNvPr>
          <p:cNvSpPr>
            <a:spLocks noGrp="1"/>
          </p:cNvSpPr>
          <p:nvPr>
            <p:ph type="title"/>
          </p:nvPr>
        </p:nvSpPr>
        <p:spPr>
          <a:xfrm>
            <a:off x="685800" y="457200"/>
            <a:ext cx="10789920" cy="777240"/>
          </a:xfrm>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Reasonable Adjustments</a:t>
            </a:r>
          </a:p>
        </p:txBody>
      </p:sp>
      <p:sp>
        <p:nvSpPr>
          <p:cNvPr id="3" name="Rounded Rectangle 2"/>
          <p:cNvSpPr/>
          <p:nvPr/>
        </p:nvSpPr>
        <p:spPr>
          <a:xfrm>
            <a:off x="685800" y="1645920"/>
            <a:ext cx="7315200" cy="640080"/>
          </a:xfrm>
          <a:prstGeom prst="roundRect">
            <a:avLst>
              <a:gd name="adj" fmla="val 30000"/>
            </a:avLst>
          </a:prstGeom>
          <a:solidFill>
            <a:srgbClr val="EDE8F8"/>
          </a:solidFill>
          <a:ln>
            <a:noFill/>
          </a:ln>
        </p:spPr>
        <p:txBody>
          <a:bodyPr rtlCol="0" anchor="ctr"/>
          <a:lstStyle/>
          <a:p>
            <a:pPr algn="ctr"/>
            <a:endParaRPr/>
          </a:p>
        </p:txBody>
      </p:sp>
      <p:sp>
        <p:nvSpPr>
          <p:cNvPr id="4" name="TextBox 3"/>
          <p:cNvSpPr txBox="1"/>
          <p:nvPr/>
        </p:nvSpPr>
        <p:spPr>
          <a:xfrm>
            <a:off x="822960" y="1645920"/>
            <a:ext cx="7040880" cy="640080"/>
          </a:xfrm>
          <a:prstGeom prst="rect">
            <a:avLst/>
          </a:prstGeom>
          <a:noFill/>
        </p:spPr>
        <p:txBody>
          <a:bodyPr wrap="square" lIns="0" tIns="0" rIns="0" bIns="0" anchor="ctr">
            <a:noAutofit/>
          </a:bodyPr>
          <a:lstStyle/>
          <a:p>
            <a:pPr marL="0" indent="0" algn="ctr">
              <a:lnSpc>
                <a:spcPct val="100000"/>
              </a:lnSpc>
              <a:spcBef>
                <a:spcPts val="0"/>
              </a:spcBef>
              <a:buNone/>
            </a:pPr>
            <a:r>
              <a:rPr lang="en-AU" sz="1800" b="1">
                <a:solidFill>
                  <a:srgbClr val="3D2A6B"/>
                </a:solidFill>
                <a:latin typeface="Arial"/>
                <a:ea typeface="Arial"/>
                <a:cs typeface="Arial"/>
              </a:rPr>
              <a:t>Environmental design</a:t>
            </a:r>
          </a:p>
        </p:txBody>
      </p:sp>
      <p:sp>
        <p:nvSpPr>
          <p:cNvPr id="5" name="Rounded Rectangle 4"/>
          <p:cNvSpPr/>
          <p:nvPr/>
        </p:nvSpPr>
        <p:spPr>
          <a:xfrm>
            <a:off x="914400" y="2414016"/>
            <a:ext cx="6858000" cy="640080"/>
          </a:xfrm>
          <a:prstGeom prst="roundRect">
            <a:avLst>
              <a:gd name="adj" fmla="val 30000"/>
            </a:avLst>
          </a:prstGeom>
          <a:solidFill>
            <a:srgbClr val="DCD3F0"/>
          </a:solidFill>
          <a:ln>
            <a:noFill/>
          </a:ln>
        </p:spPr>
        <p:txBody>
          <a:bodyPr rtlCol="0" anchor="ctr"/>
          <a:lstStyle/>
          <a:p>
            <a:pPr algn="ctr"/>
            <a:endParaRPr/>
          </a:p>
        </p:txBody>
      </p:sp>
      <p:sp>
        <p:nvSpPr>
          <p:cNvPr id="6" name="TextBox 5"/>
          <p:cNvSpPr txBox="1"/>
          <p:nvPr/>
        </p:nvSpPr>
        <p:spPr>
          <a:xfrm>
            <a:off x="1051560" y="2414016"/>
            <a:ext cx="6583680" cy="640080"/>
          </a:xfrm>
          <a:prstGeom prst="rect">
            <a:avLst/>
          </a:prstGeom>
          <a:noFill/>
        </p:spPr>
        <p:txBody>
          <a:bodyPr wrap="square" lIns="0" tIns="0" rIns="0" bIns="0" anchor="ctr">
            <a:noAutofit/>
          </a:bodyPr>
          <a:lstStyle/>
          <a:p>
            <a:pPr marL="0" indent="0" algn="ctr">
              <a:lnSpc>
                <a:spcPct val="100000"/>
              </a:lnSpc>
              <a:spcBef>
                <a:spcPts val="0"/>
              </a:spcBef>
              <a:buNone/>
            </a:pPr>
            <a:r>
              <a:rPr lang="en-AU" sz="1800" b="1">
                <a:solidFill>
                  <a:srgbClr val="3D2A6B"/>
                </a:solidFill>
                <a:latin typeface="Arial"/>
                <a:ea typeface="Arial"/>
                <a:cs typeface="Arial"/>
              </a:rPr>
              <a:t>Universal Design for Learning</a:t>
            </a:r>
          </a:p>
        </p:txBody>
      </p:sp>
      <p:sp>
        <p:nvSpPr>
          <p:cNvPr id="7" name="Rounded Rectangle 6"/>
          <p:cNvSpPr/>
          <p:nvPr/>
        </p:nvSpPr>
        <p:spPr>
          <a:xfrm>
            <a:off x="1143000" y="3182112"/>
            <a:ext cx="6400800" cy="640080"/>
          </a:xfrm>
          <a:prstGeom prst="roundRect">
            <a:avLst>
              <a:gd name="adj" fmla="val 30000"/>
            </a:avLst>
          </a:prstGeom>
          <a:solidFill>
            <a:srgbClr val="C9BCE0"/>
          </a:solidFill>
          <a:ln>
            <a:noFill/>
          </a:ln>
        </p:spPr>
        <p:txBody>
          <a:bodyPr rtlCol="0" anchor="ctr"/>
          <a:lstStyle/>
          <a:p>
            <a:pPr algn="ctr"/>
            <a:endParaRPr/>
          </a:p>
        </p:txBody>
      </p:sp>
      <p:sp>
        <p:nvSpPr>
          <p:cNvPr id="8" name="TextBox 7"/>
          <p:cNvSpPr txBox="1"/>
          <p:nvPr/>
        </p:nvSpPr>
        <p:spPr>
          <a:xfrm>
            <a:off x="1280160" y="3182112"/>
            <a:ext cx="6126480" cy="640080"/>
          </a:xfrm>
          <a:prstGeom prst="rect">
            <a:avLst/>
          </a:prstGeom>
          <a:noFill/>
        </p:spPr>
        <p:txBody>
          <a:bodyPr wrap="square" lIns="0" tIns="0" rIns="0" bIns="0" anchor="ctr">
            <a:noAutofit/>
          </a:bodyPr>
          <a:lstStyle/>
          <a:p>
            <a:pPr marL="0" indent="0" algn="ctr">
              <a:lnSpc>
                <a:spcPct val="100000"/>
              </a:lnSpc>
              <a:spcBef>
                <a:spcPts val="0"/>
              </a:spcBef>
              <a:buNone/>
            </a:pPr>
            <a:r>
              <a:rPr lang="en-AU" sz="1800" b="1">
                <a:solidFill>
                  <a:srgbClr val="3D2A6B"/>
                </a:solidFill>
                <a:latin typeface="Arial"/>
                <a:ea typeface="Arial"/>
                <a:cs typeface="Arial"/>
              </a:rPr>
              <a:t>Quality differentiated teaching practice (NCCD level)</a:t>
            </a:r>
          </a:p>
        </p:txBody>
      </p:sp>
      <p:sp>
        <p:nvSpPr>
          <p:cNvPr id="9" name="Rounded Rectangle 8"/>
          <p:cNvSpPr/>
          <p:nvPr/>
        </p:nvSpPr>
        <p:spPr>
          <a:xfrm>
            <a:off x="1371600" y="3950208"/>
            <a:ext cx="5943600" cy="640080"/>
          </a:xfrm>
          <a:prstGeom prst="roundRect">
            <a:avLst>
              <a:gd name="adj" fmla="val 30000"/>
            </a:avLst>
          </a:prstGeom>
          <a:solidFill>
            <a:srgbClr val="A893D8"/>
          </a:solidFill>
          <a:ln>
            <a:noFill/>
          </a:ln>
        </p:spPr>
        <p:txBody>
          <a:bodyPr rtlCol="0" anchor="ctr"/>
          <a:lstStyle/>
          <a:p>
            <a:pPr algn="ctr"/>
            <a:endParaRPr/>
          </a:p>
        </p:txBody>
      </p:sp>
      <p:sp>
        <p:nvSpPr>
          <p:cNvPr id="10" name="TextBox 9"/>
          <p:cNvSpPr txBox="1"/>
          <p:nvPr/>
        </p:nvSpPr>
        <p:spPr>
          <a:xfrm>
            <a:off x="1508760" y="3950208"/>
            <a:ext cx="5669280" cy="640080"/>
          </a:xfrm>
          <a:prstGeom prst="rect">
            <a:avLst/>
          </a:prstGeom>
          <a:noFill/>
        </p:spPr>
        <p:txBody>
          <a:bodyPr wrap="square" lIns="0" tIns="0" rIns="0" bIns="0" anchor="ctr">
            <a:noAutofit/>
          </a:bodyPr>
          <a:lstStyle/>
          <a:p>
            <a:pPr marL="0" indent="0" algn="ctr">
              <a:lnSpc>
                <a:spcPct val="100000"/>
              </a:lnSpc>
              <a:spcBef>
                <a:spcPts val="0"/>
              </a:spcBef>
              <a:buNone/>
            </a:pPr>
            <a:r>
              <a:rPr lang="en-AU" sz="1800" b="1">
                <a:solidFill>
                  <a:srgbClr val="3D2A6B"/>
                </a:solidFill>
                <a:latin typeface="Arial"/>
                <a:ea typeface="Arial"/>
                <a:cs typeface="Arial"/>
              </a:rPr>
              <a:t>Supplementary adjustments (NCCD level)</a:t>
            </a:r>
          </a:p>
        </p:txBody>
      </p:sp>
      <p:sp>
        <p:nvSpPr>
          <p:cNvPr id="11" name="Rounded Rectangle 10"/>
          <p:cNvSpPr/>
          <p:nvPr/>
        </p:nvSpPr>
        <p:spPr>
          <a:xfrm>
            <a:off x="1600200" y="4718304"/>
            <a:ext cx="5486400" cy="640080"/>
          </a:xfrm>
          <a:prstGeom prst="roundRect">
            <a:avLst>
              <a:gd name="adj" fmla="val 30000"/>
            </a:avLst>
          </a:prstGeom>
          <a:solidFill>
            <a:srgbClr val="7A5FC0"/>
          </a:solidFill>
          <a:ln>
            <a:noFill/>
          </a:ln>
        </p:spPr>
        <p:txBody>
          <a:bodyPr rtlCol="0" anchor="ctr"/>
          <a:lstStyle/>
          <a:p>
            <a:pPr algn="ctr"/>
            <a:endParaRPr/>
          </a:p>
        </p:txBody>
      </p:sp>
      <p:sp>
        <p:nvSpPr>
          <p:cNvPr id="12" name="TextBox 11"/>
          <p:cNvSpPr txBox="1"/>
          <p:nvPr/>
        </p:nvSpPr>
        <p:spPr>
          <a:xfrm>
            <a:off x="1737360" y="4718304"/>
            <a:ext cx="5212080" cy="640080"/>
          </a:xfrm>
          <a:prstGeom prst="rect">
            <a:avLst/>
          </a:prstGeom>
          <a:noFill/>
        </p:spPr>
        <p:txBody>
          <a:bodyPr wrap="square" lIns="0" tIns="0" rIns="0" bIns="0" anchor="ctr">
            <a:noAutofit/>
          </a:bodyPr>
          <a:lstStyle/>
          <a:p>
            <a:pPr marL="0" indent="0" algn="ctr">
              <a:lnSpc>
                <a:spcPct val="100000"/>
              </a:lnSpc>
              <a:spcBef>
                <a:spcPts val="0"/>
              </a:spcBef>
              <a:buNone/>
            </a:pPr>
            <a:r>
              <a:rPr lang="en-AU" sz="1800" b="1">
                <a:solidFill>
                  <a:srgbClr val="FFFFFF"/>
                </a:solidFill>
                <a:latin typeface="Arial"/>
                <a:ea typeface="Arial"/>
                <a:cs typeface="Arial"/>
              </a:rPr>
              <a:t>Substantial adjustments (NCCD level)</a:t>
            </a:r>
          </a:p>
        </p:txBody>
      </p:sp>
      <p:sp>
        <p:nvSpPr>
          <p:cNvPr id="13" name="Rounded Rectangle 12"/>
          <p:cNvSpPr/>
          <p:nvPr/>
        </p:nvSpPr>
        <p:spPr>
          <a:xfrm>
            <a:off x="1828800" y="5486400"/>
            <a:ext cx="5029200" cy="640080"/>
          </a:xfrm>
          <a:prstGeom prst="roundRect">
            <a:avLst>
              <a:gd name="adj" fmla="val 30000"/>
            </a:avLst>
          </a:prstGeom>
          <a:solidFill>
            <a:srgbClr val="584099"/>
          </a:solidFill>
          <a:ln>
            <a:noFill/>
          </a:ln>
        </p:spPr>
        <p:txBody>
          <a:bodyPr rtlCol="0" anchor="ctr"/>
          <a:lstStyle/>
          <a:p>
            <a:pPr algn="ctr"/>
            <a:endParaRPr/>
          </a:p>
        </p:txBody>
      </p:sp>
      <p:sp>
        <p:nvSpPr>
          <p:cNvPr id="14" name="TextBox 13"/>
          <p:cNvSpPr txBox="1"/>
          <p:nvPr/>
        </p:nvSpPr>
        <p:spPr>
          <a:xfrm>
            <a:off x="1965960" y="5486400"/>
            <a:ext cx="4754880" cy="640080"/>
          </a:xfrm>
          <a:prstGeom prst="rect">
            <a:avLst/>
          </a:prstGeom>
          <a:noFill/>
        </p:spPr>
        <p:txBody>
          <a:bodyPr wrap="square" lIns="0" tIns="0" rIns="0" bIns="0" anchor="ctr">
            <a:noAutofit/>
          </a:bodyPr>
          <a:lstStyle/>
          <a:p>
            <a:pPr marL="0" indent="0" algn="ctr">
              <a:lnSpc>
                <a:spcPct val="100000"/>
              </a:lnSpc>
              <a:spcBef>
                <a:spcPts val="0"/>
              </a:spcBef>
              <a:buNone/>
            </a:pPr>
            <a:r>
              <a:rPr lang="en-AU" sz="1800" b="1">
                <a:solidFill>
                  <a:srgbClr val="FFFFFF"/>
                </a:solidFill>
                <a:latin typeface="Arial"/>
                <a:ea typeface="Arial"/>
                <a:cs typeface="Arial"/>
              </a:rPr>
              <a:t>Extensive adjustments (NCCD level)</a:t>
            </a:r>
          </a:p>
        </p:txBody>
      </p:sp>
      <p:sp>
        <p:nvSpPr>
          <p:cNvPr id="15" name="Rounded Rectangle 14"/>
          <p:cNvSpPr/>
          <p:nvPr/>
        </p:nvSpPr>
        <p:spPr>
          <a:xfrm>
            <a:off x="8549640" y="1645920"/>
            <a:ext cx="2956255" cy="2176272"/>
          </a:xfrm>
          <a:prstGeom prst="roundRect">
            <a:avLst>
              <a:gd name="adj" fmla="val 8000"/>
            </a:avLst>
          </a:prstGeom>
          <a:solidFill>
            <a:srgbClr val="FFFFFF"/>
          </a:solidFill>
          <a:ln w="19050">
            <a:solidFill>
              <a:srgbClr val="584099"/>
            </a:solidFill>
          </a:ln>
        </p:spPr>
        <p:txBody>
          <a:bodyPr rtlCol="0" anchor="ctr"/>
          <a:lstStyle/>
          <a:p>
            <a:pPr algn="ctr"/>
            <a:endParaRPr/>
          </a:p>
        </p:txBody>
      </p:sp>
      <p:sp>
        <p:nvSpPr>
          <p:cNvPr id="16" name="TextBox 15"/>
          <p:cNvSpPr txBox="1"/>
          <p:nvPr/>
        </p:nvSpPr>
        <p:spPr>
          <a:xfrm>
            <a:off x="8778240" y="1645920"/>
            <a:ext cx="2514600" cy="2176272"/>
          </a:xfrm>
          <a:prstGeom prst="rect">
            <a:avLst/>
          </a:prstGeom>
          <a:noFill/>
        </p:spPr>
        <p:txBody>
          <a:bodyPr wrap="square" lIns="0" tIns="0" rIns="0" bIns="0" anchor="ctr">
            <a:noAutofit/>
          </a:bodyPr>
          <a:lstStyle/>
          <a:p>
            <a:pPr marL="0" indent="0" algn="l">
              <a:lnSpc>
                <a:spcPct val="100000"/>
              </a:lnSpc>
              <a:spcBef>
                <a:spcPts val="0"/>
              </a:spcBef>
              <a:buNone/>
            </a:pPr>
            <a:r>
              <a:rPr lang="en-AU" sz="2000" b="0">
                <a:solidFill>
                  <a:srgbClr val="584099"/>
                </a:solidFill>
                <a:latin typeface="Arial Black"/>
                <a:ea typeface="Arial Black"/>
                <a:cs typeface="Arial Black"/>
              </a:rPr>
              <a:t>NCCD level of adjustment</a:t>
            </a:r>
          </a:p>
          <a:p>
            <a:pPr marL="0" indent="0" algn="l">
              <a:lnSpc>
                <a:spcPct val="100000"/>
              </a:lnSpc>
              <a:spcBef>
                <a:spcPts val="400"/>
              </a:spcBef>
              <a:buNone/>
            </a:pPr>
            <a:r>
              <a:rPr lang="en-AU" sz="1700" b="1">
                <a:solidFill>
                  <a:srgbClr val="3D2A6B"/>
                </a:solidFill>
                <a:latin typeface="Arial"/>
                <a:ea typeface="Arial"/>
                <a:cs typeface="Arial"/>
              </a:rPr>
              <a:t>Quality differentiated teaching practice</a:t>
            </a:r>
          </a:p>
        </p:txBody>
      </p:sp>
      <p:cxnSp>
        <p:nvCxnSpPr>
          <p:cNvPr id="17" name="Connector 16"/>
          <p:cNvCxnSpPr/>
          <p:nvPr/>
        </p:nvCxnSpPr>
        <p:spPr>
          <a:xfrm>
            <a:off x="8138160" y="2734056"/>
            <a:ext cx="411480" cy="0"/>
          </a:xfrm>
          <a:prstGeom prst="line">
            <a:avLst/>
          </a:prstGeom>
          <a:ln w="19050">
            <a:solidFill>
              <a:srgbClr val="B9A7D6"/>
            </a:solidFill>
            <a:prstDash val="dash"/>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549640" y="3950208"/>
            <a:ext cx="2956255" cy="2176272"/>
          </a:xfrm>
          <a:prstGeom prst="roundRect">
            <a:avLst>
              <a:gd name="adj" fmla="val 8000"/>
            </a:avLst>
          </a:prstGeom>
          <a:solidFill>
            <a:srgbClr val="584099"/>
          </a:solidFill>
          <a:ln w="19050">
            <a:solidFill>
              <a:srgbClr val="584099"/>
            </a:solidFill>
          </a:ln>
        </p:spPr>
        <p:txBody>
          <a:bodyPr rtlCol="0" anchor="ctr"/>
          <a:lstStyle/>
          <a:p>
            <a:pPr algn="ctr"/>
            <a:endParaRPr/>
          </a:p>
        </p:txBody>
      </p:sp>
      <p:sp>
        <p:nvSpPr>
          <p:cNvPr id="19" name="TextBox 18"/>
          <p:cNvSpPr txBox="1"/>
          <p:nvPr/>
        </p:nvSpPr>
        <p:spPr>
          <a:xfrm>
            <a:off x="8778240" y="3950208"/>
            <a:ext cx="2514600" cy="2176272"/>
          </a:xfrm>
          <a:prstGeom prst="rect">
            <a:avLst/>
          </a:prstGeom>
          <a:noFill/>
        </p:spPr>
        <p:txBody>
          <a:bodyPr wrap="square" lIns="0" tIns="0" rIns="0" bIns="0" anchor="ctr">
            <a:noAutofit/>
          </a:bodyPr>
          <a:lstStyle/>
          <a:p>
            <a:pPr marL="0" indent="0" algn="l">
              <a:lnSpc>
                <a:spcPct val="100000"/>
              </a:lnSpc>
              <a:spcBef>
                <a:spcPts val="0"/>
              </a:spcBef>
              <a:buNone/>
            </a:pPr>
            <a:r>
              <a:rPr lang="en-AU" sz="2000" b="0">
                <a:solidFill>
                  <a:srgbClr val="FFFFFF"/>
                </a:solidFill>
                <a:latin typeface="Arial Black"/>
                <a:ea typeface="Arial Black"/>
                <a:cs typeface="Arial Black"/>
              </a:rPr>
              <a:t>Reasonable adjustments</a:t>
            </a:r>
          </a:p>
          <a:p>
            <a:pPr marL="0" indent="0" algn="l">
              <a:lnSpc>
                <a:spcPct val="100000"/>
              </a:lnSpc>
              <a:spcBef>
                <a:spcPts val="400"/>
              </a:spcBef>
              <a:buNone/>
            </a:pPr>
            <a:r>
              <a:rPr lang="en-AU" sz="1700" b="1">
                <a:solidFill>
                  <a:srgbClr val="FFFFFF"/>
                </a:solidFill>
                <a:latin typeface="Arial"/>
                <a:ea typeface="Arial"/>
                <a:cs typeface="Arial"/>
              </a:rPr>
              <a:t>NCCD levels: supplementary, substantial, extensive</a:t>
            </a:r>
          </a:p>
        </p:txBody>
      </p:sp>
      <p:cxnSp>
        <p:nvCxnSpPr>
          <p:cNvPr id="20" name="Connector 19"/>
          <p:cNvCxnSpPr/>
          <p:nvPr/>
        </p:nvCxnSpPr>
        <p:spPr>
          <a:xfrm>
            <a:off x="8138160" y="5038344"/>
            <a:ext cx="411480" cy="0"/>
          </a:xfrm>
          <a:prstGeom prst="line">
            <a:avLst/>
          </a:prstGeom>
          <a:ln w="19050">
            <a:solidFill>
              <a:srgbClr val="B9A7D6"/>
            </a:solidFill>
            <a:prstDash val="dash"/>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NCCD</a:t>
            </a:r>
          </a:p>
        </p:txBody>
      </p:sp>
      <p:sp>
        <p:nvSpPr>
          <p:cNvPr id="3" name="Rounded Rectangle 2"/>
          <p:cNvSpPr/>
          <p:nvPr/>
        </p:nvSpPr>
        <p:spPr>
          <a:xfrm>
            <a:off x="685800" y="1554480"/>
            <a:ext cx="10817352" cy="3566160"/>
          </a:xfrm>
          <a:prstGeom prst="roundRect">
            <a:avLst>
              <a:gd name="adj" fmla="val 7000"/>
            </a:avLst>
          </a:prstGeom>
          <a:solidFill>
            <a:srgbClr val="F3F0FA"/>
          </a:solidFill>
          <a:ln>
            <a:noFill/>
          </a:ln>
        </p:spPr>
        <p:txBody>
          <a:bodyPr rtlCol="0" anchor="ctr"/>
          <a:lstStyle/>
          <a:p>
            <a:pPr algn="ctr"/>
            <a:endParaRPr/>
          </a:p>
        </p:txBody>
      </p:sp>
      <p:sp>
        <p:nvSpPr>
          <p:cNvPr id="4" name="TextBox 3"/>
          <p:cNvSpPr txBox="1"/>
          <p:nvPr/>
        </p:nvSpPr>
        <p:spPr>
          <a:xfrm>
            <a:off x="1097280" y="1554480"/>
            <a:ext cx="9994392" cy="3566160"/>
          </a:xfrm>
          <a:prstGeom prst="rect">
            <a:avLst/>
          </a:prstGeom>
          <a:noFill/>
        </p:spPr>
        <p:txBody>
          <a:bodyPr wrap="square" lIns="0" tIns="0" rIns="0" bIns="0" anchor="ctr">
            <a:noAutofit/>
          </a:bodyPr>
          <a:lstStyle/>
          <a:p>
            <a:pPr marL="0" indent="0" algn="l">
              <a:lnSpc>
                <a:spcPct val="100000"/>
              </a:lnSpc>
              <a:spcBef>
                <a:spcPts val="0"/>
              </a:spcBef>
              <a:buNone/>
            </a:pPr>
            <a:r>
              <a:rPr lang="en-AU" sz="2400" b="1">
                <a:solidFill>
                  <a:srgbClr val="584099"/>
                </a:solidFill>
                <a:latin typeface="Arial"/>
                <a:ea typeface="Arial"/>
                <a:cs typeface="Arial"/>
              </a:rPr>
              <a:t>NCCD information and links</a:t>
            </a:r>
          </a:p>
          <a:p>
            <a:pPr marL="0" indent="0" algn="l">
              <a:lnSpc>
                <a:spcPct val="110000"/>
              </a:lnSpc>
              <a:spcBef>
                <a:spcPts val="1400"/>
              </a:spcBef>
              <a:buNone/>
            </a:pPr>
            <a:r>
              <a:rPr lang="en-AU" sz="2000" b="0">
                <a:solidFill>
                  <a:srgbClr val="2D2440"/>
                </a:solidFill>
                <a:latin typeface="Arial"/>
                <a:ea typeface="Arial"/>
                <a:cs typeface="Arial"/>
              </a:rPr>
              <a:t>Connect the NCCD discussion with reasonable adjustments and evidence. Follow the consultation, documentation and review processes used in your school or system, and make responsibilities clear to the student, family and staff involved.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Oval 2"/>
          <p:cNvSpPr/>
          <p:nvPr/>
        </p:nvSpPr>
        <p:spPr>
          <a:xfrm>
            <a:off x="8549640" y="3840480"/>
            <a:ext cx="4873752" cy="4873752"/>
          </a:xfrm>
          <a:prstGeom prst="ellipse">
            <a:avLst/>
          </a:prstGeom>
          <a:solidFill>
            <a:srgbClr val="EDE8F8"/>
          </a:solidFill>
          <a:ln>
            <a:noFill/>
          </a:ln>
        </p:spPr>
        <p:txBody>
          <a:bodyPr rtlCol="0" anchor="ctr"/>
          <a:lstStyle/>
          <a:p>
            <a:pPr algn="ctr"/>
            <a:endParaRPr/>
          </a:p>
        </p:txBody>
      </p:sp>
      <p:sp>
        <p:nvSpPr>
          <p:cNvPr id="2"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Share, refine and commit</a:t>
            </a:r>
          </a:p>
        </p:txBody>
      </p:sp>
      <p:sp>
        <p:nvSpPr>
          <p:cNvPr id="4" name="Rounded Rectangle 3"/>
          <p:cNvSpPr/>
          <p:nvPr/>
        </p:nvSpPr>
        <p:spPr>
          <a:xfrm>
            <a:off x="685800" y="1554480"/>
            <a:ext cx="9509760" cy="3566160"/>
          </a:xfrm>
          <a:prstGeom prst="roundRect">
            <a:avLst>
              <a:gd name="adj" fmla="val 7000"/>
            </a:avLst>
          </a:prstGeom>
          <a:solidFill>
            <a:srgbClr val="F3F0FA"/>
          </a:solidFill>
          <a:ln>
            <a:noFill/>
          </a:ln>
        </p:spPr>
        <p:txBody>
          <a:bodyPr rtlCol="0" anchor="ctr"/>
          <a:lstStyle/>
          <a:p>
            <a:pPr algn="ctr"/>
            <a:endParaRPr/>
          </a:p>
        </p:txBody>
      </p:sp>
      <p:pic>
        <p:nvPicPr>
          <p:cNvPr id="5" name="Discussion icon" descr="Speech bubbles"/>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43000" y="1965960"/>
            <a:ext cx="658368" cy="658368"/>
          </a:xfrm>
          <a:prstGeom prst="rect">
            <a:avLst/>
          </a:prstGeom>
        </p:spPr>
      </p:pic>
      <p:sp>
        <p:nvSpPr>
          <p:cNvPr id="6" name="TextBox 5"/>
          <p:cNvSpPr txBox="1"/>
          <p:nvPr/>
        </p:nvSpPr>
        <p:spPr>
          <a:xfrm>
            <a:off x="2194560" y="1874520"/>
            <a:ext cx="7680960" cy="3017520"/>
          </a:xfrm>
          <a:prstGeom prst="rect">
            <a:avLst/>
          </a:prstGeom>
          <a:noFill/>
        </p:spPr>
        <p:txBody>
          <a:bodyPr wrap="square" lIns="0" tIns="0" rIns="0" bIns="0" anchor="ctr">
            <a:noAutofit/>
          </a:bodyPr>
          <a:lstStyle/>
          <a:p>
            <a:pPr marL="0" indent="0" algn="l">
              <a:lnSpc>
                <a:spcPct val="100000"/>
              </a:lnSpc>
              <a:spcBef>
                <a:spcPts val="0"/>
              </a:spcBef>
              <a:buNone/>
            </a:pPr>
            <a:r>
              <a:rPr lang="en-AU" sz="2600" b="1">
                <a:solidFill>
                  <a:srgbClr val="3D2A6B"/>
                </a:solidFill>
                <a:latin typeface="Arial"/>
                <a:ea typeface="Arial"/>
                <a:cs typeface="Arial"/>
              </a:rPr>
              <a:t>Before you leave, ask yourself:</a:t>
            </a:r>
          </a:p>
          <a:p>
            <a:pPr marL="347472" indent="-347472" algn="l">
              <a:lnSpc>
                <a:spcPct val="100000"/>
              </a:lnSpc>
              <a:spcBef>
                <a:spcPts val="1600"/>
              </a:spcBef>
              <a:buClr>
                <a:srgbClr val="584099"/>
              </a:buClr>
              <a:buFont typeface="Arial"/>
              <a:buChar char="•"/>
            </a:pPr>
            <a:r>
              <a:rPr lang="en-AU" sz="2200" b="0">
                <a:solidFill>
                  <a:srgbClr val="3D2A6B"/>
                </a:solidFill>
                <a:latin typeface="Arial"/>
                <a:ea typeface="Arial"/>
                <a:cs typeface="Arial"/>
              </a:rPr>
              <a:t>What will you try this week, in your own classes?</a:t>
            </a:r>
          </a:p>
          <a:p>
            <a:pPr marL="347472" indent="-347472" algn="l">
              <a:lnSpc>
                <a:spcPct val="100000"/>
              </a:lnSpc>
              <a:spcBef>
                <a:spcPts val="1000"/>
              </a:spcBef>
              <a:buClr>
                <a:srgbClr val="584099"/>
              </a:buClr>
              <a:buFont typeface="Arial"/>
              <a:buChar char="•"/>
            </a:pPr>
            <a:r>
              <a:rPr lang="en-AU" sz="2200" b="0">
                <a:solidFill>
                  <a:srgbClr val="3D2A6B"/>
                </a:solidFill>
                <a:latin typeface="Arial"/>
                <a:ea typeface="Arial"/>
                <a:cs typeface="Arial"/>
              </a:rPr>
              <a:t>What needs your faculty or year level team?</a:t>
            </a:r>
          </a:p>
          <a:p>
            <a:pPr marL="347472" indent="-347472" algn="l">
              <a:lnSpc>
                <a:spcPct val="100000"/>
              </a:lnSpc>
              <a:spcBef>
                <a:spcPts val="1000"/>
              </a:spcBef>
              <a:buClr>
                <a:srgbClr val="584099"/>
              </a:buClr>
              <a:buFont typeface="Arial"/>
              <a:buChar char="•"/>
            </a:pPr>
            <a:r>
              <a:rPr lang="en-AU" sz="2200" b="0">
                <a:solidFill>
                  <a:srgbClr val="3D2A6B"/>
                </a:solidFill>
                <a:latin typeface="Arial"/>
                <a:ea typeface="Arial"/>
                <a:cs typeface="Arial"/>
              </a:rPr>
              <a:t>What needs to go to school leaders?</a:t>
            </a:r>
          </a:p>
          <a:p>
            <a:pPr marL="347472" indent="-347472" algn="l">
              <a:lnSpc>
                <a:spcPct val="100000"/>
              </a:lnSpc>
              <a:spcBef>
                <a:spcPts val="1000"/>
              </a:spcBef>
              <a:buClr>
                <a:srgbClr val="584099"/>
              </a:buClr>
              <a:buFont typeface="Arial"/>
              <a:buChar char="•"/>
            </a:pPr>
            <a:r>
              <a:rPr lang="en-AU" sz="2200" b="0">
                <a:solidFill>
                  <a:srgbClr val="3D2A6B"/>
                </a:solidFill>
                <a:latin typeface="Arial"/>
                <a:ea typeface="Arial"/>
                <a:cs typeface="Arial"/>
              </a:rPr>
              <a:t>How will students and families help refine it?</a:t>
            </a:r>
          </a:p>
        </p:txBody>
      </p:sp>
      <p:sp>
        <p:nvSpPr>
          <p:cNvPr id="7" name="Rounded Rectangle 6"/>
          <p:cNvSpPr/>
          <p:nvPr/>
        </p:nvSpPr>
        <p:spPr>
          <a:xfrm>
            <a:off x="685800" y="5394960"/>
            <a:ext cx="9509760" cy="566928"/>
          </a:xfrm>
          <a:prstGeom prst="roundRect">
            <a:avLst>
              <a:gd name="adj" fmla="val 50000"/>
            </a:avLst>
          </a:prstGeom>
          <a:solidFill>
            <a:srgbClr val="FFFFFF"/>
          </a:solidFill>
          <a:ln w="19050">
            <a:solidFill>
              <a:srgbClr val="584099"/>
            </a:solidFill>
          </a:ln>
        </p:spPr>
        <p:txBody>
          <a:bodyPr rtlCol="0" anchor="ctr"/>
          <a:lstStyle/>
          <a:p>
            <a:pPr algn="ctr"/>
            <a:endParaRPr/>
          </a:p>
        </p:txBody>
      </p:sp>
      <p:sp>
        <p:nvSpPr>
          <p:cNvPr id="8" name="TextBox 7"/>
          <p:cNvSpPr txBox="1"/>
          <p:nvPr/>
        </p:nvSpPr>
        <p:spPr>
          <a:xfrm>
            <a:off x="960120" y="5394960"/>
            <a:ext cx="8961120" cy="566928"/>
          </a:xfrm>
          <a:prstGeom prst="rect">
            <a:avLst/>
          </a:prstGeom>
          <a:noFill/>
        </p:spPr>
        <p:txBody>
          <a:bodyPr wrap="square" lIns="0" tIns="0" rIns="0" bIns="0" anchor="ctr">
            <a:noAutofit/>
          </a:bodyPr>
          <a:lstStyle/>
          <a:p>
            <a:pPr marL="0" indent="0" algn="ctr">
              <a:lnSpc>
                <a:spcPct val="100000"/>
              </a:lnSpc>
              <a:spcBef>
                <a:spcPts val="0"/>
              </a:spcBef>
              <a:buNone/>
            </a:pPr>
            <a:r>
              <a:rPr lang="en-AU" sz="1800" b="1">
                <a:solidFill>
                  <a:srgbClr val="584099"/>
                </a:solidFill>
                <a:latin typeface="Arial"/>
                <a:ea typeface="Arial"/>
                <a:cs typeface="Arial"/>
              </a:rPr>
              <a:t>Treat the change as something to try, review and refine.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75DF672D9920B44888613C845FEE28C" ma:contentTypeVersion="13" ma:contentTypeDescription="Create a new document." ma:contentTypeScope="" ma:versionID="f74e0793e4bbea6511fcde495954d792">
  <xsd:schema xmlns:xsd="http://www.w3.org/2001/XMLSchema" xmlns:xs="http://www.w3.org/2001/XMLSchema" xmlns:p="http://schemas.microsoft.com/office/2006/metadata/properties" xmlns:ns2="f0bb3e21-4545-485a-b693-7e527aa5b0a1" xmlns:ns3="27f1137f-2ca6-4fef-8072-b9e4ddf9f88d" targetNamespace="http://schemas.microsoft.com/office/2006/metadata/properties" ma:root="true" ma:fieldsID="83fb0c578da1c893ab66577103c670f4" ns2:_="" ns3:_="">
    <xsd:import namespace="f0bb3e21-4545-485a-b693-7e527aa5b0a1"/>
    <xsd:import namespace="27f1137f-2ca6-4fef-8072-b9e4ddf9f88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2:MediaLengthInSeconds" minOccurs="0"/>
                <xsd:element ref="ns2:MediaServiceBillingMetadata"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bb3e21-4545-485a-b693-7e527aa5b0a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0234d0ea-ced3-483a-ade0-71e1f4ad4276"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MediaLengthInSeconds" ma:hidden="true" ma:internalName="MediaLengthInSeconds" ma:readOnly="true">
      <xsd:simpleType>
        <xsd:restriction base="dms:Unknown"/>
      </xsd:simpleType>
    </xsd:element>
    <xsd:element name="MediaServiceBillingMetadata" ma:index="19" nillable="true" ma:displayName="MediaServiceBillingMetadata" ma:hidden="true" ma:internalName="MediaServiceBillingMetadata" ma:readOnly="true">
      <xsd:simpleType>
        <xsd:restriction base="dms:Note"/>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7f1137f-2ca6-4fef-8072-b9e4ddf9f88d"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25baa329-1694-49a7-99b3-a1d2375b9e3c}" ma:internalName="TaxCatchAll" ma:showField="CatchAllData" ma:web="27f1137f-2ca6-4fef-8072-b9e4ddf9f88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0bb3e21-4545-485a-b693-7e527aa5b0a1">
      <Terms xmlns="http://schemas.microsoft.com/office/infopath/2007/PartnerControls"/>
    </lcf76f155ced4ddcb4097134ff3c332f>
    <TaxCatchAll xmlns="27f1137f-2ca6-4fef-8072-b9e4ddf9f88d" xsi:nil="true"/>
  </documentManagement>
</p:properties>
</file>

<file path=customXml/itemProps1.xml><?xml version="1.0" encoding="utf-8"?>
<ds:datastoreItem xmlns:ds="http://schemas.openxmlformats.org/officeDocument/2006/customXml" ds:itemID="{F100441E-11A5-4A61-832A-53B319D62A75}">
  <ds:schemaRefs>
    <ds:schemaRef ds:uri="http://schemas.microsoft.com/sharepoint/v3/contenttype/forms"/>
  </ds:schemaRefs>
</ds:datastoreItem>
</file>

<file path=customXml/itemProps2.xml><?xml version="1.0" encoding="utf-8"?>
<ds:datastoreItem xmlns:ds="http://schemas.openxmlformats.org/officeDocument/2006/customXml" ds:itemID="{E1E5169E-B6EB-4171-A635-D3FB4B86E1B1}">
  <ds:schemaRefs>
    <ds:schemaRef ds:uri="27f1137f-2ca6-4fef-8072-b9e4ddf9f88d"/>
    <ds:schemaRef ds:uri="f0bb3e21-4545-485a-b693-7e527aa5b0a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607F7170-71E1-4CFC-928F-F99B5952CB69}">
  <ds:schemaRefs>
    <ds:schemaRef ds:uri="27f1137f-2ca6-4fef-8072-b9e4ddf9f88d"/>
    <ds:schemaRef ds:uri="f0bb3e21-4545-485a-b693-7e527aa5b0a1"/>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401</TotalTime>
  <Words>6499</Words>
  <Application>Microsoft Macintosh PowerPoint</Application>
  <PresentationFormat>Widescreen</PresentationFormat>
  <Paragraphs>680</Paragraphs>
  <Slides>30</Slides>
  <Notes>27</Notes>
  <HiddenSlides>3</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 Unicode MS</vt:lpstr>
      <vt:lpstr>Aptos</vt:lpstr>
      <vt:lpstr>Aptos Display</vt:lpstr>
      <vt:lpstr>Arial</vt:lpstr>
      <vt:lpstr>Arial Black</vt:lpstr>
      <vt:lpstr>Arial,Sans-Serif</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Identifying and reducing barriers in practice</vt:lpstr>
      <vt:lpstr>PowerPoint Presentation</vt:lpstr>
      <vt:lpstr>Inclusive Design</vt:lpstr>
      <vt:lpstr>Universal Design for Learning</vt:lpstr>
      <vt:lpstr>Differentiation</vt:lpstr>
      <vt:lpstr>PowerPoint Presentation</vt:lpstr>
      <vt:lpstr>PowerPoint Presentation</vt:lpstr>
      <vt:lpstr>PowerPoint Presentation</vt:lpstr>
      <vt:lpstr>Supporting Frameworks/Guidance</vt:lpstr>
      <vt:lpstr>PowerPoint Presentation</vt:lpstr>
      <vt:lpstr>Continuum of support</vt:lpstr>
      <vt:lpstr>A continuum of support example</vt:lpstr>
      <vt:lpstr>Reasonable Adjustments</vt:lpstr>
      <vt:lpstr>What are reasonable adjustments?</vt:lpstr>
      <vt:lpstr>PowerPoint Presentation</vt:lpstr>
      <vt:lpstr>PowerPoint Presentation</vt:lpstr>
      <vt:lpstr>Record – Monitor – Review</vt:lpstr>
      <vt:lpstr>PowerPoint Presentation</vt:lpstr>
      <vt:lpstr>PowerPoint Presentation</vt:lpstr>
      <vt:lpstr>PowerPoint Presentation</vt:lpstr>
      <vt:lpstr>Student Consultation</vt:lpstr>
      <vt:lpstr>Parent/Carer Consultation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Lynda Hunt</dc:creator>
  <cp:lastModifiedBy>Craig Smith</cp:lastModifiedBy>
  <cp:revision>5</cp:revision>
  <dcterms:modified xsi:type="dcterms:W3CDTF">2026-09-24T12:24:32Z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0x010100C75DF672D9920B44888613C845FEE28C</vt:lpwstr>
  </property>
  <property fmtid="{D5CDD505-2E9C-101B-9397-08002B2CF9AE}" pid="3" name="MediaServiceImageTags">
    <vt:lpwstr/>
  </property>
</Properties>
</file>