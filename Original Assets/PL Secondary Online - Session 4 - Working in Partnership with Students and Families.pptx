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copied81.xml" ContentType="application/vnd.openxmlformats-officedocument.presentationml.tags+xml"/>
  <Override PartName="/ppt/media/copied83.xml" ContentType="application/vnd.ms-powerpoint.comments+xml"/>
  <Override PartName="/ppt/media/copied84.svg" ContentType="image/svg+xml"/>
  <Override PartName="/ppt/media/copied85.xml" ContentType="application/vnd.openxmlformats-officedocument.presentationml.tags+xml"/>
  <Override PartName="/ppt/media/copied87.svg" ContentType="image/svg+xml"/>
  <Override PartName="/ppt/media/copied88.xml" ContentType="application/vnd.openxmlformats-officedocument.presentationml.tags+xml"/>
  <Override PartName="/ppt/media/copied90.svg" ContentType="image/svg+xml"/>
  <Override PartName="/ppt/media/copied92.xml" ContentType="application/vnd.openxmlformats-officedocument.presentationml.tag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12"/>
    <p:sldId id="257" r:id="rId13"/>
    <p:sldId id="258" r:id="rId14"/>
    <p:sldId id="259" r:id="rId15"/>
    <p:sldId id="260" r:id="rId16"/>
    <p:sldId id="261" r:id="rId17"/>
    <p:sldId id="262" r:id="rId18"/>
    <p:sldId id="263" r:id="rId19"/>
    <p:sldId id="264" r:id="rId20"/>
    <p:sldId id="265" r:id="rId21"/>
    <p:sldId id="266" r:id="rId11"/>
    <p:sldId id="267" r:id="rId10"/>
    <p:sldId id="268" r:id="rId9"/>
    <p:sldId id="269" r:id="rId8"/>
    <p:sldId id="270" r:id="rId7"/>
    <p:sldId id="271" r:id="rId6"/>
    <p:sldId id="27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4.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media/copied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83.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media/copied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0 - 3</a:t>
            </a:r>
          </a:p>
          <a:p/>
          <a:p>
            <a:r>
              <a:t>PURPOSE</a:t>
            </a:r>
          </a:p>
          <a:p>
            <a:r>
              <a:t>Welcome participants back, reconnect with the Session 3 design work and open the final session on partnership.</a:t>
            </a:r>
          </a:p>
          <a:p/>
          <a:p>
            <a:r>
              <a:t>WHAT TO DO</a:t>
            </a:r>
          </a:p>
          <a:p>
            <a:r>
              <a:t>1. Welcome participants back and restate the participation choices: cameras optional; chat, reactions, speaking, private notes or passing all count. People can step away and come back whenever they need to.</a:t>
            </a:r>
          </a:p>
          <a:p>
            <a:r>
              <a:t>2. Reconnect since last session: invite a reaction or a short line in the chat if anyone tried their Session 3 "this week, in my own classes" change. No report needed.</a:t>
            </a:r>
          </a:p>
          <a:p>
            <a:r>
              <a:t>3. Name the shift: everything designed in Session 3 was based on what teachers can see and work out for themselves. This session is about hearing from the people who know the student best.</a:t>
            </a:r>
          </a:p>
          <a:p>
            <a:r>
              <a:t>4. Pick up the Session 3 close: what needs your faculty or year level team, and how will students and families help refine it?</a:t>
            </a:r>
          </a:p>
          <a:p>
            <a:r>
              <a:t>5. Acknowledge that participants may bring both productive and difficult partnership experiences.</a:t>
            </a:r>
          </a:p>
          <a:p>
            <a:r>
              <a:t>6. Remind the group that sharing is voluntary and examples stay anonymised: initials or roles only, in the chat and in breakout rooms.</a:t>
            </a:r>
          </a:p>
          <a:p>
            <a:r>
              <a:t>7. Let people know this is the last session of the series, and that the second half is protected planning time.</a:t>
            </a:r>
          </a:p>
          <a:p/>
          <a:p>
            <a:r>
              <a:t>KEY MESSAGES</a:t>
            </a:r>
          </a:p>
          <a:p>
            <a:r>
              <a:t>• Partnership is part of understanding and support, not an additional task after decisions are made.</a:t>
            </a:r>
          </a:p>
          <a:p>
            <a:r>
              <a:t>• The student, family, support staff and school may each hold different parts of the picture.</a:t>
            </a:r>
          </a:p>
          <a:p/>
          <a:p>
            <a:r>
              <a:t>KEEP IN MIND</a:t>
            </a:r>
          </a:p>
          <a:p>
            <a:r>
              <a:t>• If anyone missed Online Session 3, invite them to think of one small change to a lesson, assessment task or handover as they go. It can be their Start on slide 12 and the focus of their conversation plan on slide 13.</a:t>
            </a:r>
          </a:p>
          <a:p>
            <a:r>
              <a:t>• Flex points if running behind: on slide 3, keep the private think brief; on slide 7, point to the two columns and move on; on slide 11, read the three cards without discussion. Protect the planning time on slides 12 and 13.</a:t>
            </a:r>
          </a:p>
          <a:p/>
          <a:p>
            <a:r>
              <a:t>THREAD</a:t>
            </a:r>
          </a:p>
          <a:p>
            <a:r>
              <a:t>Picks up the Session 3 close (Share, refine and commit) and the two or three students participants have kept in mind since Session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3 - 6  ·  Participant Guide - Where partnerships converge</a:t>
            </a:r>
          </a:p>
          <a:p/>
          <a:p>
            <a:r>
              <a:t>PURPOSE</a:t>
            </a:r>
          </a:p>
          <a:p>
            <a:r>
              <a:t>Show where the partnerships around a student intersect, with the student at the centre of every one.</a:t>
            </a:r>
          </a:p>
          <a:p/>
          <a:p>
            <a:r>
              <a:t>WHAT TO DO</a:t>
            </a:r>
          </a:p>
          <a:p>
            <a:r>
              <a:t>1. Introduce the Venn: family, school staff and support staff, with the student at the centre.</a:t>
            </a:r>
          </a:p>
          <a:p>
            <a:r>
              <a:t>2. Explain that every partner brings unique knowledge, expertise and perspectives, and a different relationship with the student and with each other.</a:t>
            </a:r>
          </a:p>
          <a:p>
            <a:r>
              <a:t>3. Name the secondary picture: there are more people involved. Six or more subject teachers, a year level coordinator, learning support, support staff, and sometimes a relief teacher.</a:t>
            </a:r>
          </a:p>
          <a:p>
            <a:r>
              <a:t>4. Ask the question on the slide and invite answers in the chat or out loud: What is the goal of these intersecting partnerships? Read out one or two.</a:t>
            </a:r>
          </a:p>
          <a:p>
            <a:r>
              <a:t>5. Steer toward the point that the student is at the centre of all partnerships.</a:t>
            </a:r>
          </a:p>
          <a:p>
            <a:r>
              <a:t>6. Acknowledge support staff directly. They often see more of the student across the day than any one teacher, and their knowledge is not always asked for or credited.</a:t>
            </a:r>
          </a:p>
          <a:p>
            <a:r>
              <a:t>7. Ask who is missing from the picture and how the student's own communication can be included.</a:t>
            </a:r>
          </a:p>
          <a:p/>
          <a:p>
            <a:r>
              <a:t>YOU MIGHT SAY</a:t>
            </a:r>
          </a:p>
          <a:p>
            <a:r>
              <a:t>What is the goal of these intersecting partnerships?</a:t>
            </a:r>
          </a:p>
          <a:p/>
          <a:p>
            <a:r>
              <a:t>KEY MESSAGES</a:t>
            </a:r>
          </a:p>
          <a:p>
            <a:r>
              <a:t>• Positive partnership keeps the student at the centre.</a:t>
            </a:r>
          </a:p>
          <a:p>
            <a:r>
              <a:t>• No single person holds the complete picture. In secondary it is spread across more people.</a:t>
            </a:r>
          </a:p>
          <a:p>
            <a:r>
              <a:t>• The student knows things no assessment captures: what it feels like, what helps and what is hard.</a:t>
            </a:r>
          </a:p>
          <a:p>
            <a:r>
              <a:t>• The family sees things over time that school may not: how the student is after school, how Sunday nights go, the strategy that worked in primary school.</a:t>
            </a:r>
          </a:p>
          <a:p/>
          <a:p>
            <a:r>
              <a:t>KEEP IN MIND</a:t>
            </a:r>
          </a:p>
          <a:p>
            <a:r>
              <a:t>• Use the elements as discussion prompts rather than a complete definition.</a:t>
            </a:r>
          </a:p>
          <a:p/>
          <a:p>
            <a:r>
              <a:t>BACKGROUND</a:t>
            </a:r>
          </a:p>
          <a:p>
            <a:r>
              <a:t>Observation only shows a teacher the outside of a student's experience. Asking the student and family fills in more of the picture, and their views are also part of the evidence for NCCD.</a:t>
            </a:r>
          </a:p>
          <a:p/>
          <a:p>
            <a:r>
              <a:t>THREAD</a:t>
            </a:r>
          </a:p>
          <a:p>
            <a:r>
              <a:t>Draws on sensory and thinking (Session 1), communication, capacity and masking across the secondary day (Session 2) and the Session 3 design change and continuum of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6 - 9</a:t>
            </a:r>
          </a:p>
          <a:p/>
          <a:p>
            <a:r>
              <a:t>PURPOSE</a:t>
            </a:r>
          </a:p>
          <a:p>
            <a:r>
              <a:t>Help participants notice how agendas, language, authority and decision-making shape consultation.</a:t>
            </a:r>
          </a:p>
          <a:p/>
          <a:p>
            <a:r>
              <a:t>WHAT TO DO</a:t>
            </a:r>
          </a:p>
          <a:p>
            <a:r>
              <a:t>1. Introduce the seesaw: school, home and the student.</a:t>
            </a:r>
          </a:p>
          <a:p>
            <a:r>
              <a:t>2. Ask participants to think, privately, of their last difficult family meeting. Who chose the room, the time and the agenda? Give a moment before moving on.</a:t>
            </a:r>
          </a:p>
          <a:p>
            <a:r>
              <a:t>3. Name where power can sit: socio-economic status, historical and cultural experiences of education, speaking English or another language, understanding of school systems and curriculum, and perceptions of the importance of school.</a:t>
            </a:r>
          </a:p>
          <a:p>
            <a:r>
              <a:t>4. Ask the power questions below to examine practice, not to blame individual participants.</a:t>
            </a:r>
          </a:p>
          <a:p>
            <a:r>
              <a:t>5. Invite educators to identify where school language, timing or process may create a barrier, including in online or phone meetings.</a:t>
            </a:r>
          </a:p>
          <a:p/>
          <a:p>
            <a:r>
              <a:t>YOU MIGHT SAY</a:t>
            </a:r>
          </a:p>
          <a:p>
            <a:r>
              <a:t>Who sets the agenda?</a:t>
            </a:r>
          </a:p>
          <a:p>
            <a:r>
              <a:t>Whose knowledge is heard?</a:t>
            </a:r>
          </a:p>
          <a:p>
            <a:r>
              <a:t>Who can make decisions?</a:t>
            </a:r>
          </a:p>
          <a:p>
            <a:r>
              <a:t>Is the student included in a way that works for them?</a:t>
            </a:r>
          </a:p>
          <a:p>
            <a:r>
              <a:t>What could the school change about the process?</a:t>
            </a:r>
          </a:p>
          <a:p/>
          <a:p>
            <a:r>
              <a:t>KEY MESSAGES</a:t>
            </a:r>
          </a:p>
          <a:p>
            <a:r>
              <a:t>• Power is present in meeting structures, language and decision pathways.</a:t>
            </a:r>
          </a:p>
          <a:p>
            <a:r>
              <a:t>• In most school meetings the school chooses the place, the time, the agenda and the language, and the family is often outnumbered.</a:t>
            </a:r>
          </a:p>
          <a:p>
            <a:r>
              <a:t>• By secondary, many families have been to a lot of these meetings. Some arrive worried or on guard because of earlier experiences, at this school or another one.</a:t>
            </a:r>
          </a:p>
          <a:p/>
          <a:p>
            <a:r>
              <a:t>KEEP IN MIND</a:t>
            </a:r>
          </a:p>
          <a:p>
            <a:r>
              <a:t>• Avoid describing a family as difficult, disengaged or unrealistic without examining the context and process.</a:t>
            </a:r>
          </a:p>
          <a:p>
            <a:r>
              <a:t>• Some participants will have had genuinely difficult or hostile meetings with families. Acknowledge that partnership works both ways, then come back to what the school can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6 min  ·  minutes 9 - 15  ·  Participant Guide - Power dynamics</a:t>
            </a:r>
          </a:p>
          <a:p/>
          <a:p>
            <a:r>
              <a:t>PURPOSE</a:t>
            </a:r>
          </a:p>
          <a:p>
            <a:r>
              <a:t>Prompt educators to reflect honestly on perceived and real power imbalances in the home-school relationship.</a:t>
            </a:r>
          </a:p>
          <a:p/>
          <a:p>
            <a:r>
              <a:t>WHAT TO DO</a:t>
            </a:r>
          </a:p>
          <a:p>
            <a:r>
              <a:t>1. Producer: open the shared whiteboard with three columns headed Home, School and Solutions, and paste the link and the three prompts into the chat.</a:t>
            </a:r>
          </a:p>
          <a:p>
            <a:r>
              <a:t>2. This is the first time the whiteboard is used: take 30 seconds to show how to open it and add a note. Anyone who would rather not use it can type in the chat instead.</a:t>
            </a:r>
          </a:p>
          <a:p>
            <a:r>
              <a:t>3. Direct participants to the three instructions on the slide.</a:t>
            </a:r>
          </a:p>
          <a:p>
            <a:r>
              <a:t>4. Offer the options: add notes to the whiteboard, type in the chat, or jot privately in the Participant Guide.</a:t>
            </a:r>
          </a:p>
          <a:p>
            <a:r>
              <a:t>5. Support the group to look for solutions rather than place blame.</a:t>
            </a:r>
          </a:p>
          <a:p>
            <a:r>
              <a:t>6. In the last minute, read out two or three Solutions notes and ask the debrief question that fits best.</a:t>
            </a:r>
          </a:p>
          <a:p/>
          <a:p>
            <a:r>
              <a:t>KEY MESSAGES</a:t>
            </a:r>
          </a:p>
          <a:p>
            <a:r>
              <a:t>• Power can be structural, historical, cultural, conscious and unconscious.</a:t>
            </a:r>
          </a:p>
          <a:p>
            <a:r>
              <a:t>• Status can be perceived as an imbalanced power dynamic, regardless of intent.</a:t>
            </a:r>
          </a:p>
          <a:p/>
          <a:p>
            <a:r>
              <a:t>ACTIVITY: Whiteboard or chat reflection  ·  individual, whole group in the main room  ·  6 minutes</a:t>
            </a:r>
          </a:p>
          <a:p>
            <a:r>
              <a:t>Prompt: Where do power imbalances sit in the home-school relationship, and how could you address them?</a:t>
            </a:r>
          </a:p>
          <a:p>
            <a:r>
              <a:t>1. Write an example of an imbalance in power dynamics from a home perspective.</a:t>
            </a:r>
          </a:p>
          <a:p>
            <a:r>
              <a:t>2. Write an example of an imbalance in power dynamics from a school perspective.</a:t>
            </a:r>
          </a:p>
          <a:p>
            <a:r>
              <a:t>3. Write how you could address these imbalances.</a:t>
            </a:r>
          </a:p>
          <a:p>
            <a:r>
              <a:t>4. Option 1: add your notes to the shared whiteboard under Home, School and Solutions.</a:t>
            </a:r>
          </a:p>
          <a:p>
            <a:r>
              <a:t>5. Option 2: type your examples in the chat.</a:t>
            </a:r>
          </a:p>
          <a:p>
            <a:r>
              <a:t>6. Option 3: keep your notes private in the Participant Guide.</a:t>
            </a:r>
          </a:p>
          <a:p>
            <a:r>
              <a:t>Bring the room back:</a:t>
            </a:r>
          </a:p>
          <a:p>
            <a:r>
              <a:t>• Who sets the agenda?</a:t>
            </a:r>
          </a:p>
          <a:p>
            <a:r>
              <a:t>• Whose knowledge is heard?</a:t>
            </a:r>
          </a:p>
          <a:p>
            <a:r>
              <a:t>• What could the school change about the process?</a:t>
            </a:r>
          </a:p>
          <a:p>
            <a:r>
              <a:t>Close: Ask participants to keep one process change for their conversation plan later in this session.</a:t>
            </a:r>
          </a:p>
          <a:p/>
          <a:p>
            <a:r>
              <a:t>KEEP IN MIND</a:t>
            </a:r>
          </a:p>
          <a:p>
            <a:r>
              <a:t>• This may be challenging for some participants, who may have found themselves in positions of power or lack of power at different times in their career. Guide individuals to seek solutions and not place blame.</a:t>
            </a:r>
          </a:p>
          <a:p>
            <a:r>
              <a:t>• Whiteboard notes must not identify families, students or staff. Remove anything identifying before the board is saved or shared.</a:t>
            </a:r>
          </a:p>
          <a:p/>
          <a:p>
            <a:r>
              <a:t>BACKGROUND</a:t>
            </a:r>
          </a:p>
          <a:p>
            <a:r>
              <a:t>Educators are immersed in the culture of education, including a shared understanding of acronyms (e.g. NAPLAN, NCCD, IEP) and secondary systems (subject selection, pathways, senior certificate requirements) which families may not be able to access as easily. Some people will naturally give teachers higher status, which can be a cultural or personal attitude. External providers and professionals can also affect the power dynamic. In secondary, the student sits in the power picture too: adolescents are often discussed in meetings they were not invited to.</a:t>
            </a:r>
          </a:p>
          <a:p/>
          <a:p>
            <a:r>
              <a:t>THREAD</a:t>
            </a:r>
          </a:p>
          <a:p>
            <a:r>
              <a:t>The process change chosen here carries into the bridge reflection (slide 10) and the conversation plan (slide 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 min  ·  minutes 15 - 20  ·  Participant Guide - Student voice</a:t>
            </a:r>
          </a:p>
          <a:p/>
          <a:p>
            <a:r>
              <a:t>PURPOSE</a:t>
            </a:r>
          </a:p>
          <a:p>
            <a:r>
              <a:t>Show what happens when a student is not listened to or consulted.</a:t>
            </a:r>
          </a:p>
          <a:p/>
          <a:p>
            <a:r>
              <a:t>WHAT TO DO</a:t>
            </a:r>
          </a:p>
          <a:p>
            <a:r>
              <a:t>1. Introduce the video as an example of a student who is neither listened to nor consulted.</a:t>
            </a:r>
          </a:p>
          <a:p>
            <a:r>
              <a:t>2. Ask participants, while watching, to pay attention to what decisions were made and who made them.</a:t>
            </a:r>
          </a:p>
          <a:p>
            <a:r>
              <a:t>3. Share the video with computer sound on and captions visible.</a:t>
            </a:r>
          </a:p>
          <a:p>
            <a:r>
              <a:t>4. Ask the group: What impact did those decisions have on Adon? Invite answers in the chat or out loud.</a:t>
            </a:r>
          </a:p>
          <a:p>
            <a:r>
              <a:t>5. Connect to the students participants have in mind: how are their preferences asked and heard, and by which of their teachers?</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a way that works for them.</a:t>
            </a:r>
          </a:p>
          <a:p>
            <a:r>
              <a:t>• Ask students the questions their way: what helps? what's hard? what should teachers know?</a:t>
            </a:r>
          </a:p>
          <a:p>
            <a:r>
              <a:t>• Record their answers in their own words.</a:t>
            </a:r>
          </a:p>
          <a:p>
            <a:r>
              <a:t>• For adolescents, being asked is the starting point. Taking part in their meetings, and over time leading them, comes next (slide 8).</a:t>
            </a:r>
          </a:p>
          <a:p/>
          <a:p>
            <a:r>
              <a:t>KEEP IN MIND</a:t>
            </a:r>
          </a:p>
          <a:p>
            <a:r>
              <a:t>• Check the video plays smoothly over screen share before the session; have the link ready to paste in the chat as a fallback.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20 - 22  ·  Participant Guide - Consultation checklist</a:t>
            </a:r>
          </a:p>
          <a:p/>
          <a:p>
            <a:r>
              <a:t>PURPOSE</a:t>
            </a:r>
          </a:p>
          <a:p>
            <a:r>
              <a:t>Introduce consultation literacy through asking well, listening and following up.</a:t>
            </a:r>
          </a:p>
          <a:p/>
          <a:p>
            <a:r>
              <a:t>WHAT TO DO</a:t>
            </a:r>
          </a:p>
          <a:p>
            <a:r>
              <a:t>1. Walk through what useful consultation includes.</a:t>
            </a:r>
          </a:p>
          <a:p>
            <a:r>
              <a:t>2. Compare two questions: 'Any concerns?' and 'What does a good morning look like?' Ask what each one would bring out; take one or two answers in the chat.</a:t>
            </a:r>
          </a:p>
          <a:p>
            <a:r>
              <a:t>3. Point out that following up is easy to skip: tell the family and student what you did with what they told you. It makes them more likely to tell you things next time.</a:t>
            </a:r>
          </a:p>
          <a:p>
            <a:r>
              <a:t>4. Read the line at the bottom of the slide: under the Disability Standards for Education 2005, schools must consult the student, or an associate such as a parent or carer, about adjustments.</a:t>
            </a:r>
          </a:p>
          <a:p>
            <a:r>
              <a:t>5. Finish with the line on the slide: ask, listen, and follow up.</a:t>
            </a:r>
          </a:p>
          <a:p/>
          <a:p>
            <a:r>
              <a:t>KEY MESSAGES</a:t>
            </a:r>
          </a:p>
          <a:p>
            <a:r>
              <a:t>• Ask, listen, and follow up.</a:t>
            </a:r>
          </a:p>
          <a:p>
            <a:r>
              <a:t>• Ask specific questions, and ask in the way that suits the person.</a:t>
            </a:r>
          </a:p>
          <a:p>
            <a:r>
              <a:t>• Views that are recorded and acted on are good practice, and they are also evidence.</a:t>
            </a:r>
          </a:p>
          <a:p>
            <a:r>
              <a:t>• Tools should support consultation rather than replace listening and student voice.</a:t>
            </a:r>
          </a:p>
          <a:p>
            <a:r>
              <a:t>• Under the Disability Standards for Education 2005, schools must consult the student, or an associate such as a parent or carer, about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22 - 24</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 Adolescents can prepare their own contribution: a written list, a one-page profile, or a trusted adult who supports them to speak rather than speaking for them.</a:t>
            </a:r>
          </a:p>
          <a:p>
            <a:r>
              <a:t>3. With families: start with the student's strengths, interests and what works well, and listen to families' knowledge of their young person without making assumptions.</a:t>
            </a:r>
          </a:p>
          <a:p>
            <a:r>
              <a:t>4. Ask participants to pick one practice from each column to try with the students they have in mind, and note it privately.</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Picks up the consultation, documentation and review processes named alongside NCCD in Session 3. Leads into slide 8, adolescents in their own meetings.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24 - 27  ·  Participant Guide - Adolescents in their own meetings</a:t>
            </a:r>
          </a:p>
          <a:p/>
          <a:p>
            <a:r>
              <a:t>PURPOSE</a:t>
            </a:r>
          </a:p>
          <a:p>
            <a:r>
              <a:t>Show how, in secondary, students can move from being talked about to taking part in, and over time leading, their own meetings.</a:t>
            </a:r>
          </a:p>
          <a:p/>
          <a:p>
            <a:r>
              <a:t>WHAT TO DO</a:t>
            </a:r>
          </a:p>
          <a:p>
            <a:r>
              <a:t>1. Read the line at the top of the slide: from being talked about, to taking part and, over time, leading.</a:t>
            </a:r>
          </a:p>
          <a:p>
            <a:r>
              <a:t>2. Walk through the cards: prepared and supported to take part in their own way (in person, in writing, through a trusted adult); taking more of a lead as they move through secondary school; speaking up for themselves as practice for senior school, work and life after school; having a say in decisions about their own learning and support.</a:t>
            </a:r>
          </a:p>
          <a:p>
            <a:r>
              <a:t>3. Give examples of taking part: attending for part of the meeting, a written contribution read aloud, a one-page profile, questions sent in advance, a trusted adult who speaks with them. Joining an online meeting with camera off or through the chat can be another option.</a:t>
            </a:r>
          </a:p>
          <a:p>
            <a:r>
              <a:t>4. Link to Session 2: students are more likely to speak up for themselves where they feel safe. A student who masks all day may need a safe setting and some preparation first.</a:t>
            </a:r>
          </a:p>
          <a:p>
            <a:r>
              <a:t>5. Finish on the line at the bottom of the slide: where you can, ask the student directly.</a:t>
            </a:r>
          </a:p>
          <a:p/>
          <a:p>
            <a:r>
              <a:t>YOU MIGHT SAY</a:t>
            </a:r>
          </a:p>
          <a:p>
            <a:r>
              <a:t>Students have a say in decisions about their own learning and support.</a:t>
            </a:r>
          </a:p>
          <a:p>
            <a:r>
              <a:t>Where you can, ask the student directly.</a:t>
            </a:r>
          </a:p>
          <a:p/>
          <a:p>
            <a:r>
              <a:t>KEY MESSAGES</a:t>
            </a:r>
          </a:p>
          <a:p>
            <a:r>
              <a:t>• Adolescents can take part in their own meetings when they are prepared and supported, and can take more of a lead as they move through secondary school.</a:t>
            </a:r>
          </a:p>
          <a:p>
            <a:r>
              <a:t>• Taking part can look different for each student: in person, in writing, or through a trusted adult.</a:t>
            </a:r>
          </a:p>
          <a:p>
            <a:r>
              <a:t>• Speaking up for themselves now is practice for senior school, work and life after school, so teaching it is part of transition planning.</a:t>
            </a:r>
          </a:p>
          <a:p/>
          <a:p>
            <a:r>
              <a:t>KEEP IN MIND</a:t>
            </a:r>
          </a:p>
          <a:p>
            <a:r>
              <a:t>• Being in the room without preparation is not real participation. Do not present attendance at a difficult meeting as the goal on its own.</a:t>
            </a:r>
          </a:p>
          <a:p>
            <a:r>
              <a:t>• Avoid treating a student's choice not to attend, or to contribute in writing, as a lack of self-advocacy.</a:t>
            </a:r>
          </a:p>
          <a:p/>
          <a:p>
            <a:r>
              <a:t>BACKGROUND</a:t>
            </a:r>
          </a:p>
          <a:p>
            <a:r>
              <a:t>In secondary, the question moves from whether the student was asked, to how the student can be prepared to be in the room and to lead where they choose to.</a:t>
            </a:r>
          </a:p>
          <a:p/>
          <a:p>
            <a:r>
              <a:t>THREAD</a:t>
            </a:r>
          </a:p>
          <a:p>
            <a:r>
              <a:t>Builds on the Adon video (slide 5) and Session 2 on adolescence and masking; carries into the conversation plan (slide 13), where the student themselves is one of the options.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27 - 30</a:t>
            </a:r>
          </a:p>
          <a:p/>
          <a:p>
            <a:r>
              <a:t>PURPOSE</a:t>
            </a:r>
          </a:p>
          <a:p>
            <a:r>
              <a:t>Introduce meltdown, shutdown and School Can't within partnership discussion, without blame.</a:t>
            </a:r>
          </a:p>
          <a:p/>
          <a:p>
            <a:r>
              <a:t>WHAT TO DO</a:t>
            </a:r>
          </a:p>
          <a:p>
            <a:r>
              <a:t>1. Let people know this slide touches on distress, and that they can step away or turn off their camera if they need to.</a:t>
            </a:r>
          </a:p>
          <a:p>
            <a:r>
              <a:t>2. Introduce the three terms without presenting them as wilful behaviour: a meltdown is an outward response to overwhelm, not a tantrum or a choice; a shutdown is an inward response to overwhelm, quiet and easily missed; School Can't is not truancy or defiance.</a:t>
            </a:r>
          </a:p>
          <a:p>
            <a:r>
              <a:t>3. Name the secondary pattern: shutdown in a Year 9 class can look like disengagement or a student who seems 'good and chilled', and School Can't often builds through the secondary years (dreading Sunday nights, partial days).</a:t>
            </a:r>
          </a:p>
          <a:p>
            <a:r>
              <a:t>4. Connect back to Session 2: capacity gets used up across a day with six teachers. Ask 'what ran out, and when?' rather than 'how do I stop this?'</a:t>
            </a:r>
          </a:p>
          <a:p>
            <a:r>
              <a:t>5. Point to the focus line: safety, what preceded the situation, what supports recovery and what can change in the environment, task or response.</a:t>
            </a:r>
          </a:p>
          <a:p/>
          <a:p>
            <a:r>
              <a:t>KEY MESSAGES</a:t>
            </a:r>
          </a:p>
          <a:p>
            <a:r>
              <a:t>• Capacity should be discussed without blame.</a:t>
            </a:r>
          </a:p>
          <a:p>
            <a:r>
              <a:t>• Home and school may observe different parts of the student's experience. Families often see how much the student has left at the end of the day; school sees what used it up. Together they give a fuller picture.</a:t>
            </a:r>
          </a:p>
          <a:p>
            <a:r>
              <a:t>• Use non-blaming language and the safety guidance for this series.</a:t>
            </a:r>
          </a:p>
          <a:p/>
          <a:p>
            <a:r>
              <a:t>KEEP IN MIND</a:t>
            </a:r>
          </a:p>
          <a:p>
            <a:r>
              <a:t>• Do not frame meltdown, shutdown or School Can't as wilful misbehaviour or a failure of parenting.</a:t>
            </a:r>
          </a:p>
          <a:p>
            <a:r>
              <a:t>• Keep the tone informative and calm: no crisis stories or videos of distress, and do not invite personal crisis stories in the chat.</a:t>
            </a:r>
          </a:p>
          <a:p>
            <a:r>
              <a:t>• If people ask for behaviour-management techniques, point them back to Session 3: design and prevention.</a:t>
            </a:r>
          </a:p>
          <a:p>
            <a:r>
              <a:t>• Do not offer clinical, diagnostic, legal or crisis guidance beyond the material.</a:t>
            </a:r>
          </a:p>
          <a:p/>
          <a:p>
            <a:r>
              <a:t>BACKGROUND</a:t>
            </a:r>
          </a:p>
          <a:p>
            <a:r>
              <a:t>This content sits within partnership, late in the series, on purpose, so the series does not start from distress. When home and school share what they see, they are more likely to notice early that a student is running low on capacity.</a:t>
            </a:r>
          </a:p>
          <a:p/>
          <a:p>
            <a:r>
              <a:t>THREAD</a:t>
            </a:r>
          </a:p>
          <a:p>
            <a:r>
              <a:t>Builds on capacity and accumulated demands across the secondary day from Sessions 1 and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30 - 34  ·  Participant Guide - Bridge to the next family conversation</a:t>
            </a:r>
          </a:p>
          <a:p/>
          <a:p>
            <a:r>
              <a:t>PURPOSE</a:t>
            </a:r>
          </a:p>
          <a:p>
            <a:r>
              <a:t>Identify the question and shared purpose participants will take into the conversation plan later in this session.</a:t>
            </a:r>
          </a:p>
          <a:p/>
          <a:p>
            <a:r>
              <a:t>WHAT TO DO</a:t>
            </a:r>
          </a:p>
          <a:p>
            <a:r>
              <a:t>1. Ask participants to return to the students they have in mind and their Session 3 design change (a lesson, an assessment task or a handover).</a:t>
            </a:r>
          </a:p>
          <a:p>
            <a:r>
              <a:t>2. Invite them to work through the prompts on the slide privately, in the Participant Guide or their own notes. Cameras can go off.</a:t>
            </a:r>
          </a:p>
          <a:p>
            <a:r>
              <a:t>3. Keep the focus on preparation rather than scripting what the family or student should say.</a:t>
            </a:r>
          </a:p>
          <a:p>
            <a:r>
              <a:t>4. Ask participants to carry one process change from the power reflection into the plan.</a:t>
            </a:r>
          </a:p>
          <a:p>
            <a:r>
              <a:t>5. Ask how the student will take part in the conversation, or have their views included.</a:t>
            </a:r>
          </a:p>
          <a:p/>
          <a:p>
            <a:r>
              <a:t>YOU MIGHT SAY</a:t>
            </a:r>
          </a:p>
          <a:p>
            <a:r>
              <a:t>Keep these notes for your conversation plan later in this session.</a:t>
            </a:r>
          </a:p>
          <a:p/>
          <a:p>
            <a:r>
              <a:t>KEY MESSAGES</a:t>
            </a:r>
          </a:p>
          <a:p>
            <a:r>
              <a:t>• Prepare for one purposeful conversation.</a:t>
            </a:r>
          </a:p>
          <a:p/>
          <a:p>
            <a:r>
              <a:t>ACTIVITY: Private bridge reflection  ·  on your own  ·  4 minutes</a:t>
            </a:r>
          </a:p>
          <a:p>
            <a:r>
              <a:t>Prompt: Prepare for one purposeful conversation.</a:t>
            </a:r>
          </a:p>
          <a:p>
            <a:r>
              <a:t>1. What needs to be understood?</a:t>
            </a:r>
          </a:p>
          <a:p>
            <a:r>
              <a:t>2. What question will open the conversation?</a:t>
            </a:r>
          </a:p>
          <a:p>
            <a:r>
              <a:t>3. How will the student take part, or have their views included?</a:t>
            </a:r>
          </a:p>
          <a:p>
            <a:r>
              <a:t>4. What can be decided together?</a:t>
            </a:r>
          </a:p>
          <a:p>
            <a:r>
              <a:t>5. How and when will the school follow up?</a:t>
            </a:r>
          </a:p>
          <a:p>
            <a:r>
              <a:t>Close: Keep these notes open for the conversation plan (slide 13).</a:t>
            </a:r>
          </a:p>
          <a:p/>
          <a:p>
            <a:r>
              <a:t>THREAD</a:t>
            </a:r>
          </a:p>
          <a:p>
            <a:r>
              <a:t>Connects to the Session 3 close (Share, refine and commit) and the conversation plan on slide 13.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34 - 36</a:t>
            </a:r>
          </a:p>
          <a:p/>
          <a:p>
            <a:r>
              <a:t>PURPOSE</a:t>
            </a:r>
          </a:p>
          <a:p>
            <a:r>
              <a:t>Bring together the series lens, learning design and partnership through belonging, capacity and joy.</a:t>
            </a:r>
          </a:p>
          <a:p/>
          <a:p>
            <a:r>
              <a:t>WHAT TO DO</a:t>
            </a:r>
          </a:p>
          <a:p>
            <a:r>
              <a:t>1. Present belonging, capacity and joy as one connected picture, not three separate checks.</a:t>
            </a:r>
          </a:p>
          <a:p>
            <a:r>
              <a:t>2. Briefly link the series' three practical strands: a neurodiversity-affirming lens that begins with the person; learning design across the secondary day shaped by student experience; positive partnership that brings student, family and school knowledge together.</a:t>
            </a:r>
          </a:p>
          <a:p>
            <a:r>
              <a:t>3. Invite participants to notice whether their design change supports belonging or joy as well as reducing a barrier.</a:t>
            </a:r>
          </a:p>
          <a:p>
            <a:r>
              <a:t>4. Point to the last line on the slide: return to these three when judging whether a change supports flourishing.</a:t>
            </a:r>
          </a:p>
          <a:p/>
          <a:p>
            <a:r>
              <a:t>YOU MIGHT SAY</a:t>
            </a:r>
          </a:p>
          <a:p>
            <a:r>
              <a:t>Belonging, capacity and joy run through all three.</a:t>
            </a:r>
          </a:p>
          <a:p/>
          <a:p>
            <a:r>
              <a:t>KEY MESSAGES</a:t>
            </a:r>
          </a:p>
          <a:p>
            <a:r>
              <a:t>• Belonging, capacity and joy belong alongside access and participation.</a:t>
            </a:r>
          </a:p>
          <a:p>
            <a:r>
              <a:t>• Learning design and partnership should stay connected to each student's whole experience, across every period and every teacher.</a:t>
            </a:r>
          </a:p>
          <a:p/>
          <a:p>
            <a:r>
              <a:t>KEEP IN MIND</a:t>
            </a:r>
          </a:p>
          <a:p>
            <a:r>
              <a:t>• Avoid presenting grades, attendance, quiet compliance or conventional independence as the only evidence of flourishing. A student who seems 'good and chilled' may be masking.</a:t>
            </a:r>
          </a:p>
          <a:p/>
          <a:p>
            <a:r>
              <a:t>THREAD</a:t>
            </a:r>
          </a:p>
          <a:p>
            <a:r>
              <a:t>Capacity picks up Session 2's thinking about what the secondary day costs and what lightens it; the whole frame is the test for the Session 3 design change and this session's partnership planning.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minutes 36 - 43  ·  Participant Guide - Start · Continue · Reconsider</a:t>
            </a:r>
          </a:p>
          <a:p/>
          <a:p>
            <a:r>
              <a:t>PURPOSE</a:t>
            </a:r>
          </a:p>
          <a:p>
            <a:r>
              <a:t>Turn the series into one specific, environment-first action for a lesson, assessment task or handover, alongside a practice to keep and one to rethink.</a:t>
            </a:r>
          </a:p>
          <a:p/>
          <a:p>
            <a:r>
              <a:t>WHAT TO DO</a:t>
            </a:r>
          </a:p>
          <a:p>
            <a:r>
              <a:t>1. Ask participants to have their Session 3 commit notes in front of them, especially 'What will you try this week, in your own classes?'</a:t>
            </a:r>
          </a:p>
          <a:p>
            <a:r>
              <a:t>2. Ask what matters most now, rather than for a summary of every topic.</a:t>
            </a:r>
          </a:p>
          <a:p>
            <a:r>
              <a:t>3. Suggest their Session 3 "this week" change can be their Start. They add how they will know it worked.</a:t>
            </a:r>
          </a:p>
          <a:p>
            <a:r>
              <a:t>4. Producer: paste the stems into the chat: I will... / The barrier or demand I am addressing is... / I will notice... / I need to consult... / I will review this on...</a:t>
            </a:r>
          </a:p>
          <a:p>
            <a:r>
              <a:t>5. Check that each Start sits within the participant's influence and does not require a student to appear less Autistic.</a:t>
            </a:r>
          </a:p>
          <a:p>
            <a:r>
              <a:t>6. Encourage participants to include when they will consult the student, family or team.</a:t>
            </a:r>
          </a:p>
          <a:p>
            <a:r>
              <a:t>7. In the last minute, invite anyone who would like to share one thing in the chat. Read out one or two.</a:t>
            </a:r>
          </a:p>
          <a:p/>
          <a:p>
            <a:r>
              <a:t>KEY MESSAGES</a:t>
            </a:r>
          </a:p>
          <a:p>
            <a:r>
              <a:t>• Use access, participation or experience as the measure, not outward compliance.</a:t>
            </a:r>
          </a:p>
          <a:p>
            <a:r>
              <a:t>• Choose one insight, question or design opportunity specific enough to guide practice and small enough to begin.</a:t>
            </a:r>
          </a:p>
          <a:p/>
          <a:p>
            <a:r>
              <a:t>ACTIVITY: Individual action planning  ·  on your own  ·  7 minutes</a:t>
            </a:r>
          </a:p>
          <a:p>
            <a:r>
              <a:t>Prompt: What matters most now, and what is one change you will take forward?</a:t>
            </a:r>
          </a:p>
          <a:p>
            <a:r>
              <a:t>1. In your Participant Guide, identify one strategy to start: something small you can start next week. Your Session 3 "this week" change can be your Start.</a:t>
            </a:r>
          </a:p>
          <a:p>
            <a:r>
              <a:t>2. Identify one practice to continue: something this series confirmed you already do well.</a:t>
            </a:r>
          </a:p>
          <a:p>
            <a:r>
              <a:t>3. Identify one approach to reconsider: something you would now do differently.</a:t>
            </a:r>
          </a:p>
          <a:p>
            <a:r>
              <a:t>4. For each, decide: How will you know it worked? What evidence will show it?</a:t>
            </a:r>
          </a:p>
          <a:p>
            <a:r>
              <a:t>5. If time allows, note beside your Start the barrier or demand it addresses, who to consult and when to review it.</a:t>
            </a:r>
          </a:p>
          <a:p>
            <a:r>
              <a:t>6. This plan is yours. Share one thing in the chat if you would like to.</a:t>
            </a:r>
          </a:p>
          <a:p>
            <a:r>
              <a:t>Close: Ask participants to keep the action small, testable and open to revision.</a:t>
            </a:r>
          </a:p>
          <a:p/>
          <a:p>
            <a:r>
              <a:t>KEEP IN MIND</a:t>
            </a:r>
          </a:p>
          <a:p>
            <a:r>
              <a:t>• Do not let 'what they will notice' become outward compliance.</a:t>
            </a:r>
          </a:p>
          <a:p>
            <a:r>
              <a:t>• The plan is theirs: sharing in the chat is optional.</a:t>
            </a:r>
          </a:p>
          <a:p>
            <a:r>
              <a:t>• Keep 'reconsider' free of blame: it is about what they would change in light of what they know now.</a:t>
            </a:r>
          </a:p>
          <a:p/>
          <a:p>
            <a:r>
              <a:t>THREAD</a:t>
            </a:r>
          </a:p>
          <a:p>
            <a:r>
              <a:t>Picks up the Session 3 close (What will you try this week, in your own classes?).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8 min  ·  minutes 43 - 51  ·  Participant Guide - Plan the next conversation</a:t>
            </a:r>
          </a:p>
          <a:p/>
          <a:p>
            <a:r>
              <a:t>PURPOSE</a:t>
            </a:r>
          </a:p>
          <a:p>
            <a:r>
              <a:t>Prepare one purposeful, power-aware conversation within two weeks: with a student's family, the student themselves, or a colleague who teaches them.</a:t>
            </a:r>
          </a:p>
          <a:p/>
          <a:p>
            <a:r>
              <a:t>WHAT TO DO</a:t>
            </a:r>
          </a:p>
          <a:p>
            <a:r>
              <a:t>1. Ask participants to open their bridge notes from slide 10.</a:t>
            </a:r>
          </a:p>
          <a:p>
            <a:r>
              <a:t>2. Name the three options: a student's family, the student themselves, or a handover conversation with a colleague who teaches them. Keeping things consistent across six or more teachers is part of partnership too.</a:t>
            </a:r>
          </a:p>
          <a:p>
            <a:r>
              <a:t>3. Encourage people towards the family or student option where they can. A conversation with a colleague is often the easier choice.</a:t>
            </a:r>
          </a:p>
          <a:p>
            <a:r>
              <a:t>4. Ask them to define the purpose before writing questions or next steps.</a:t>
            </a:r>
          </a:p>
          <a:p>
            <a:r>
              <a:t>5. For a handover conversation, use the Session 3 question from Supports that travel: what guidance needs to travel across subjects, rooms, staff changes and relief days? Plan how the student's own voice travels too.</a:t>
            </a:r>
          </a:p>
          <a:p>
            <a:r>
              <a:t>6. Ask participants to apply the process change they identified during the power-dynamics reflection.</a:t>
            </a:r>
          </a:p>
          <a:p>
            <a:r>
              <a:t>7. Keep this as private planning time with a visible timer; cameras can go off. Optional, if time allows: invite people to post their opening sentence in the chat (no names) and read one aloud.</a:t>
            </a:r>
          </a:p>
          <a:p>
            <a:r>
              <a:t>8. Keep all notes anonymised (initials or roles only) and sharing voluntary.</a:t>
            </a:r>
          </a:p>
          <a:p/>
          <a:p>
            <a:r>
              <a:t>ACTIVITY: Individual conversation planning  ·  on your own, optional chat share  ·  8 minutes</a:t>
            </a:r>
          </a:p>
          <a:p>
            <a:r>
              <a:t>Prompt: Plan one real conversation you will have within two weeks.</a:t>
            </a:r>
          </a:p>
          <a:p>
            <a:r>
              <a:t>1. Choose the real conversation you'll have within two weeks: with a student's family, the student themselves, or a colleague who teaches them (a handover conversation).</a:t>
            </a:r>
          </a:p>
          <a:p>
            <a:r>
              <a:t>2. Plan it in your Participant Guide: what I'll share (a strength first), what I'll ask (specifically), what I'll offer.</a:t>
            </a:r>
          </a:p>
          <a:p>
            <a:r>
              <a:t>3. Write your opening sentence, word for word.</a:t>
            </a:r>
          </a:p>
          <a:p>
            <a:r>
              <a:t>4. Note it: when, where, how.</a:t>
            </a:r>
          </a:p>
          <a:p>
            <a:r>
              <a:t>5. If time allows: write the purpose in one sentence, plan how the student's communication and preferences will be included, and name one possible next step and how you will follow up.</a:t>
            </a:r>
          </a:p>
          <a:p>
            <a:r>
              <a:t>Close: Invite participants to check that the plan is clear, respectful and genuinely open to family and student knowledge, including in a handover.</a:t>
            </a:r>
          </a:p>
          <a:p/>
          <a:p>
            <a:r>
              <a:t>KEEP IN MIND</a:t>
            </a:r>
          </a:p>
          <a:p>
            <a:r>
              <a:t>• Avoid scripting the family's or student's response.</a:t>
            </a:r>
          </a:p>
          <a:p>
            <a:r>
              <a:t>• Avoid treating the meeting as a way to secure agreement with a finished school plan.</a:t>
            </a:r>
          </a:p>
          <a:p>
            <a:r>
              <a:t>• A handover conversation should not become a conversation about the student without the student's voice in it.</a:t>
            </a:r>
          </a:p>
          <a:p/>
          <a:p>
            <a:r>
              <a:t>THREAD</a:t>
            </a:r>
          </a:p>
          <a:p>
            <a:r>
              <a:t>Starts from the bridge notes (slide 10), the power-dynamics reflection (slide 4) and, for a handover, Session 3 (Supports that travel).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51 - 54  ·  Participant Guide - Final reflection</a:t>
            </a:r>
          </a:p>
          <a:p/>
          <a:p>
            <a:r>
              <a:t>PURPOSE</a:t>
            </a:r>
          </a:p>
          <a:p>
            <a:r>
              <a:t>Return participants to where they started in Session 1 and name, privately, what has shifted.</a:t>
            </a:r>
          </a:p>
          <a:p/>
          <a:p>
            <a:r>
              <a:t>WHAT TO DO</a:t>
            </a:r>
          </a:p>
          <a:p>
            <a:r>
              <a:t>1. Ask participants to find what they wrote in Session 1 (Think about your students: What are you here for? What would you like to understand better?) and read their own words back.</a:t>
            </a:r>
          </a:p>
          <a:p>
            <a:r>
              <a:t>2. Ask: What's different now?</a:t>
            </a:r>
          </a:p>
          <a:p>
            <a:r>
              <a:t>3. Give quiet time for the two prompts: Where were you at the start of Session 1? Where are you now?</a:t>
            </a:r>
          </a:p>
          <a:p>
            <a:r>
              <a:t>4. Some people may feel they have gone backwards because they now see how much they didn't know. Let them know kindly that this is a normal part of learning, and a sign of progress.</a:t>
            </a:r>
          </a:p>
          <a:p>
            <a:r>
              <a:t>5. Ask each person to answer the last question in one sentence, to themselves.</a:t>
            </a:r>
          </a:p>
          <a:p>
            <a:r>
              <a:t>6. Keep it private; no sharing is needed. Cameras can go off.</a:t>
            </a:r>
          </a:p>
          <a:p/>
          <a:p>
            <a:r>
              <a:t>YOU MIGHT SAY</a:t>
            </a:r>
          </a:p>
          <a:p>
            <a:r>
              <a:t>In one sentence, for yourself: what will you do differently in your teaching?</a:t>
            </a:r>
          </a:p>
          <a:p/>
          <a:p>
            <a:r>
              <a:t>KEEP IN MIND</a:t>
            </a:r>
          </a:p>
          <a:p>
            <a:r>
              <a:t>• Some people will not have their Session 1 notes. Invite them to think back to what they hoped to understand at the start.</a:t>
            </a:r>
          </a:p>
          <a:p/>
          <a:p>
            <a:r>
              <a:t>THREAD</a:t>
            </a:r>
          </a:p>
          <a:p>
            <a:r>
              <a:t>Returns to the Session 1 private reflection (Participant Guide - Think about your students).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54 - 56  ·  Participant Guide - Connections that continue</a:t>
            </a:r>
          </a:p>
          <a:p/>
          <a:p>
            <a:r>
              <a:t>PURPOSE</a:t>
            </a:r>
          </a:p>
          <a:p>
            <a:r>
              <a:t>Introduce continuing professional learning and community pathways.</a:t>
            </a:r>
          </a:p>
          <a:p/>
          <a:p>
            <a:r>
              <a:t>WHAT TO DO</a:t>
            </a:r>
          </a:p>
          <a:p>
            <a:r>
              <a:t>1. Ask: What are you curious to learn more about next? Invite a word or two in the chat.</a:t>
            </a:r>
          </a:p>
          <a:p>
            <a:r>
              <a:t>2. Point participants back to their Session 1 notes: how many of their questions got answered?</a:t>
            </a:r>
          </a:p>
          <a:p>
            <a:r>
              <a:t>3. Explain how to access each pathway: webinars and deep dives, the Online Community of Practice and the Positive Partnerships website.</a:t>
            </a:r>
          </a:p>
          <a:p>
            <a:r>
              <a:t>4. Producer: paste the website and any confirmed links into the chat.</a:t>
            </a:r>
          </a:p>
          <a:p>
            <a:r>
              <a:t>5. Keep this brief and practical.</a:t>
            </a:r>
          </a:p>
          <a:p/>
          <a:p>
            <a:r>
              <a:t>YOU MIGHT SAY</a:t>
            </a:r>
          </a:p>
          <a:p>
            <a:r>
              <a:t>This is a starting point. These supports continue after the series.</a:t>
            </a:r>
          </a:p>
          <a:p/>
          <a:p>
            <a:r>
              <a:t>KEY MESSAGES</a:t>
            </a:r>
          </a:p>
          <a:p>
            <a:r>
              <a:t>• The series is one point in continuing professional learning, reflection and partnership.</a:t>
            </a:r>
          </a:p>
          <a:p>
            <a:r>
              <a:t>• Choose the pathway that fits your next question.</a:t>
            </a:r>
          </a:p>
          <a:p/>
          <a:p>
            <a:r>
              <a:t>RESOURCES</a:t>
            </a:r>
          </a:p>
          <a:p>
            <a:r>
              <a:t>Positive Partnerships website - positivepartnerships.com.au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56 - 59</a:t>
            </a:r>
          </a:p>
          <a:p/>
          <a:p>
            <a:r>
              <a:t>PURPOSE</a:t>
            </a:r>
          </a:p>
          <a:p>
            <a:r>
              <a:t>Collect participant feedback on the online series.</a:t>
            </a:r>
          </a:p>
          <a:p/>
          <a:p>
            <a:r>
              <a:t>WHAT TO DO</a:t>
            </a:r>
          </a:p>
          <a:p>
            <a:r>
              <a:t>1. Explain why feedback is being collected and how it is used.</a:t>
            </a:r>
          </a:p>
          <a:p>
            <a:r>
              <a:t>2. Producer: paste the feedback link into the chat; the QR code stays on screen for anyone using a phone.</a:t>
            </a:r>
          </a:p>
          <a:p>
            <a:r>
              <a:t>3. Allow protected time for completion before the session ends.</a:t>
            </a:r>
          </a:p>
          <a:p>
            <a:r>
              <a:t>4. Let people know they can ask for help in the chat if the form does not open.</a:t>
            </a:r>
          </a:p>
          <a:p>
            <a:r>
              <a:t>5. Provide an accessible alternative if the process includes one.</a:t>
            </a:r>
          </a:p>
          <a:p/>
          <a:p>
            <a:r>
              <a:t>KEEP IN MIND</a:t>
            </a:r>
          </a:p>
          <a:p>
            <a:r>
              <a:t>• Before running the session, confirm the feedback form has an option for the online series.</a:t>
            </a:r>
          </a:p>
          <a:p/>
          <a:p>
            <a:r>
              <a:t>RESOURCES</a:t>
            </a:r>
          </a:p>
          <a:p>
            <a:r>
              <a:t>Feedback form - http://tiny.cc/PP-PLfeedback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 min  ·  minutes 59 - 60</a:t>
            </a:r>
          </a:p>
          <a:p/>
          <a:p>
            <a:r>
              <a:t>PURPOSE</a:t>
            </a:r>
          </a:p>
          <a:p>
            <a:r>
              <a:t>Close the series warmly and return participants to student-centred curiosity.</a:t>
            </a:r>
          </a:p>
          <a:p/>
          <a:p>
            <a:r>
              <a:t>WHAT TO DO</a:t>
            </a:r>
          </a:p>
          <a:p>
            <a:r>
              <a:t>1. Thank participants for their attention, questions and professional reflection across the four sessions.</a:t>
            </a:r>
          </a:p>
          <a:p>
            <a:r>
              <a:t>2. Invite them to stay curious and keep students at the centre.</a:t>
            </a:r>
          </a:p>
          <a:p>
            <a:r>
              <a:t>3. Remind participants to keep their Start · Continue · Reconsider plan and conversation plan.</a:t>
            </a:r>
          </a:p>
          <a:p>
            <a:r>
              <a:t>4. State the relevant follow-up and contact arrangements, and leave the room open for a minute for anyone who wants to stay.</a:t>
            </a:r>
          </a:p>
          <a:p/>
          <a:p>
            <a:r>
              <a:t>KEY MESSAGES</a:t>
            </a:r>
          </a:p>
          <a:p>
            <a:r>
              <a:t>• Stay curious.</a:t>
            </a:r>
          </a:p>
          <a:p>
            <a:r>
              <a:t>• Keep students at the centre.</a:t>
            </a:r>
          </a:p>
          <a:p>
            <a:r>
              <a:t>• Small, informed changes can be reviewed and refined in partnership.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81.xml"/><Relationship Id="rId3" Type="http://schemas.openxmlformats.org/officeDocument/2006/relationships/image" Target="../media/copied82.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media/copied83.xml"/><Relationship Id="rId3" Type="http://schemas.openxmlformats.org/officeDocument/2006/relationships/image" Target="../media/copied8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85.xml"/><Relationship Id="rId3" Type="http://schemas.openxmlformats.org/officeDocument/2006/relationships/image" Target="../media/copied86.png"/><Relationship Id="rId4" Type="http://schemas.openxmlformats.org/officeDocument/2006/relationships/image" Target="../media/copied87.sv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ags" Target="../media/copied88.xml"/><Relationship Id="rId3" Type="http://schemas.microsoft.com/office/2007/relationships/media" Target="../media/copied89.mp4"/><Relationship Id="rId4" Type="http://schemas.openxmlformats.org/officeDocument/2006/relationships/video" Target="../media/copied89.mp4"/><Relationship Id="rId5" Type="http://schemas.openxmlformats.org/officeDocument/2006/relationships/image" Target="../media/copied90.svg"/><Relationship Id="rId6" Type="http://schemas.openxmlformats.org/officeDocument/2006/relationships/image" Target="../media/copied9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84.sv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92.xml"/><Relationship Id="rId3" Type="http://schemas.openxmlformats.org/officeDocument/2006/relationships/image" Target="../media/copied93.jpeg"/><Relationship Id="rId4" Type="http://schemas.openxmlformats.org/officeDocument/2006/relationships/image" Target="../media/copied94.jpeg"/><Relationship Id="rId5" Type="http://schemas.openxmlformats.org/officeDocument/2006/relationships/image" Target="../media/copied95.jpeg"/><Relationship Id="rId6" Type="http://schemas.openxmlformats.org/officeDocument/2006/relationships/image" Target="../media/copied96.png"/><Relationship Id="rId7" Type="http://schemas.openxmlformats.org/officeDocument/2006/relationships/image" Target="../media/copied97.png"/><Relationship Id="rId8" Type="http://schemas.openxmlformats.org/officeDocument/2006/relationships/image" Target="../media/copied98.png"/><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99.jpe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3">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Secondary Education Online · Session 4</a:t>
            </a:r>
          </a:p>
          <a:p>
            <a:pPr marL="0" indent="0" algn="l">
              <a:lnSpc>
                <a:spcPct val="95000"/>
              </a:lnSpc>
              <a:spcBef>
                <a:spcPts val="1000"/>
              </a:spcBef>
              <a:buNone/>
            </a:pPr>
            <a:r>
              <a:rPr lang="en-AU" sz="3600" b="0" dirty="0">
                <a:solidFill>
                  <a:srgbClr val="584099"/>
                </a:solidFill>
                <a:latin typeface="Arial Black"/>
                <a:ea typeface="Arial Black"/>
                <a:cs typeface="Arial Black"/>
              </a:rPr>
              <a:t>Working in Partnership with Students and Families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Support staff</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3"/>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822960" y="1874520"/>
            <a:ext cx="3931920" cy="713232"/>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822960" y="2697480"/>
            <a:ext cx="3931920" cy="713232"/>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822960" y="3520440"/>
            <a:ext cx="3931920" cy="713232"/>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822960" y="4343400"/>
            <a:ext cx="3931920" cy="713232"/>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822960" y="5166360"/>
            <a:ext cx="3931920" cy="713232"/>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Perception of the importance / experience of school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In the chat or on the whiteboard:</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Add your notes to the shared whiteboard under Home, School and Solutions.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4"/>
            <p:extLst>
              <p:ext uri="{DAA4B4D4-6D71-4841-9C94-3DE7FCFB9230}">
                <p14:media xmlns:p14="http://schemas.microsoft.com/office/powerpoint/2010/main" r:embed="rId3"/>
              </p:ext>
            </p:extLst>
          </p:nvPr>
        </p:nvPicPr>
        <p:blipFill>
          <a:blip r:embed="rId6"/>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
        <p:nvSpPr>
          <p:cNvPr id="18" name="TextBox 2"/>
          <p:cNvSpPr txBox="1"/>
          <p:nvPr/>
        </p:nvSpPr>
        <p:spPr>
          <a:xfrm>
            <a:off x="685800" y="5806440"/>
            <a:ext cx="10817352" cy="731520"/>
          </a:xfrm>
          <a:prstGeom prst="rect">
            <a:avLst/>
          </a:prstGeom>
          <a:noFill/>
        </p:spPr>
        <p:txBody>
          <a:bodyPr wrap="square" lIns="0" tIns="0" rIns="0" bIns="0" anchor="t">
            <a:noAutofit/>
          </a:bodyPr>
          <a:lstStyle/>
          <a:p>
            <a:pPr marL="0" indent="0" algn="l">
              <a:lnSpc>
                <a:spcPct val="100000"/>
              </a:lnSpc>
              <a:spcBef>
                <a:spcPts val="0"/>
              </a:spcBef>
              <a:buNone/>
            </a:pPr>
            <a:r>
              <a:rPr lang="en-AU" sz="1800" b="0">
                <a:solidFill>
                  <a:srgbClr val="3D2A6B"/>
                </a:solidFill>
                <a:latin typeface="Arial"/>
                <a:ea typeface="Arial"/>
                <a:cs typeface="Arial"/>
              </a:rPr>
              <a:t>Under the Disability Standards for Education 2005, schools must consult the student, or an associate such as a parent or carer, about adjustments.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11680"/>
            <a:ext cx="2545004" cy="786384"/>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822960" y="2011680"/>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Offer communication choices</a:t>
            </a:r>
          </a:p>
        </p:txBody>
      </p:sp>
      <p:sp>
        <p:nvSpPr>
          <p:cNvPr id="7" name="Rounded Rectangle 6"/>
          <p:cNvSpPr/>
          <p:nvPr/>
        </p:nvSpPr>
        <p:spPr>
          <a:xfrm>
            <a:off x="3367964" y="2011680"/>
            <a:ext cx="2545004" cy="786384"/>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505124" y="2011680"/>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Meeting preparation</a:t>
            </a:r>
          </a:p>
        </p:txBody>
      </p:sp>
      <p:sp>
        <p:nvSpPr>
          <p:cNvPr id="9" name="Rounded Rectangle 8"/>
          <p:cNvSpPr/>
          <p:nvPr/>
        </p:nvSpPr>
        <p:spPr>
          <a:xfrm>
            <a:off x="685800" y="2889504"/>
            <a:ext cx="2545004" cy="786384"/>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822960" y="2889504"/>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Simple choices</a:t>
            </a:r>
          </a:p>
        </p:txBody>
      </p:sp>
      <p:sp>
        <p:nvSpPr>
          <p:cNvPr id="11" name="Rounded Rectangle 10"/>
          <p:cNvSpPr/>
          <p:nvPr/>
        </p:nvSpPr>
        <p:spPr>
          <a:xfrm>
            <a:off x="3367964" y="2889504"/>
            <a:ext cx="2545004" cy="786384"/>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505124" y="2889504"/>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Processing time</a:t>
            </a:r>
          </a:p>
        </p:txBody>
      </p:sp>
      <p:sp>
        <p:nvSpPr>
          <p:cNvPr id="13" name="Rounded Rectangle 12"/>
          <p:cNvSpPr/>
          <p:nvPr/>
        </p:nvSpPr>
        <p:spPr>
          <a:xfrm>
            <a:off x="685800" y="3767328"/>
            <a:ext cx="2545004" cy="786384"/>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822960" y="3767328"/>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Sensory-friendly spaces</a:t>
            </a:r>
          </a:p>
        </p:txBody>
      </p:sp>
      <p:sp>
        <p:nvSpPr>
          <p:cNvPr id="15" name="Rounded Rectangle 14"/>
          <p:cNvSpPr/>
          <p:nvPr/>
        </p:nvSpPr>
        <p:spPr>
          <a:xfrm>
            <a:off x="3367964" y="3767328"/>
            <a:ext cx="2545004" cy="786384"/>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505124" y="3767328"/>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Behaviour as communication</a:t>
            </a:r>
          </a:p>
        </p:txBody>
      </p:sp>
      <p:sp>
        <p:nvSpPr>
          <p:cNvPr id="17" name="Rounded Rectangle 16"/>
          <p:cNvSpPr/>
          <p:nvPr/>
        </p:nvSpPr>
        <p:spPr>
          <a:xfrm>
            <a:off x="685800" y="4645152"/>
            <a:ext cx="2545004" cy="786384"/>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822960" y="4645152"/>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Strengths and interests</a:t>
            </a:r>
          </a:p>
        </p:txBody>
      </p:sp>
      <p:sp>
        <p:nvSpPr>
          <p:cNvPr id="19" name="Rounded Rectangle 18"/>
          <p:cNvSpPr/>
          <p:nvPr/>
        </p:nvSpPr>
        <p:spPr>
          <a:xfrm>
            <a:off x="3367964" y="4645152"/>
            <a:ext cx="2545004" cy="786384"/>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505124" y="4645152"/>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Support - don’t speak for</a:t>
            </a:r>
          </a:p>
        </p:txBody>
      </p:sp>
      <p:sp>
        <p:nvSpPr>
          <p:cNvPr id="21" name="Rounded Rectangle 20"/>
          <p:cNvSpPr/>
          <p:nvPr/>
        </p:nvSpPr>
        <p:spPr>
          <a:xfrm>
            <a:off x="685800" y="5522976"/>
            <a:ext cx="2545004" cy="786384"/>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822960" y="5522976"/>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11680"/>
            <a:ext cx="2545004" cy="786384"/>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415887" y="2011680"/>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Start with students’ strengths and interests</a:t>
            </a:r>
          </a:p>
        </p:txBody>
      </p:sp>
      <p:sp>
        <p:nvSpPr>
          <p:cNvPr id="27" name="Rounded Rectangle 26"/>
          <p:cNvSpPr/>
          <p:nvPr/>
        </p:nvSpPr>
        <p:spPr>
          <a:xfrm>
            <a:off x="8960891" y="2011680"/>
            <a:ext cx="2545004" cy="786384"/>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098051" y="2011680"/>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Listen to families and value their insights</a:t>
            </a:r>
          </a:p>
        </p:txBody>
      </p:sp>
      <p:sp>
        <p:nvSpPr>
          <p:cNvPr id="29" name="Rounded Rectangle 28"/>
          <p:cNvSpPr/>
          <p:nvPr/>
        </p:nvSpPr>
        <p:spPr>
          <a:xfrm>
            <a:off x="6278728" y="2889504"/>
            <a:ext cx="2545004" cy="786384"/>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415887" y="2889504"/>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Use clear, simple language</a:t>
            </a:r>
          </a:p>
        </p:txBody>
      </p:sp>
      <p:sp>
        <p:nvSpPr>
          <p:cNvPr id="31" name="Rounded Rectangle 30"/>
          <p:cNvSpPr/>
          <p:nvPr/>
        </p:nvSpPr>
        <p:spPr>
          <a:xfrm>
            <a:off x="8960891" y="2889504"/>
            <a:ext cx="2545004" cy="786384"/>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098051" y="2889504"/>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Respect different perspectives / experiences</a:t>
            </a:r>
          </a:p>
        </p:txBody>
      </p:sp>
      <p:sp>
        <p:nvSpPr>
          <p:cNvPr id="33" name="Rounded Rectangle 32"/>
          <p:cNvSpPr/>
          <p:nvPr/>
        </p:nvSpPr>
        <p:spPr>
          <a:xfrm>
            <a:off x="6278728" y="3767328"/>
            <a:ext cx="2545004" cy="786384"/>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415887" y="3767328"/>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Focus on needs, goals and participation</a:t>
            </a:r>
          </a:p>
        </p:txBody>
      </p:sp>
      <p:sp>
        <p:nvSpPr>
          <p:cNvPr id="35" name="Rounded Rectangle 34"/>
          <p:cNvSpPr/>
          <p:nvPr/>
        </p:nvSpPr>
        <p:spPr>
          <a:xfrm>
            <a:off x="8960891" y="3767328"/>
            <a:ext cx="2545004" cy="786384"/>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098051" y="3767328"/>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Use real examples from school</a:t>
            </a:r>
          </a:p>
        </p:txBody>
      </p:sp>
      <p:sp>
        <p:nvSpPr>
          <p:cNvPr id="37" name="Rounded Rectangle 36"/>
          <p:cNvSpPr/>
          <p:nvPr/>
        </p:nvSpPr>
        <p:spPr>
          <a:xfrm>
            <a:off x="6278728" y="4645152"/>
            <a:ext cx="2545004" cy="786384"/>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415887" y="4645152"/>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Check for shared understanding</a:t>
            </a:r>
          </a:p>
        </p:txBody>
      </p:sp>
      <p:sp>
        <p:nvSpPr>
          <p:cNvPr id="39" name="Rounded Rectangle 38"/>
          <p:cNvSpPr/>
          <p:nvPr/>
        </p:nvSpPr>
        <p:spPr>
          <a:xfrm>
            <a:off x="8960891" y="4645152"/>
            <a:ext cx="2545004" cy="786384"/>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098051" y="4645152"/>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Agree on next steps</a:t>
            </a:r>
          </a:p>
        </p:txBody>
      </p:sp>
      <p:sp>
        <p:nvSpPr>
          <p:cNvPr id="41" name="Rounded Rectangle 40"/>
          <p:cNvSpPr/>
          <p:nvPr/>
        </p:nvSpPr>
        <p:spPr>
          <a:xfrm>
            <a:off x="6278728" y="5522976"/>
            <a:ext cx="2545004" cy="786384"/>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415887" y="5522976"/>
            <a:ext cx="2267712" cy="786384"/>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Keep communication open and ongoing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Adolescents in their own meetings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From being talked about, to taking part and, over time, leading.</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822960" y="2377440"/>
            <a:ext cx="2276856"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Prepared and supported</a:t>
            </a:r>
          </a:p>
          <a:p>
            <a:pPr algn="l" marL="0" indent="0">
              <a:lnSpc>
                <a:spcPct val="100000"/>
              </a:lnSpc>
              <a:spcBef>
                <a:spcPts val="800"/>
              </a:spcBef>
              <a:buNone/>
            </a:pPr>
            <a:r>
              <a:rPr lang="en-AU" sz="1800" b="0">
                <a:solidFill>
                  <a:srgbClr val="3D2A6B"/>
                </a:solidFill>
                <a:latin typeface="Arial"/>
                <a:ea typeface="Arial"/>
                <a:cs typeface="Arial"/>
              </a:rPr>
              <a:t>to take part in their own way: in person, in writing, through a trusted adult.</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578276" y="2377440"/>
            <a:ext cx="2276856"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Taking more of a lead</a:t>
            </a:r>
          </a:p>
          <a:p>
            <a:pPr algn="l" marL="0" indent="0">
              <a:lnSpc>
                <a:spcPct val="100000"/>
              </a:lnSpc>
              <a:spcBef>
                <a:spcPts val="800"/>
              </a:spcBef>
              <a:buNone/>
            </a:pPr>
            <a:r>
              <a:rPr lang="en-AU" sz="1800" b="0">
                <a:solidFill>
                  <a:srgbClr val="3D2A6B"/>
                </a:solidFill>
                <a:latin typeface="Arial"/>
                <a:ea typeface="Arial"/>
                <a:cs typeface="Arial"/>
              </a:rPr>
              <a:t>their own meetings as they move through secondary school.</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333592" y="2377440"/>
            <a:ext cx="2276856"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Speaking up for themselves</a:t>
            </a:r>
          </a:p>
          <a:p>
            <a:pPr algn="l" marL="0" indent="0">
              <a:lnSpc>
                <a:spcPct val="100000"/>
              </a:lnSpc>
              <a:spcBef>
                <a:spcPts val="800"/>
              </a:spcBef>
              <a:buNone/>
            </a:pPr>
            <a:r>
              <a:rPr lang="en-AU" sz="1800" b="0">
                <a:solidFill>
                  <a:srgbClr val="3D2A6B"/>
                </a:solidFill>
                <a:latin typeface="Arial"/>
                <a:ea typeface="Arial"/>
                <a:cs typeface="Arial"/>
              </a:rPr>
              <a:t>is practice for senior school, work and life after school.</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088907" y="2377440"/>
            <a:ext cx="2276856"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Students have a say</a:t>
            </a:r>
          </a:p>
          <a:p>
            <a:pPr algn="l" marL="0" indent="0">
              <a:lnSpc>
                <a:spcPct val="100000"/>
              </a:lnSpc>
              <a:spcBef>
                <a:spcPts val="800"/>
              </a:spcBef>
              <a:buNone/>
            </a:pPr>
            <a:r>
              <a:rPr lang="en-AU" sz="1800" b="0">
                <a:solidFill>
                  <a:srgbClr val="3D2A6B"/>
                </a:solidFill>
                <a:latin typeface="Arial"/>
                <a:ea typeface="Arial"/>
                <a:cs typeface="Arial"/>
              </a:rPr>
              <a:t>in decisions about their own learning and support.</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Where you can, ask the student directly.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 take part, or have their views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later in this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Belonging, capacity and joy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Keep all three in the picture.</a:t>
            </a:r>
          </a:p>
        </p:txBody>
      </p:sp>
      <p:sp>
        <p:nvSpPr>
          <p:cNvPr id="4" name="Rounded Rectangle 3"/>
          <p:cNvSpPr/>
          <p:nvPr/>
        </p:nvSpPr>
        <p:spPr>
          <a:xfrm>
            <a:off x="685800" y="2011680"/>
            <a:ext cx="3423818" cy="2743200"/>
          </a:xfrm>
          <a:prstGeom prst="roundRect">
            <a:avLst>
              <a:gd name="adj" fmla="val 10000"/>
            </a:avLst>
          </a:prstGeom>
          <a:solidFill>
            <a:srgbClr val="F3F0FA"/>
          </a:solidFill>
          <a:ln>
            <a:noFill/>
          </a:ln>
        </p:spPr>
        <p:txBody>
          <a:bodyPr rtlCol="0" anchor="ctr"/>
          <a:lstStyle/>
          <a:p>
            <a:pPr algn="ctr"/>
            <a:endParaRPr/>
          </a:p>
        </p:txBody>
      </p:sp>
      <p:sp>
        <p:nvSpPr>
          <p:cNvPr id="5" name="TextBox 4"/>
          <p:cNvSpPr txBox="1"/>
          <p:nvPr/>
        </p:nvSpPr>
        <p:spPr>
          <a:xfrm>
            <a:off x="1005840"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Belonging</a:t>
            </a:r>
          </a:p>
          <a:p>
            <a:pPr marL="0" indent="0" algn="l">
              <a:lnSpc>
                <a:spcPct val="105000"/>
              </a:lnSpc>
              <a:spcBef>
                <a:spcPts val="1000"/>
              </a:spcBef>
              <a:buNone/>
            </a:pPr>
            <a:r>
              <a:rPr lang="en-AU" sz="1800" b="1">
                <a:solidFill>
                  <a:srgbClr val="3D2A6B"/>
                </a:solidFill>
                <a:latin typeface="Arial"/>
                <a:ea typeface="Arial"/>
                <a:cs typeface="Arial"/>
              </a:rPr>
              <a:t>Being recognised, included and able to participate as oneself</a:t>
            </a:r>
          </a:p>
        </p:txBody>
      </p:sp>
      <p:sp>
        <p:nvSpPr>
          <p:cNvPr id="6" name="Rounded Rectangle 5"/>
          <p:cNvSpPr/>
          <p:nvPr/>
        </p:nvSpPr>
        <p:spPr>
          <a:xfrm>
            <a:off x="4383938" y="2011680"/>
            <a:ext cx="3423818" cy="2743200"/>
          </a:xfrm>
          <a:prstGeom prst="roundRect">
            <a:avLst>
              <a:gd name="adj" fmla="val 10000"/>
            </a:avLst>
          </a:prstGeom>
          <a:solidFill>
            <a:srgbClr val="DCD3F0"/>
          </a:solidFill>
          <a:ln>
            <a:noFill/>
          </a:ln>
        </p:spPr>
        <p:txBody>
          <a:bodyPr rtlCol="0" anchor="ctr"/>
          <a:lstStyle/>
          <a:p>
            <a:pPr algn="ctr"/>
            <a:endParaRPr/>
          </a:p>
        </p:txBody>
      </p:sp>
      <p:sp>
        <p:nvSpPr>
          <p:cNvPr id="7" name="TextBox 6"/>
          <p:cNvSpPr txBox="1"/>
          <p:nvPr/>
        </p:nvSpPr>
        <p:spPr>
          <a:xfrm>
            <a:off x="4703978"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Capacity</a:t>
            </a:r>
          </a:p>
          <a:p>
            <a:pPr marL="0" indent="0" algn="l">
              <a:lnSpc>
                <a:spcPct val="105000"/>
              </a:lnSpc>
              <a:spcBef>
                <a:spcPts val="1000"/>
              </a:spcBef>
              <a:buNone/>
            </a:pPr>
            <a:r>
              <a:rPr lang="en-AU" sz="1800" b="1">
                <a:solidFill>
                  <a:srgbClr val="3D2A6B"/>
                </a:solidFill>
                <a:latin typeface="Arial"/>
                <a:ea typeface="Arial"/>
                <a:cs typeface="Arial"/>
              </a:rPr>
              <a:t>What the day costs, protects and restores</a:t>
            </a:r>
          </a:p>
        </p:txBody>
      </p:sp>
      <p:sp>
        <p:nvSpPr>
          <p:cNvPr id="8" name="Rounded Rectangle 7"/>
          <p:cNvSpPr/>
          <p:nvPr/>
        </p:nvSpPr>
        <p:spPr>
          <a:xfrm>
            <a:off x="8082077" y="2011680"/>
            <a:ext cx="3423818" cy="274320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8402117"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Joy</a:t>
            </a:r>
          </a:p>
          <a:p>
            <a:pPr marL="0" indent="0" algn="l">
              <a:lnSpc>
                <a:spcPct val="105000"/>
              </a:lnSpc>
              <a:spcBef>
                <a:spcPts val="1000"/>
              </a:spcBef>
              <a:buNone/>
            </a:pPr>
            <a:r>
              <a:rPr lang="en-AU" sz="1800" b="1">
                <a:solidFill>
                  <a:srgbClr val="3D2A6B"/>
                </a:solidFill>
                <a:latin typeface="Arial"/>
                <a:ea typeface="Arial"/>
                <a:cs typeface="Arial"/>
              </a:rPr>
              <a:t>Interests, connection and authentic expression</a:t>
            </a:r>
          </a:p>
        </p:txBody>
      </p:sp>
      <p:sp>
        <p:nvSpPr>
          <p:cNvPr id="10" name="Rounded Rectangle 9"/>
          <p:cNvSpPr/>
          <p:nvPr/>
        </p:nvSpPr>
        <p:spPr>
          <a:xfrm>
            <a:off x="685800" y="51206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1206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Return to these when judging whether a change supports flourishing.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564336-1E2A-DABF-1A15-0FD63C44A7F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Start · Continue · Reconsider</a:t>
            </a:r>
          </a:p>
        </p:txBody>
      </p:sp>
      <p:sp>
        <p:nvSpPr>
          <p:cNvPr id="5" name="TextBox 4"/>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In your Participant Guide, identify:</a:t>
            </a:r>
          </a:p>
        </p:txBody>
      </p:sp>
      <p:sp>
        <p:nvSpPr>
          <p:cNvPr id="6" name="Rounded Rectangle 5"/>
          <p:cNvSpPr/>
          <p:nvPr/>
        </p:nvSpPr>
        <p:spPr>
          <a:xfrm>
            <a:off x="685800" y="2011680"/>
            <a:ext cx="3423818" cy="2148840"/>
          </a:xfrm>
          <a:prstGeom prst="roundRect">
            <a:avLst>
              <a:gd name="adj" fmla="val 10000"/>
            </a:avLst>
          </a:prstGeom>
          <a:solidFill>
            <a:srgbClr val="584099"/>
          </a:solidFill>
          <a:ln>
            <a:noFill/>
          </a:ln>
        </p:spPr>
        <p:txBody>
          <a:bodyPr rtlCol="0" anchor="ctr"/>
          <a:lstStyle/>
          <a:p>
            <a:pPr algn="ctr"/>
            <a:endParaRPr/>
          </a:p>
        </p:txBody>
      </p:sp>
      <p:sp>
        <p:nvSpPr>
          <p:cNvPr id="7" name="TextBox 6"/>
          <p:cNvSpPr txBox="1"/>
          <p:nvPr/>
        </p:nvSpPr>
        <p:spPr>
          <a:xfrm>
            <a:off x="1005840"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FFFFFF"/>
                </a:solidFill>
                <a:latin typeface="Arial Black"/>
                <a:ea typeface="Arial Black"/>
                <a:cs typeface="Arial Black"/>
              </a:rPr>
              <a:t>Start</a:t>
            </a:r>
          </a:p>
          <a:p>
            <a:pPr marL="0" indent="0" algn="l">
              <a:lnSpc>
                <a:spcPct val="100000"/>
              </a:lnSpc>
              <a:spcBef>
                <a:spcPts val="600"/>
              </a:spcBef>
              <a:buNone/>
            </a:pPr>
            <a:r>
              <a:rPr lang="en-AU" sz="1700" b="1">
                <a:solidFill>
                  <a:srgbClr val="FFFFFF"/>
                </a:solidFill>
                <a:latin typeface="Arial"/>
                <a:ea typeface="Arial"/>
                <a:cs typeface="Arial"/>
              </a:rPr>
              <a:t>One strategy to start</a:t>
            </a:r>
          </a:p>
          <a:p>
            <a:pPr marL="0" indent="0" algn="l">
              <a:lnSpc>
                <a:spcPct val="100000"/>
              </a:lnSpc>
              <a:spcBef>
                <a:spcPts val="400"/>
              </a:spcBef>
              <a:buNone/>
            </a:pPr>
            <a:r>
              <a:rPr lang="en-AU" sz="1500" b="0">
                <a:solidFill>
                  <a:srgbClr val="E6E0F5"/>
                </a:solidFill>
                <a:latin typeface="Arial"/>
                <a:ea typeface="Arial"/>
                <a:cs typeface="Arial"/>
              </a:rPr>
              <a:t>something small you can start next week</a:t>
            </a:r>
          </a:p>
        </p:txBody>
      </p:sp>
      <p:sp>
        <p:nvSpPr>
          <p:cNvPr id="8" name="Rounded Rectangle 7"/>
          <p:cNvSpPr/>
          <p:nvPr/>
        </p:nvSpPr>
        <p:spPr>
          <a:xfrm>
            <a:off x="4383938" y="2011680"/>
            <a:ext cx="3423818" cy="214884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4703978"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584099"/>
                </a:solidFill>
                <a:latin typeface="Arial Black"/>
                <a:ea typeface="Arial Black"/>
                <a:cs typeface="Arial Black"/>
              </a:rPr>
              <a:t>Continue</a:t>
            </a:r>
          </a:p>
          <a:p>
            <a:pPr marL="0" indent="0" algn="l">
              <a:lnSpc>
                <a:spcPct val="100000"/>
              </a:lnSpc>
              <a:spcBef>
                <a:spcPts val="600"/>
              </a:spcBef>
              <a:buNone/>
            </a:pPr>
            <a:r>
              <a:rPr lang="en-AU" sz="1700" b="1">
                <a:solidFill>
                  <a:srgbClr val="3D2A6B"/>
                </a:solidFill>
                <a:latin typeface="Arial"/>
                <a:ea typeface="Arial"/>
                <a:cs typeface="Arial"/>
              </a:rPr>
              <a:t>One practice to continue</a:t>
            </a:r>
          </a:p>
          <a:p>
            <a:pPr marL="0" indent="0" algn="l">
              <a:lnSpc>
                <a:spcPct val="100000"/>
              </a:lnSpc>
              <a:spcBef>
                <a:spcPts val="400"/>
              </a:spcBef>
              <a:buNone/>
            </a:pPr>
            <a:r>
              <a:rPr lang="en-AU" sz="1500" b="0">
                <a:solidFill>
                  <a:srgbClr val="2D2440"/>
                </a:solidFill>
                <a:latin typeface="Arial"/>
                <a:ea typeface="Arial"/>
                <a:cs typeface="Arial"/>
              </a:rPr>
              <a:t>something this series confirmed you already do well</a:t>
            </a:r>
          </a:p>
        </p:txBody>
      </p:sp>
      <p:sp>
        <p:nvSpPr>
          <p:cNvPr id="10" name="Rounded Rectangle 9"/>
          <p:cNvSpPr/>
          <p:nvPr/>
        </p:nvSpPr>
        <p:spPr>
          <a:xfrm>
            <a:off x="8082077" y="2011680"/>
            <a:ext cx="3423818" cy="2148840"/>
          </a:xfrm>
          <a:prstGeom prst="roundRect">
            <a:avLst>
              <a:gd name="adj" fmla="val 10000"/>
            </a:avLst>
          </a:prstGeom>
          <a:solidFill>
            <a:srgbClr val="F3F0FA"/>
          </a:solidFill>
          <a:ln>
            <a:noFill/>
          </a:ln>
        </p:spPr>
        <p:txBody>
          <a:bodyPr rtlCol="0" anchor="ctr"/>
          <a:lstStyle/>
          <a:p>
            <a:pPr algn="ctr"/>
            <a:endParaRPr/>
          </a:p>
        </p:txBody>
      </p:sp>
      <p:sp>
        <p:nvSpPr>
          <p:cNvPr id="11" name="TextBox 10"/>
          <p:cNvSpPr txBox="1"/>
          <p:nvPr/>
        </p:nvSpPr>
        <p:spPr>
          <a:xfrm>
            <a:off x="8402117"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584099"/>
                </a:solidFill>
                <a:latin typeface="Arial Black"/>
                <a:ea typeface="Arial Black"/>
                <a:cs typeface="Arial Black"/>
              </a:rPr>
              <a:t>Reconsider</a:t>
            </a:r>
          </a:p>
          <a:p>
            <a:pPr marL="0" indent="0" algn="l">
              <a:lnSpc>
                <a:spcPct val="100000"/>
              </a:lnSpc>
              <a:spcBef>
                <a:spcPts val="600"/>
              </a:spcBef>
              <a:buNone/>
            </a:pPr>
            <a:r>
              <a:rPr lang="en-AU" sz="1700" b="1">
                <a:solidFill>
                  <a:srgbClr val="3D2A6B"/>
                </a:solidFill>
                <a:latin typeface="Arial"/>
                <a:ea typeface="Arial"/>
                <a:cs typeface="Arial"/>
              </a:rPr>
              <a:t>One approach to reconsider</a:t>
            </a:r>
          </a:p>
          <a:p>
            <a:pPr marL="0" indent="0" algn="l">
              <a:lnSpc>
                <a:spcPct val="100000"/>
              </a:lnSpc>
              <a:spcBef>
                <a:spcPts val="400"/>
              </a:spcBef>
              <a:buNone/>
            </a:pPr>
            <a:r>
              <a:rPr lang="en-AU" sz="1500" b="0">
                <a:solidFill>
                  <a:srgbClr val="2D2440"/>
                </a:solidFill>
                <a:latin typeface="Arial"/>
                <a:ea typeface="Arial"/>
                <a:cs typeface="Arial"/>
              </a:rPr>
              <a:t>something you would now do differently</a:t>
            </a:r>
          </a:p>
        </p:txBody>
      </p:sp>
      <p:sp>
        <p:nvSpPr>
          <p:cNvPr id="12" name="TextBox 11"/>
          <p:cNvSpPr txBox="1"/>
          <p:nvPr/>
        </p:nvSpPr>
        <p:spPr>
          <a:xfrm>
            <a:off x="685800" y="4389120"/>
            <a:ext cx="10789920" cy="822960"/>
          </a:xfrm>
          <a:prstGeom prst="rect">
            <a:avLst/>
          </a:prstGeom>
          <a:noFill/>
        </p:spPr>
        <p:txBody>
          <a:bodyPr wrap="square" lIns="0" tIns="0" rIns="0" bIns="0" anchor="t">
            <a:noAutofit/>
          </a:bodyPr>
          <a:lstStyle/>
          <a:p>
            <a:pPr marL="0" indent="0" algn="l">
              <a:lnSpc>
                <a:spcPct val="100000"/>
              </a:lnSpc>
              <a:spcBef>
                <a:spcPts val="0"/>
              </a:spcBef>
              <a:buNone/>
            </a:pPr>
            <a:r>
              <a:rPr lang="en-AU" sz="1800" b="1">
                <a:solidFill>
                  <a:srgbClr val="3D2A6B"/>
                </a:solidFill>
                <a:latin typeface="Arial"/>
                <a:ea typeface="Arial"/>
                <a:cs typeface="Arial"/>
              </a:rPr>
              <a:t>For each, decide: How will you know it worked? What evidence will show it?</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4" name="TextBox 13"/>
          <p:cNvSpPr txBox="1"/>
          <p:nvPr/>
        </p:nvSpPr>
        <p:spPr>
          <a:xfrm>
            <a:off x="960120" y="52578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This plan is yours. Share one thing in the chat if you would like 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8B3160-3FF6-2D0B-C202-81FA4BCAD256}"/>
              </a:ext>
            </a:extLst>
          </p:cNvPr>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Plan the next conversation</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584099"/>
                </a:solidFill>
                <a:latin typeface="Arial"/>
                <a:ea typeface="Arial"/>
                <a:cs typeface="Arial"/>
              </a:rPr>
              <a:t>Start from your bridge notes.</a:t>
            </a:r>
          </a:p>
        </p:txBody>
      </p:sp>
      <p:sp>
        <p:nvSpPr>
          <p:cNvPr id="7" name="Oval 6"/>
          <p:cNvSpPr/>
          <p:nvPr/>
        </p:nvSpPr>
        <p:spPr>
          <a:xfrm>
            <a:off x="685800" y="196596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8" name="TextBox 7"/>
          <p:cNvSpPr txBox="1"/>
          <p:nvPr/>
        </p:nvSpPr>
        <p:spPr>
          <a:xfrm>
            <a:off x="685800" y="196596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1</a:t>
            </a:r>
          </a:p>
        </p:txBody>
      </p:sp>
      <p:sp>
        <p:nvSpPr>
          <p:cNvPr id="9" name="TextBox 8"/>
          <p:cNvSpPr txBox="1"/>
          <p:nvPr/>
        </p:nvSpPr>
        <p:spPr>
          <a:xfrm>
            <a:off x="1325880" y="185623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dirty="0">
                <a:solidFill>
                  <a:srgbClr val="3D2A6B"/>
                </a:solidFill>
                <a:latin typeface="Arial"/>
                <a:ea typeface="Arial"/>
                <a:cs typeface="Arial"/>
              </a:rPr>
              <a:t>Choose the real conversation you'll have within two weeks:</a:t>
            </a:r>
            <a:br>
              <a:rPr lang="en-AU" sz="1800" b="1" dirty="0">
                <a:solidFill>
                  <a:srgbClr val="3D2A6B"/>
                </a:solidFill>
                <a:latin typeface="Arial"/>
                <a:ea typeface="Arial"/>
                <a:cs typeface="Arial"/>
              </a:rPr>
            </a:br>
            <a:r>
              <a:rPr lang="en-AU" sz="1800" b="1" dirty="0">
                <a:solidFill>
                  <a:srgbClr val="3D2A6B"/>
                </a:solidFill>
                <a:latin typeface="Arial"/>
                <a:ea typeface="Arial"/>
                <a:cs typeface="Arial"/>
              </a:rPr>
              <a:t>with a student's family, the student themselves, or a colleague who teaches them</a:t>
            </a:r>
          </a:p>
        </p:txBody>
      </p:sp>
      <p:sp>
        <p:nvSpPr>
          <p:cNvPr id="10" name="Oval 9"/>
          <p:cNvSpPr/>
          <p:nvPr/>
        </p:nvSpPr>
        <p:spPr>
          <a:xfrm>
            <a:off x="685800" y="283464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1" name="TextBox 10"/>
          <p:cNvSpPr txBox="1"/>
          <p:nvPr/>
        </p:nvSpPr>
        <p:spPr>
          <a:xfrm>
            <a:off x="685800" y="283464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2</a:t>
            </a:r>
          </a:p>
        </p:txBody>
      </p:sp>
      <p:sp>
        <p:nvSpPr>
          <p:cNvPr id="12" name="TextBox 11"/>
          <p:cNvSpPr txBox="1"/>
          <p:nvPr/>
        </p:nvSpPr>
        <p:spPr>
          <a:xfrm>
            <a:off x="1325880" y="272491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dirty="0">
                <a:solidFill>
                  <a:srgbClr val="3D2A6B"/>
                </a:solidFill>
                <a:latin typeface="Arial"/>
                <a:ea typeface="Arial"/>
                <a:cs typeface="Arial"/>
              </a:rPr>
              <a:t>Plan it in your Participant Guide: </a:t>
            </a:r>
            <a:br>
              <a:rPr lang="en-AU" sz="1800" b="1" dirty="0">
                <a:solidFill>
                  <a:srgbClr val="3D2A6B"/>
                </a:solidFill>
                <a:latin typeface="Arial"/>
                <a:ea typeface="Arial"/>
                <a:cs typeface="Arial"/>
              </a:rPr>
            </a:br>
            <a:r>
              <a:rPr lang="en-AU" sz="1800" b="1" dirty="0">
                <a:solidFill>
                  <a:srgbClr val="3D2A6B"/>
                </a:solidFill>
                <a:latin typeface="Arial"/>
                <a:ea typeface="Arial"/>
                <a:cs typeface="Arial"/>
              </a:rPr>
              <a:t>what I'll share (a strength first) · what I'll ask (specifically) · what I'll offer</a:t>
            </a:r>
          </a:p>
        </p:txBody>
      </p:sp>
      <p:sp>
        <p:nvSpPr>
          <p:cNvPr id="13" name="Oval 12"/>
          <p:cNvSpPr/>
          <p:nvPr/>
        </p:nvSpPr>
        <p:spPr>
          <a:xfrm>
            <a:off x="685800" y="370332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4" name="TextBox 13"/>
          <p:cNvSpPr txBox="1"/>
          <p:nvPr/>
        </p:nvSpPr>
        <p:spPr>
          <a:xfrm>
            <a:off x="685800" y="37033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3</a:t>
            </a:r>
          </a:p>
        </p:txBody>
      </p:sp>
      <p:sp>
        <p:nvSpPr>
          <p:cNvPr id="15" name="TextBox 14"/>
          <p:cNvSpPr txBox="1"/>
          <p:nvPr/>
        </p:nvSpPr>
        <p:spPr>
          <a:xfrm>
            <a:off x="1325880" y="359359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Write your opening sentence, word for word</a:t>
            </a:r>
          </a:p>
        </p:txBody>
      </p:sp>
      <p:sp>
        <p:nvSpPr>
          <p:cNvPr id="16" name="Oval 15"/>
          <p:cNvSpPr/>
          <p:nvPr/>
        </p:nvSpPr>
        <p:spPr>
          <a:xfrm>
            <a:off x="685800" y="457200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7" name="TextBox 16"/>
          <p:cNvSpPr txBox="1"/>
          <p:nvPr/>
        </p:nvSpPr>
        <p:spPr>
          <a:xfrm>
            <a:off x="685800" y="45720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4</a:t>
            </a:r>
          </a:p>
        </p:txBody>
      </p:sp>
      <p:sp>
        <p:nvSpPr>
          <p:cNvPr id="18" name="TextBox 17"/>
          <p:cNvSpPr txBox="1"/>
          <p:nvPr/>
        </p:nvSpPr>
        <p:spPr>
          <a:xfrm>
            <a:off x="1325880" y="446227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Note it: when, where, how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4" name="Oval 3"/>
          <p:cNvSpPr/>
          <p:nvPr/>
        </p:nvSpPr>
        <p:spPr>
          <a:xfrm>
            <a:off x="8595360" y="4754880"/>
            <a:ext cx="5669280" cy="5669280"/>
          </a:xfrm>
          <a:prstGeom prst="ellipse">
            <a:avLst/>
          </a:prstGeom>
          <a:solidFill>
            <a:srgbClr val="6A52AB"/>
          </a:solidFill>
          <a:ln>
            <a:noFill/>
          </a:ln>
        </p:spPr>
        <p:txBody>
          <a:bodyPr rtlCol="0" anchor="ctr"/>
          <a:lstStyle/>
          <a:p>
            <a:pPr algn="ctr"/>
            <a:endParaRPr/>
          </a:p>
        </p:txBody>
      </p:sp>
      <p:sp>
        <p:nvSpPr>
          <p:cNvPr id="2" name="Title 1">
            <a:extLst>
              <a:ext uri="{FF2B5EF4-FFF2-40B4-BE49-F238E27FC236}">
                <a16:creationId xmlns:a16="http://schemas.microsoft.com/office/drawing/2014/main" id="{59EFBDF4-2EE7-D4AD-3DCB-B64C00E218FC}"/>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Final reflection</a:t>
            </a:r>
          </a:p>
        </p:txBody>
      </p:sp>
      <p:sp>
        <p:nvSpPr>
          <p:cNvPr id="5" name="TextBox 4"/>
          <p:cNvSpPr txBox="1"/>
          <p:nvPr/>
        </p:nvSpPr>
        <p:spPr>
          <a:xfrm>
            <a:off x="685800" y="1417320"/>
            <a:ext cx="9601200" cy="118872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FFFFFF"/>
                </a:solidFill>
                <a:latin typeface="Arial"/>
                <a:ea typeface="Arial"/>
                <a:cs typeface="Arial"/>
              </a:rPr>
              <a:t>In Session 1 you wrote what you hoped to understand. Read your own words back. What's different now?</a:t>
            </a:r>
          </a:p>
        </p:txBody>
      </p:sp>
      <p:sp>
        <p:nvSpPr>
          <p:cNvPr id="6" name="TextBox 5"/>
          <p:cNvSpPr txBox="1"/>
          <p:nvPr/>
        </p:nvSpPr>
        <p:spPr>
          <a:xfrm>
            <a:off x="685800" y="278892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2000" b="0" dirty="0">
                <a:solidFill>
                  <a:srgbClr val="E6E0F5"/>
                </a:solidFill>
                <a:latin typeface="Arial"/>
                <a:ea typeface="Arial"/>
                <a:cs typeface="Arial"/>
              </a:rPr>
              <a:t>Where were you at the start of Session 1?</a:t>
            </a:r>
          </a:p>
        </p:txBody>
      </p:sp>
      <p:sp>
        <p:nvSpPr>
          <p:cNvPr id="7" name="TextBox 6"/>
          <p:cNvSpPr txBox="1"/>
          <p:nvPr/>
        </p:nvSpPr>
        <p:spPr>
          <a:xfrm>
            <a:off x="685800" y="356616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2000" b="0">
                <a:solidFill>
                  <a:srgbClr val="E6E0F5"/>
                </a:solidFill>
                <a:latin typeface="Arial"/>
                <a:ea typeface="Arial"/>
                <a:cs typeface="Arial"/>
              </a:rPr>
              <a:t>Where are you now?</a:t>
            </a:r>
          </a:p>
        </p:txBody>
      </p:sp>
      <p:sp>
        <p:nvSpPr>
          <p:cNvPr id="8" name="TextBox 7"/>
          <p:cNvSpPr txBox="1"/>
          <p:nvPr/>
        </p:nvSpPr>
        <p:spPr>
          <a:xfrm>
            <a:off x="685800" y="434340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1800" b="0" dirty="0">
                <a:solidFill>
                  <a:srgbClr val="E6E0F5"/>
                </a:solidFill>
                <a:latin typeface="Arial"/>
                <a:ea typeface="Arial"/>
                <a:cs typeface="Arial"/>
              </a:rPr>
              <a:t>In one sentence, for yourself: what will you do differently in your teaching?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AB9B-F98C-5EFD-BABF-E0BC0A463489}"/>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Connections that continue</a:t>
            </a:r>
          </a:p>
        </p:txBody>
      </p:sp>
      <p:sp>
        <p:nvSpPr>
          <p:cNvPr id="3" name="TextBox 2"/>
          <p:cNvSpPr txBox="1"/>
          <p:nvPr/>
        </p:nvSpPr>
        <p:spPr>
          <a:xfrm>
            <a:off x="685800" y="1325880"/>
            <a:ext cx="10789920" cy="822960"/>
          </a:xfrm>
          <a:prstGeom prst="rect">
            <a:avLst/>
          </a:prstGeom>
          <a:noFill/>
        </p:spPr>
        <p:txBody>
          <a:bodyPr wrap="square" lIns="0" tIns="0" rIns="0" bIns="0" anchor="t">
            <a:noAutofit/>
          </a:bodyPr>
          <a:lstStyle/>
          <a:p>
            <a:pPr marL="0" indent="0" algn="l">
              <a:lnSpc>
                <a:spcPct val="105000"/>
              </a:lnSpc>
              <a:spcBef>
                <a:spcPts val="0"/>
              </a:spcBef>
              <a:buNone/>
            </a:pPr>
            <a:r>
              <a:rPr lang="en-AU" sz="1900" b="1">
                <a:solidFill>
                  <a:srgbClr val="3D2A6B"/>
                </a:solidFill>
                <a:latin typeface="Arial"/>
                <a:ea typeface="Arial"/>
                <a:cs typeface="Arial"/>
              </a:rPr>
              <a:t>What are you curious to learn more about next? Look back at your notes from Session 1: how many of your questions got answered?</a:t>
            </a:r>
          </a:p>
        </p:txBody>
      </p:sp>
      <p:sp>
        <p:nvSpPr>
          <p:cNvPr id="4" name="Rounded Rectangle 3"/>
          <p:cNvSpPr/>
          <p:nvPr/>
        </p:nvSpPr>
        <p:spPr>
          <a:xfrm>
            <a:off x="685800"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Webinars and deep dives</a:t>
            </a:r>
          </a:p>
          <a:p>
            <a:pPr marL="0" indent="0" algn="l">
              <a:lnSpc>
                <a:spcPct val="105000"/>
              </a:lnSpc>
              <a:spcBef>
                <a:spcPts val="800"/>
              </a:spcBef>
              <a:buNone/>
            </a:pPr>
            <a:r>
              <a:rPr lang="en-AU" sz="1500" b="0">
                <a:solidFill>
                  <a:srgbClr val="2D2440"/>
                </a:solidFill>
                <a:latin typeface="Arial"/>
                <a:ea typeface="Arial"/>
                <a:cs typeface="Arial"/>
              </a:rPr>
              <a:t>Follow-ups on UDL, executive functioning, sensory design, anxiety and more</a:t>
            </a:r>
          </a:p>
          <a:p>
            <a:pPr marL="0" indent="0" algn="l">
              <a:lnSpc>
                <a:spcPct val="100000"/>
              </a:lnSpc>
              <a:spcBef>
                <a:spcPts val="1000"/>
              </a:spcBef>
              <a:buNone/>
            </a:pPr>
            <a:r>
              <a:rPr lang="en-AU" sz="1400" b="1">
                <a:solidFill>
                  <a:srgbClr val="5B5670"/>
                </a:solidFill>
                <a:latin typeface="Arial"/>
                <a:ea typeface="Arial"/>
                <a:cs typeface="Arial"/>
              </a:rPr>
              <a:t>[Titles and dates to confirm]</a:t>
            </a:r>
          </a:p>
        </p:txBody>
      </p:sp>
      <p:sp>
        <p:nvSpPr>
          <p:cNvPr id="6" name="Rounded Rectangle 5"/>
          <p:cNvSpPr/>
          <p:nvPr/>
        </p:nvSpPr>
        <p:spPr>
          <a:xfrm>
            <a:off x="4383938"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Online Community of Practice</a:t>
            </a:r>
          </a:p>
          <a:p>
            <a:pPr marL="0" indent="0" algn="l">
              <a:lnSpc>
                <a:spcPct val="105000"/>
              </a:lnSpc>
              <a:spcBef>
                <a:spcPts val="800"/>
              </a:spcBef>
              <a:buNone/>
            </a:pPr>
            <a:r>
              <a:rPr lang="en-AU" sz="1500" b="0">
                <a:solidFill>
                  <a:srgbClr val="2D2440"/>
                </a:solidFill>
                <a:latin typeface="Arial"/>
                <a:ea typeface="Arial"/>
                <a:cs typeface="Arial"/>
              </a:rPr>
              <a:t>A place to keep talking with other educators after this series.</a:t>
            </a:r>
          </a:p>
          <a:p>
            <a:pPr marL="0" indent="0" algn="l">
              <a:lnSpc>
                <a:spcPct val="100000"/>
              </a:lnSpc>
              <a:spcBef>
                <a:spcPts val="1000"/>
              </a:spcBef>
              <a:buNone/>
            </a:pPr>
            <a:r>
              <a:rPr lang="en-AU" sz="1400" b="1">
                <a:solidFill>
                  <a:srgbClr val="5B5670"/>
                </a:solidFill>
                <a:latin typeface="Arial"/>
                <a:ea typeface="Arial"/>
                <a:cs typeface="Arial"/>
              </a:rPr>
              <a:t>[Link or QR code to add]</a:t>
            </a:r>
          </a:p>
        </p:txBody>
      </p:sp>
      <p:sp>
        <p:nvSpPr>
          <p:cNvPr id="8" name="Rounded Rectangle 7"/>
          <p:cNvSpPr/>
          <p:nvPr/>
        </p:nvSpPr>
        <p:spPr>
          <a:xfrm>
            <a:off x="8082077"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Positive Partnerships website</a:t>
            </a:r>
          </a:p>
          <a:p>
            <a:pPr marL="0" indent="0" algn="l">
              <a:lnSpc>
                <a:spcPct val="105000"/>
              </a:lnSpc>
              <a:spcBef>
                <a:spcPts val="800"/>
              </a:spcBef>
              <a:buNone/>
            </a:pPr>
            <a:r>
              <a:rPr lang="en-AU" sz="1500" b="0">
                <a:solidFill>
                  <a:srgbClr val="2D2440"/>
                </a:solidFill>
                <a:latin typeface="Arial"/>
                <a:ea typeface="Arial"/>
                <a:cs typeface="Arial"/>
              </a:rPr>
              <a:t>Resources for educators, families and students</a:t>
            </a:r>
          </a:p>
          <a:p>
            <a:pPr marL="0" indent="0" algn="l">
              <a:lnSpc>
                <a:spcPct val="100000"/>
              </a:lnSpc>
              <a:spcBef>
                <a:spcPts val="1000"/>
              </a:spcBef>
              <a:buNone/>
            </a:pPr>
            <a:r>
              <a:rPr lang="en-AU" sz="1400" b="1">
                <a:solidFill>
                  <a:srgbClr val="584099"/>
                </a:solidFill>
                <a:latin typeface="Arial"/>
                <a:ea typeface="Arial"/>
                <a:cs typeface="Arial"/>
              </a:rPr>
              <a:t>positivepartnerships.com.au</a:t>
            </a:r>
          </a:p>
        </p:txBody>
      </p:sp>
      <p:sp>
        <p:nvSpPr>
          <p:cNvPr id="10" name="Rounded Rectangle 9"/>
          <p:cNvSpPr/>
          <p:nvPr/>
        </p:nvSpPr>
        <p:spPr>
          <a:xfrm>
            <a:off x="685800" y="53035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3035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This series is a starting point. These supports continue after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Oval 6"/>
          <p:cNvSpPr/>
          <p:nvPr/>
        </p:nvSpPr>
        <p:spPr>
          <a:xfrm>
            <a:off x="-1000816" y="-750095"/>
            <a:ext cx="7627392" cy="7627392"/>
          </a:xfrm>
          <a:prstGeom prst="ellipse">
            <a:avLst/>
          </a:prstGeom>
          <a:solidFill>
            <a:srgbClr val="EDE8F8"/>
          </a:solidFill>
          <a:ln w="1863725">
            <a:solidFill>
              <a:srgbClr val="583F99">
                <a:alpha val="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83F99"/>
              </a:solidFill>
              <a:effectLst/>
              <a:uLnTx/>
              <a:uFillTx/>
              <a:latin typeface="Work Sans"/>
              <a:ea typeface="+mn-ea"/>
              <a:cs typeface="+mn-cs"/>
            </a:endParaRPr>
          </a:p>
        </p:txBody>
      </p:sp>
      <p:pic>
        <p:nvPicPr>
          <p:cNvPr id="8" name="Picture 7">
            <a:extLst>
              <a:ext uri="{FF2B5EF4-FFF2-40B4-BE49-F238E27FC236}">
                <a16:creationId xmlns:a16="http://schemas.microsoft.com/office/drawing/2014/main" id="{0E70E9E4-EE86-4609-AEEA-A73A5FE7CA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921" y="385795"/>
            <a:ext cx="1366272" cy="1587531"/>
          </a:xfrm>
          <a:prstGeom prst="rect">
            <a:avLst/>
          </a:prstGeom>
        </p:spPr>
      </p:pic>
      <p:sp>
        <p:nvSpPr>
          <p:cNvPr id="2" name="Title 1">
            <a:extLst>
              <a:ext uri="{FF2B5EF4-FFF2-40B4-BE49-F238E27FC236}">
                <a16:creationId xmlns:a16="http://schemas.microsoft.com/office/drawing/2014/main" id="{71343308-F7D6-8245-B839-010678F1BFD4}"/>
              </a:ext>
            </a:extLst>
          </p:cNvPr>
          <p:cNvSpPr>
            <a:spLocks noGrp="1"/>
          </p:cNvSpPr>
          <p:nvPr>
            <p:ph type="title"/>
          </p:nvPr>
        </p:nvSpPr>
        <p:spPr>
          <a:xfrm>
            <a:off x="647186" y="33652"/>
            <a:ext cx="6482277" cy="5605936"/>
          </a:xfrm>
        </p:spPr>
        <p:txBody>
          <a:bodyPr>
            <a:normAutofit/>
          </a:bodyPr>
          <a:lstStyle/>
          <a:p>
            <a:br>
              <a:rPr lang="en-US">
                <a:solidFill>
                  <a:schemeClr val="tx1"/>
                </a:solidFill>
              </a:rPr>
            </a:br>
            <a:br>
              <a:rPr lang="en-US">
                <a:solidFill>
                  <a:schemeClr val="tx1"/>
                </a:solidFill>
              </a:rPr>
            </a:br>
            <a:endParaRPr lang="en-US">
              <a:solidFill>
                <a:schemeClr val="tx1"/>
              </a:solidFill>
            </a:endParaRPr>
          </a:p>
        </p:txBody>
      </p:sp>
      <p:sp>
        <p:nvSpPr>
          <p:cNvPr id="6" name="Rectangle 5">
            <a:extLst>
              <a:ext uri="{FF2B5EF4-FFF2-40B4-BE49-F238E27FC236}">
                <a16:creationId xmlns:a16="http://schemas.microsoft.com/office/drawing/2014/main" id="{B0D32F4E-C689-4DBC-A1D6-D98409DAF178}"/>
              </a:ext>
            </a:extLst>
          </p:cNvPr>
          <p:cNvSpPr/>
          <p:nvPr/>
        </p:nvSpPr>
        <p:spPr>
          <a:xfrm>
            <a:off x="1338842" y="2002303"/>
            <a:ext cx="2948075"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583F99"/>
                </a:solidFill>
                <a:effectLst/>
                <a:uLnTx/>
                <a:uFillTx/>
                <a:latin typeface="Arial Black" panose="020B0A04020102020204" pitchFamily="34" charset="0"/>
                <a:ea typeface="+mn-ea"/>
                <a:cs typeface="+mn-cs"/>
              </a:rPr>
              <a:t>Feedback</a:t>
            </a:r>
            <a:endParaRPr kumimoji="0" lang="en-AU" sz="3600" b="0" i="0" u="none" strike="noStrike" kern="1200" cap="none" spc="0" normalizeH="0" baseline="0" noProof="0">
              <a:ln>
                <a:noFill/>
              </a:ln>
              <a:solidFill>
                <a:srgbClr val="583F99"/>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78553DFC-E15E-48CF-B60D-0A7F2586852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693492" y="5933665"/>
            <a:ext cx="1909570" cy="474284"/>
          </a:xfrm>
          <a:prstGeom prst="rect">
            <a:avLst/>
          </a:prstGeom>
        </p:spPr>
      </p:pic>
      <p:pic>
        <p:nvPicPr>
          <p:cNvPr id="4" name="Picture 3">
            <a:extLst>
              <a:ext uri="{FF2B5EF4-FFF2-40B4-BE49-F238E27FC236}">
                <a16:creationId xmlns:a16="http://schemas.microsoft.com/office/drawing/2014/main" id="{B228824F-37C0-4BE7-8FAC-CBE317D6AF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78801" y="2857855"/>
            <a:ext cx="2572512" cy="2572512"/>
          </a:xfrm>
          <a:prstGeom prst="rect">
            <a:avLst/>
          </a:prstGeom>
        </p:spPr>
      </p:pic>
      <p:pic>
        <p:nvPicPr>
          <p:cNvPr id="5" name="Picture 4">
            <a:extLst>
              <a:ext uri="{FF2B5EF4-FFF2-40B4-BE49-F238E27FC236}">
                <a16:creationId xmlns:a16="http://schemas.microsoft.com/office/drawing/2014/main" id="{A7E1E2BE-141D-A965-0C33-4F8C6435FFA2}"/>
              </a:ext>
            </a:extLst>
          </p:cNvPr>
          <p:cNvPicPr>
            <a:picLocks noChangeAspect="1"/>
          </p:cNvPicPr>
          <p:nvPr/>
        </p:nvPicPr>
        <p:blipFill>
          <a:blip r:embed="rId6"/>
          <a:stretch>
            <a:fillRect/>
          </a:stretch>
        </p:blipFill>
        <p:spPr>
          <a:xfrm>
            <a:off x="4918591" y="685513"/>
            <a:ext cx="6909682" cy="1641255"/>
          </a:xfrm>
          <a:prstGeom prst="rect">
            <a:avLst/>
          </a:prstGeom>
          <a:ln w="12700" cap="sq">
            <a:solidFill>
              <a:srgbClr val="000000"/>
            </a:solidFill>
            <a:miter lim="800000"/>
          </a:ln>
          <a:effectLst>
            <a:outerShdw blurRad="57150" dist="50800" dir="2700000" algn="tl" rotWithShape="0">
              <a:srgbClr val="000000">
                <a:alpha val="40000"/>
              </a:srgbClr>
            </a:outerShdw>
          </a:effectLst>
        </p:spPr>
      </p:pic>
      <p:pic>
        <p:nvPicPr>
          <p:cNvPr id="11" name="Picture 10">
            <a:extLst>
              <a:ext uri="{FF2B5EF4-FFF2-40B4-BE49-F238E27FC236}">
                <a16:creationId xmlns:a16="http://schemas.microsoft.com/office/drawing/2014/main" id="{A7E4DD89-7D45-2815-2C0A-3DE1A5D9B913}"/>
              </a:ext>
            </a:extLst>
          </p:cNvPr>
          <p:cNvPicPr>
            <a:picLocks noChangeAspect="1"/>
          </p:cNvPicPr>
          <p:nvPr/>
        </p:nvPicPr>
        <p:blipFill>
          <a:blip r:embed="rId7"/>
          <a:stretch>
            <a:fillRect/>
          </a:stretch>
        </p:blipFill>
        <p:spPr>
          <a:xfrm>
            <a:off x="6572955" y="2573002"/>
            <a:ext cx="3600953" cy="1114581"/>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15" name="TextBox 14">
            <a:extLst>
              <a:ext uri="{FF2B5EF4-FFF2-40B4-BE49-F238E27FC236}">
                <a16:creationId xmlns:a16="http://schemas.microsoft.com/office/drawing/2014/main" id="{B3330373-A7B7-9F5E-C3A3-FEF7615B9FB8}"/>
              </a:ext>
            </a:extLst>
          </p:cNvPr>
          <p:cNvSpPr txBox="1"/>
          <p:nvPr/>
        </p:nvSpPr>
        <p:spPr>
          <a:xfrm>
            <a:off x="1212692" y="5542923"/>
            <a:ext cx="7061886" cy="369332"/>
          </a:xfrm>
          <a:prstGeom prst="rect">
            <a:avLst/>
          </a:prstGeom>
          <a:noFill/>
        </p:spPr>
        <p:txBody>
          <a:bodyPr wrap="square">
            <a:spAutoFit/>
          </a:bodyPr>
          <a:lstStyle/>
          <a:p>
            <a:r>
              <a:rPr lang="en-AU" sz="1800" b="1"/>
              <a:t>http://tiny.cc/PP-PLfeedback</a:t>
            </a:r>
          </a:p>
        </p:txBody>
      </p:sp>
      <p:pic>
        <p:nvPicPr>
          <p:cNvPr id="10" name="Picture 9">
            <a:extLst>
              <a:ext uri="{FF2B5EF4-FFF2-40B4-BE49-F238E27FC236}">
                <a16:creationId xmlns:a16="http://schemas.microsoft.com/office/drawing/2014/main" id="{1C17B9B2-07E6-1C8D-2A07-16A74299114D}"/>
              </a:ext>
            </a:extLst>
          </p:cNvPr>
          <p:cNvPicPr>
            <a:picLocks noChangeAspect="1"/>
          </p:cNvPicPr>
          <p:nvPr/>
        </p:nvPicPr>
        <p:blipFill>
          <a:blip r:embed="rId8"/>
          <a:stretch>
            <a:fillRect/>
          </a:stretch>
        </p:blipFill>
        <p:spPr>
          <a:xfrm>
            <a:off x="5250407" y="3933817"/>
            <a:ext cx="6246048" cy="1124453"/>
          </a:xfrm>
          <a:prstGeom prst="rect">
            <a:avLst/>
          </a:prstGeom>
          <a:ln w="127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hqprint">
            <a:extLst>
              <a:ext uri="{28A0092B-C50C-407E-A947-70E740481C1C}">
                <a14:useLocalDpi xmlns:a14="http://schemas.microsoft.com/office/drawing/2010/main" val="0"/>
              </a:ext>
            </a:extLst>
          </a:blip>
          <a:srcRect t="15250"/>
          <a:stretch/>
        </p:blipFill>
        <p:spPr>
          <a:xfrm flipH="1">
            <a:off x="0" y="-30480"/>
            <a:ext cx="12192000" cy="6888480"/>
          </a:xfrm>
          <a:prstGeom prst="rect">
            <a:avLst/>
          </a:prstGeom>
        </p:spPr>
      </p:pic>
      <p:sp>
        <p:nvSpPr>
          <p:cNvPr id="4" name="Title 3">
            <a:extLst>
              <a:ext uri="{FF2B5EF4-FFF2-40B4-BE49-F238E27FC236}">
                <a16:creationId xmlns:a16="http://schemas.microsoft.com/office/drawing/2014/main" id="{855CFCEF-E826-4CDD-85E1-C244F749F74C}"/>
              </a:ext>
            </a:extLst>
          </p:cNvPr>
          <p:cNvSpPr txBox="1">
            <a:spLocks/>
          </p:cNvSpPr>
          <p:nvPr/>
        </p:nvSpPr>
        <p:spPr>
          <a:xfrm>
            <a:off x="877824" y="640080"/>
            <a:ext cx="4754880" cy="146304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400" b="0">
                <a:solidFill>
                  <a:srgbClr val="584099"/>
                </a:solidFill>
                <a:latin typeface="Arial Black"/>
                <a:ea typeface="Arial Black"/>
                <a:cs typeface="Arial Black"/>
              </a:rPr>
              <a:t>Good luck on your journey</a:t>
            </a:r>
          </a:p>
        </p:txBody>
      </p:sp>
      <p:sp>
        <p:nvSpPr>
          <p:cNvPr id="5" name="TextBox 4"/>
          <p:cNvSpPr txBox="1"/>
          <p:nvPr/>
        </p:nvSpPr>
        <p:spPr>
          <a:xfrm>
            <a:off x="877824" y="2286000"/>
            <a:ext cx="4572000" cy="9144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Stay curious.</a:t>
            </a:r>
          </a:p>
          <a:p>
            <a:pPr marL="0" indent="0" algn="l">
              <a:lnSpc>
                <a:spcPct val="100000"/>
              </a:lnSpc>
              <a:spcBef>
                <a:spcPts val="200"/>
              </a:spcBef>
              <a:buNone/>
            </a:pPr>
            <a:r>
              <a:rPr lang="en-AU" sz="2000" b="1">
                <a:solidFill>
                  <a:srgbClr val="3D2A6B"/>
                </a:solidFill>
                <a:latin typeface="Arial"/>
                <a:ea typeface="Arial"/>
                <a:cs typeface="Arial"/>
              </a:rPr>
              <a:t>Keep students at the centre.</a:t>
            </a:r>
          </a:p>
        </p:txBody>
      </p:sp>
      <p:sp>
        <p:nvSpPr>
          <p:cNvPr id="6" name="TextBox 5"/>
          <p:cNvSpPr txBox="1"/>
          <p:nvPr/>
        </p:nvSpPr>
        <p:spPr>
          <a:xfrm>
            <a:off x="877824" y="3291840"/>
            <a:ext cx="4389120" cy="1828800"/>
          </a:xfrm>
          <a:prstGeom prst="rect">
            <a:avLst/>
          </a:prstGeom>
          <a:noFill/>
        </p:spPr>
        <p:txBody>
          <a:bodyPr wrap="square" lIns="0" tIns="0" rIns="0" bIns="0" anchor="t">
            <a:noAutofit/>
          </a:bodyPr>
          <a:lstStyle/>
          <a:p>
            <a:pPr marL="0" indent="0" algn="l">
              <a:lnSpc>
                <a:spcPct val="110000"/>
              </a:lnSpc>
              <a:spcBef>
                <a:spcPts val="0"/>
              </a:spcBef>
              <a:buNone/>
            </a:pPr>
            <a:r>
              <a:rPr lang="en-AU" sz="1500" b="0">
                <a:solidFill>
                  <a:srgbClr val="2D2440"/>
                </a:solidFill>
                <a:latin typeface="Arial"/>
                <a:ea typeface="Arial"/>
                <a:cs typeface="Arial"/>
              </a:rPr>
              <a:t>Take one thoughtful next step, include the people who hold relevant knowledge and review what happens. Small, informed changes can be refined through student voice, observation and partnership.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